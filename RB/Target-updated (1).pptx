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7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53EB"/>
    <a:srgbClr val="8265ED"/>
    <a:srgbClr val="2E1193"/>
    <a:srgbClr val="1B642B"/>
    <a:srgbClr val="CB2B2D"/>
    <a:srgbClr val="ECE9FD"/>
    <a:srgbClr val="7845FA"/>
    <a:srgbClr val="E0612B"/>
    <a:srgbClr val="DB5D28"/>
    <a:srgbClr val="FBE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26" autoAdjust="0"/>
  </p:normalViewPr>
  <p:slideViewPr>
    <p:cSldViewPr snapToGrid="0" snapToObjects="1">
      <p:cViewPr varScale="1">
        <p:scale>
          <a:sx n="105" d="100"/>
          <a:sy n="105" d="100"/>
        </p:scale>
        <p:origin x="23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E051C-CF0C-8E50-285E-639B26A3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0C702EE0-DB8B-2EC9-0578-71E7DB715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E425729-CD84-0422-0928-44CF5874D3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942A4C9-72C3-A4E9-D88D-936BF5924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42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4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5.png"/><Relationship Id="rId21" Type="http://schemas.openxmlformats.org/officeDocument/2006/relationships/image" Target="../media/image32.png"/><Relationship Id="rId34" Type="http://schemas.openxmlformats.org/officeDocument/2006/relationships/image" Target="../media/image45.sv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44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32" Type="http://schemas.openxmlformats.org/officeDocument/2006/relationships/image" Target="../media/image43.svg"/><Relationship Id="rId5" Type="http://schemas.openxmlformats.org/officeDocument/2006/relationships/image" Target="../media/image16.sv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31" Type="http://schemas.openxmlformats.org/officeDocument/2006/relationships/image" Target="../media/image42.sv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4" Type="http://schemas.openxmlformats.org/officeDocument/2006/relationships/image" Target="../media/image25.svg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35" Type="http://schemas.openxmlformats.org/officeDocument/2006/relationships/image" Target="../media/image46.svg"/><Relationship Id="rId8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13" Type="http://schemas.openxmlformats.org/officeDocument/2006/relationships/image" Target="../media/image57.svg"/><Relationship Id="rId18" Type="http://schemas.openxmlformats.org/officeDocument/2006/relationships/image" Target="../media/image62.svg"/><Relationship Id="rId26" Type="http://schemas.openxmlformats.org/officeDocument/2006/relationships/image" Target="../media/image70.png"/><Relationship Id="rId3" Type="http://schemas.openxmlformats.org/officeDocument/2006/relationships/image" Target="../media/image47.png"/><Relationship Id="rId21" Type="http://schemas.openxmlformats.org/officeDocument/2006/relationships/image" Target="../media/image65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17" Type="http://schemas.openxmlformats.org/officeDocument/2006/relationships/image" Target="../media/image61.svg"/><Relationship Id="rId25" Type="http://schemas.openxmlformats.org/officeDocument/2006/relationships/image" Target="../media/image6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0.svg"/><Relationship Id="rId20" Type="http://schemas.openxmlformats.org/officeDocument/2006/relationships/image" Target="../media/image64.sv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svg"/><Relationship Id="rId24" Type="http://schemas.openxmlformats.org/officeDocument/2006/relationships/image" Target="../media/image68.png"/><Relationship Id="rId5" Type="http://schemas.openxmlformats.org/officeDocument/2006/relationships/image" Target="../media/image49.png"/><Relationship Id="rId15" Type="http://schemas.openxmlformats.org/officeDocument/2006/relationships/image" Target="../media/image59.svg"/><Relationship Id="rId23" Type="http://schemas.openxmlformats.org/officeDocument/2006/relationships/image" Target="../media/image67.png"/><Relationship Id="rId28" Type="http://schemas.openxmlformats.org/officeDocument/2006/relationships/image" Target="../media/image2.png"/><Relationship Id="rId10" Type="http://schemas.openxmlformats.org/officeDocument/2006/relationships/image" Target="../media/image54.svg"/><Relationship Id="rId19" Type="http://schemas.openxmlformats.org/officeDocument/2006/relationships/image" Target="../media/image63.svg"/><Relationship Id="rId4" Type="http://schemas.openxmlformats.org/officeDocument/2006/relationships/image" Target="../media/image48.svg"/><Relationship Id="rId9" Type="http://schemas.openxmlformats.org/officeDocument/2006/relationships/image" Target="../media/image53.svg"/><Relationship Id="rId14" Type="http://schemas.openxmlformats.org/officeDocument/2006/relationships/image" Target="../media/image58.svg"/><Relationship Id="rId22" Type="http://schemas.openxmlformats.org/officeDocument/2006/relationships/image" Target="../media/image66.png"/><Relationship Id="rId27" Type="http://schemas.openxmlformats.org/officeDocument/2006/relationships/image" Target="../media/image7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13" Type="http://schemas.openxmlformats.org/officeDocument/2006/relationships/image" Target="../media/image60.svg"/><Relationship Id="rId18" Type="http://schemas.openxmlformats.org/officeDocument/2006/relationships/image" Target="../media/image84.svg"/><Relationship Id="rId3" Type="http://schemas.openxmlformats.org/officeDocument/2006/relationships/image" Target="../media/image47.png"/><Relationship Id="rId7" Type="http://schemas.openxmlformats.org/officeDocument/2006/relationships/image" Target="../media/image74.svg"/><Relationship Id="rId12" Type="http://schemas.openxmlformats.org/officeDocument/2006/relationships/image" Target="../media/image79.svg"/><Relationship Id="rId17" Type="http://schemas.openxmlformats.org/officeDocument/2006/relationships/image" Target="../media/image83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2.svg"/><Relationship Id="rId20" Type="http://schemas.openxmlformats.org/officeDocument/2006/relationships/image" Target="../media/image8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svg"/><Relationship Id="rId11" Type="http://schemas.openxmlformats.org/officeDocument/2006/relationships/image" Target="../media/image78.svg"/><Relationship Id="rId5" Type="http://schemas.openxmlformats.org/officeDocument/2006/relationships/image" Target="../media/image73.svg"/><Relationship Id="rId15" Type="http://schemas.openxmlformats.org/officeDocument/2006/relationships/image" Target="../media/image81.svg"/><Relationship Id="rId10" Type="http://schemas.openxmlformats.org/officeDocument/2006/relationships/image" Target="../media/image77.svg"/><Relationship Id="rId19" Type="http://schemas.openxmlformats.org/officeDocument/2006/relationships/image" Target="../media/image85.svg"/><Relationship Id="rId4" Type="http://schemas.openxmlformats.org/officeDocument/2006/relationships/image" Target="../media/image2.png"/><Relationship Id="rId9" Type="http://schemas.openxmlformats.org/officeDocument/2006/relationships/image" Target="../media/image76.svg"/><Relationship Id="rId14" Type="http://schemas.openxmlformats.org/officeDocument/2006/relationships/image" Target="../media/image8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cds.climate.copernicus.eu" TargetMode="External"/><Relationship Id="rId13" Type="http://schemas.openxmlformats.org/officeDocument/2006/relationships/image" Target="../media/image92.svg"/><Relationship Id="rId18" Type="http://schemas.openxmlformats.org/officeDocument/2006/relationships/hyperlink" Target="https://www.protectedplanet.net" TargetMode="External"/><Relationship Id="rId26" Type="http://schemas.openxmlformats.org/officeDocument/2006/relationships/image" Target="../media/image97.svg"/><Relationship Id="rId3" Type="http://schemas.openxmlformats.org/officeDocument/2006/relationships/image" Target="../media/image2.png"/><Relationship Id="rId21" Type="http://schemas.openxmlformats.org/officeDocument/2006/relationships/hyperlink" Target="https://doi.org/10.5194/gmd-11-1405-2018" TargetMode="External"/><Relationship Id="rId7" Type="http://schemas.openxmlformats.org/officeDocument/2006/relationships/image" Target="../media/image89.svg"/><Relationship Id="rId12" Type="http://schemas.openxmlformats.org/officeDocument/2006/relationships/hyperlink" Target="https://globalfishingwatch.org" TargetMode="External"/><Relationship Id="rId17" Type="http://schemas.openxmlformats.org/officeDocument/2006/relationships/image" Target="../media/image94.svg"/><Relationship Id="rId25" Type="http://schemas.openxmlformats.org/officeDocument/2006/relationships/image" Target="../media/image96.svg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osmdata.openstreetmap.de" TargetMode="External"/><Relationship Id="rId20" Type="http://schemas.openxmlformats.org/officeDocument/2006/relationships/hyperlink" Target="https://doi.org/10.1016/j.marpolbul.2024.116549" TargetMode="External"/><Relationship Id="rId29" Type="http://schemas.openxmlformats.org/officeDocument/2006/relationships/image" Target="../media/image100.sv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space.copernicus.eu" TargetMode="External"/><Relationship Id="rId11" Type="http://schemas.openxmlformats.org/officeDocument/2006/relationships/image" Target="../media/image91.svg"/><Relationship Id="rId24" Type="http://schemas.openxmlformats.org/officeDocument/2006/relationships/hyperlink" Target="https://doi.org/10.1109/ICCV51701.2025.00693" TargetMode="External"/><Relationship Id="rId5" Type="http://schemas.openxmlformats.org/officeDocument/2006/relationships/image" Target="../media/image88.svg"/><Relationship Id="rId15" Type="http://schemas.openxmlformats.org/officeDocument/2006/relationships/image" Target="../media/image93.svg"/><Relationship Id="rId23" Type="http://schemas.openxmlformats.org/officeDocument/2006/relationships/hyperlink" Target="https://doi.org/10.1109/CVPR.2016.90" TargetMode="External"/><Relationship Id="rId28" Type="http://schemas.openxmlformats.org/officeDocument/2006/relationships/image" Target="../media/image99.svg"/><Relationship Id="rId10" Type="http://schemas.openxmlformats.org/officeDocument/2006/relationships/hyperlink" Target="https://data.marine.copernicus.eu" TargetMode="External"/><Relationship Id="rId19" Type="http://schemas.openxmlformats.org/officeDocument/2006/relationships/image" Target="../media/image95.svg"/><Relationship Id="rId4" Type="http://schemas.openxmlformats.org/officeDocument/2006/relationships/image" Target="../media/image87.svg"/><Relationship Id="rId9" Type="http://schemas.openxmlformats.org/officeDocument/2006/relationships/image" Target="../media/image90.svg"/><Relationship Id="rId14" Type="http://schemas.openxmlformats.org/officeDocument/2006/relationships/hyperlink" Target="https://www.gebco.net" TargetMode="External"/><Relationship Id="rId22" Type="http://schemas.openxmlformats.org/officeDocument/2006/relationships/hyperlink" Target="https://doi.org/10.1007/978-3-030-01234-2_49" TargetMode="External"/><Relationship Id="rId27" Type="http://schemas.openxmlformats.org/officeDocument/2006/relationships/image" Target="../media/image9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71172" y="2391481"/>
            <a:ext cx="2549865" cy="27271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393" y="2090746"/>
            <a:ext cx="5595607" cy="4022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26143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0000"/>
                </a:solidFill>
                <a:latin typeface="Arial" panose="020B0604020202020204"/>
              </a:rPr>
              <a:t>Leveraging satellite imagery to determine oil spills at sea along with AIS data correlations to identify the vessel responsible for the spill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Disaster Management</a:t>
            </a: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BMS/SIH2026/124</a:t>
            </a: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Who Spilled it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101678-71DC-3904-4348-7BDF2AAFF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932" y="295229"/>
            <a:ext cx="1715813" cy="83410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97B6738-57AF-E0CC-617D-A196678FD3E2}"/>
              </a:ext>
            </a:extLst>
          </p:cNvPr>
          <p:cNvGrpSpPr/>
          <p:nvPr/>
        </p:nvGrpSpPr>
        <p:grpSpPr>
          <a:xfrm>
            <a:off x="4540523" y="1040675"/>
            <a:ext cx="2956303" cy="698760"/>
            <a:chOff x="4540523" y="1040675"/>
            <a:chExt cx="2956303" cy="69876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AF31BA-CC7F-2EAE-A794-ED1587003AB0}"/>
                </a:ext>
              </a:extLst>
            </p:cNvPr>
            <p:cNvSpPr txBox="1"/>
            <p:nvPr/>
          </p:nvSpPr>
          <p:spPr>
            <a:xfrm>
              <a:off x="4540523" y="1040675"/>
              <a:ext cx="2956303" cy="49244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</a:pPr>
              <a:r>
                <a:rPr lang="en-IN" sz="3200" b="1" dirty="0"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GUARDIANS</a:t>
              </a:r>
              <a:endParaRPr sz="3200" b="1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5992E5-DB65-949A-5723-DB2D631EA6C9}"/>
                </a:ext>
              </a:extLst>
            </p:cNvPr>
            <p:cNvSpPr txBox="1"/>
            <p:nvPr/>
          </p:nvSpPr>
          <p:spPr>
            <a:xfrm>
              <a:off x="4747228" y="1585547"/>
              <a:ext cx="2549865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00" b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SEE  |  TRACE  |  PROTECT OUR OCEANS</a:t>
              </a:r>
            </a:p>
          </p:txBody>
        </p:sp>
      </p:grpSp>
      <p:sp>
        <p:nvSpPr>
          <p:cNvPr id="19" name="Title 7">
            <a:extLst>
              <a:ext uri="{FF2B5EF4-FFF2-40B4-BE49-F238E27FC236}">
                <a16:creationId xmlns:a16="http://schemas.microsoft.com/office/drawing/2014/main" id="{10FDBD77-80F7-97C2-6C74-C52831B2F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1"/>
            <a:ext cx="10363200" cy="120288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030DE-C088-84B6-8B6C-4A8D44C3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Picture 398">
            <a:extLst>
              <a:ext uri="{FF2B5EF4-FFF2-40B4-BE49-F238E27FC236}">
                <a16:creationId xmlns:a16="http://schemas.microsoft.com/office/drawing/2014/main" id="{B398108D-BD69-AAC3-3199-A775731C08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287"/>
          <a:stretch>
            <a:fillRect/>
          </a:stretch>
        </p:blipFill>
        <p:spPr>
          <a:xfrm>
            <a:off x="3429909" y="-57206"/>
            <a:ext cx="3928874" cy="6748675"/>
          </a:xfrm>
          <a:custGeom>
            <a:avLst/>
            <a:gdLst>
              <a:gd name="csX0" fmla="*/ 0 w 3928874"/>
              <a:gd name="csY0" fmla="*/ 0 h 7782786"/>
              <a:gd name="csX1" fmla="*/ 3928874 w 3928874"/>
              <a:gd name="csY1" fmla="*/ 0 h 7782786"/>
              <a:gd name="csX2" fmla="*/ 3928874 w 3928874"/>
              <a:gd name="csY2" fmla="*/ 7782786 h 7782786"/>
              <a:gd name="csX3" fmla="*/ 0 w 3928874"/>
              <a:gd name="csY3" fmla="*/ 7782786 h 77827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28874" h="7782786">
                <a:moveTo>
                  <a:pt x="0" y="0"/>
                </a:moveTo>
                <a:lnTo>
                  <a:pt x="3928874" y="0"/>
                </a:lnTo>
                <a:lnTo>
                  <a:pt x="3928874" y="7782786"/>
                </a:lnTo>
                <a:lnTo>
                  <a:pt x="0" y="7782786"/>
                </a:lnTo>
                <a:close/>
              </a:path>
            </a:pathLst>
          </a:custGeom>
        </p:spPr>
      </p:pic>
      <p:sp>
        <p:nvSpPr>
          <p:cNvPr id="406" name="Freeform: Shape 405">
            <a:extLst>
              <a:ext uri="{FF2B5EF4-FFF2-40B4-BE49-F238E27FC236}">
                <a16:creationId xmlns:a16="http://schemas.microsoft.com/office/drawing/2014/main" id="{078AAC3C-4ACA-FF5F-47C5-BC0BDA4CF563}"/>
              </a:ext>
            </a:extLst>
          </p:cNvPr>
          <p:cNvSpPr/>
          <p:nvPr/>
        </p:nvSpPr>
        <p:spPr>
          <a:xfrm>
            <a:off x="184353" y="735783"/>
            <a:ext cx="4036406" cy="2542933"/>
          </a:xfrm>
          <a:custGeom>
            <a:avLst/>
            <a:gdLst>
              <a:gd name="csX0" fmla="*/ 0 w 4036406"/>
              <a:gd name="csY0" fmla="*/ 0 h 2542933"/>
              <a:gd name="csX1" fmla="*/ 3981762 w 4036406"/>
              <a:gd name="csY1" fmla="*/ 0 h 2542933"/>
              <a:gd name="csX2" fmla="*/ 3992311 w 4036406"/>
              <a:gd name="csY2" fmla="*/ 49229 h 2542933"/>
              <a:gd name="csX3" fmla="*/ 3983492 w 4036406"/>
              <a:gd name="csY3" fmla="*/ 115372 h 2542933"/>
              <a:gd name="csX4" fmla="*/ 3974673 w 4036406"/>
              <a:gd name="csY4" fmla="*/ 225610 h 2542933"/>
              <a:gd name="csX5" fmla="*/ 4005540 w 4036406"/>
              <a:gd name="csY5" fmla="*/ 384352 h 2542933"/>
              <a:gd name="csX6" fmla="*/ 4036406 w 4036406"/>
              <a:gd name="csY6" fmla="*/ 498999 h 2542933"/>
              <a:gd name="csX7" fmla="*/ 4014359 w 4036406"/>
              <a:gd name="csY7" fmla="*/ 556323 h 2542933"/>
              <a:gd name="csX8" fmla="*/ 3957035 w 4036406"/>
              <a:gd name="csY8" fmla="*/ 587190 h 2542933"/>
              <a:gd name="csX9" fmla="*/ 3864435 w 4036406"/>
              <a:gd name="csY9" fmla="*/ 596009 h 2542933"/>
              <a:gd name="csX10" fmla="*/ 3705693 w 4036406"/>
              <a:gd name="csY10" fmla="*/ 573961 h 2542933"/>
              <a:gd name="csX11" fmla="*/ 3542541 w 4036406"/>
              <a:gd name="csY11" fmla="*/ 551914 h 2542933"/>
              <a:gd name="csX12" fmla="*/ 3436713 w 4036406"/>
              <a:gd name="csY12" fmla="*/ 569552 h 2542933"/>
              <a:gd name="csX13" fmla="*/ 3374980 w 4036406"/>
              <a:gd name="csY13" fmla="*/ 604828 h 2542933"/>
              <a:gd name="csX14" fmla="*/ 3339703 w 4036406"/>
              <a:gd name="csY14" fmla="*/ 666561 h 2542933"/>
              <a:gd name="csX15" fmla="*/ 3326475 w 4036406"/>
              <a:gd name="csY15" fmla="*/ 785618 h 2542933"/>
              <a:gd name="csX16" fmla="*/ 3388208 w 4036406"/>
              <a:gd name="csY16" fmla="*/ 961998 h 2542933"/>
              <a:gd name="csX17" fmla="*/ 3449941 w 4036406"/>
              <a:gd name="csY17" fmla="*/ 1142788 h 2542933"/>
              <a:gd name="csX18" fmla="*/ 3467579 w 4036406"/>
              <a:gd name="csY18" fmla="*/ 1266254 h 2542933"/>
              <a:gd name="csX19" fmla="*/ 3520493 w 4036406"/>
              <a:gd name="csY19" fmla="*/ 1341216 h 2542933"/>
              <a:gd name="csX20" fmla="*/ 3679236 w 4036406"/>
              <a:gd name="csY20" fmla="*/ 1380902 h 2542933"/>
              <a:gd name="csX21" fmla="*/ 3824750 w 4036406"/>
              <a:gd name="csY21" fmla="*/ 1402949 h 2542933"/>
              <a:gd name="csX22" fmla="*/ 3860026 w 4036406"/>
              <a:gd name="csY22" fmla="*/ 1429406 h 2542933"/>
              <a:gd name="csX23" fmla="*/ 3864435 w 4036406"/>
              <a:gd name="csY23" fmla="*/ 1473501 h 2542933"/>
              <a:gd name="csX24" fmla="*/ 3776245 w 4036406"/>
              <a:gd name="csY24" fmla="*/ 1605787 h 2542933"/>
              <a:gd name="csX25" fmla="*/ 3661598 w 4036406"/>
              <a:gd name="csY25" fmla="*/ 1773348 h 2542933"/>
              <a:gd name="csX26" fmla="*/ 3621912 w 4036406"/>
              <a:gd name="csY26" fmla="*/ 1887995 h 2542933"/>
              <a:gd name="csX27" fmla="*/ 3613093 w 4036406"/>
              <a:gd name="csY27" fmla="*/ 1998233 h 2542933"/>
              <a:gd name="csX28" fmla="*/ 3630731 w 4036406"/>
              <a:gd name="csY28" fmla="*/ 2134928 h 2542933"/>
              <a:gd name="csX29" fmla="*/ 3674826 w 4036406"/>
              <a:gd name="csY29" fmla="*/ 2267213 h 2542933"/>
              <a:gd name="csX30" fmla="*/ 3701283 w 4036406"/>
              <a:gd name="csY30" fmla="*/ 2350994 h 2542933"/>
              <a:gd name="csX31" fmla="*/ 3688055 w 4036406"/>
              <a:gd name="csY31" fmla="*/ 2399499 h 2542933"/>
              <a:gd name="csX32" fmla="*/ 3621912 w 4036406"/>
              <a:gd name="csY32" fmla="*/ 2470051 h 2542933"/>
              <a:gd name="csX33" fmla="*/ 3577817 w 4036406"/>
              <a:gd name="csY33" fmla="*/ 2520760 h 2542933"/>
              <a:gd name="csX34" fmla="*/ 3567174 w 4036406"/>
              <a:gd name="csY34" fmla="*/ 2542933 h 2542933"/>
              <a:gd name="csX35" fmla="*/ 0 w 4036406"/>
              <a:gd name="csY35" fmla="*/ 2542933 h 2542933"/>
              <a:gd name="csX36" fmla="*/ 0 w 4036406"/>
              <a:gd name="csY36" fmla="*/ 0 h 2542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4036406" h="2542933">
                <a:moveTo>
                  <a:pt x="0" y="0"/>
                </a:moveTo>
                <a:lnTo>
                  <a:pt x="3981762" y="0"/>
                </a:lnTo>
                <a:lnTo>
                  <a:pt x="3992311" y="49229"/>
                </a:lnTo>
                <a:cubicBezTo>
                  <a:pt x="3992311" y="72747"/>
                  <a:pt x="3989371" y="94794"/>
                  <a:pt x="3983492" y="115372"/>
                </a:cubicBezTo>
                <a:cubicBezTo>
                  <a:pt x="3977613" y="135950"/>
                  <a:pt x="3974673" y="172696"/>
                  <a:pt x="3974673" y="225610"/>
                </a:cubicBezTo>
                <a:cubicBezTo>
                  <a:pt x="3974673" y="278524"/>
                  <a:pt x="3984962" y="331438"/>
                  <a:pt x="4005540" y="384352"/>
                </a:cubicBezTo>
                <a:cubicBezTo>
                  <a:pt x="4026117" y="437266"/>
                  <a:pt x="4036406" y="475482"/>
                  <a:pt x="4036406" y="498999"/>
                </a:cubicBezTo>
                <a:cubicBezTo>
                  <a:pt x="4036406" y="522517"/>
                  <a:pt x="4029057" y="541625"/>
                  <a:pt x="4014359" y="556323"/>
                </a:cubicBezTo>
                <a:cubicBezTo>
                  <a:pt x="3999660" y="571022"/>
                  <a:pt x="3980552" y="581310"/>
                  <a:pt x="3957035" y="587190"/>
                </a:cubicBezTo>
                <a:cubicBezTo>
                  <a:pt x="3933518" y="593069"/>
                  <a:pt x="3902651" y="596009"/>
                  <a:pt x="3864435" y="596009"/>
                </a:cubicBezTo>
                <a:cubicBezTo>
                  <a:pt x="3826219" y="596009"/>
                  <a:pt x="3773305" y="588660"/>
                  <a:pt x="3705693" y="573961"/>
                </a:cubicBezTo>
                <a:cubicBezTo>
                  <a:pt x="3638080" y="559263"/>
                  <a:pt x="3583696" y="551914"/>
                  <a:pt x="3542541" y="551914"/>
                </a:cubicBezTo>
                <a:cubicBezTo>
                  <a:pt x="3501385" y="551914"/>
                  <a:pt x="3466109" y="557793"/>
                  <a:pt x="3436713" y="569552"/>
                </a:cubicBezTo>
                <a:cubicBezTo>
                  <a:pt x="3407316" y="581310"/>
                  <a:pt x="3386738" y="593069"/>
                  <a:pt x="3374980" y="604828"/>
                </a:cubicBezTo>
                <a:cubicBezTo>
                  <a:pt x="3363221" y="616586"/>
                  <a:pt x="3351462" y="637164"/>
                  <a:pt x="3339703" y="666561"/>
                </a:cubicBezTo>
                <a:cubicBezTo>
                  <a:pt x="3327945" y="695958"/>
                  <a:pt x="3323535" y="735643"/>
                  <a:pt x="3326475" y="785618"/>
                </a:cubicBezTo>
                <a:cubicBezTo>
                  <a:pt x="3329415" y="835592"/>
                  <a:pt x="3349992" y="894386"/>
                  <a:pt x="3388208" y="961998"/>
                </a:cubicBezTo>
                <a:cubicBezTo>
                  <a:pt x="3426424" y="1029611"/>
                  <a:pt x="3447002" y="1089874"/>
                  <a:pt x="3449941" y="1142788"/>
                </a:cubicBezTo>
                <a:cubicBezTo>
                  <a:pt x="3452881" y="1195702"/>
                  <a:pt x="3458760" y="1236858"/>
                  <a:pt x="3467579" y="1266254"/>
                </a:cubicBezTo>
                <a:cubicBezTo>
                  <a:pt x="3476398" y="1295651"/>
                  <a:pt x="3494036" y="1320638"/>
                  <a:pt x="3520493" y="1341216"/>
                </a:cubicBezTo>
                <a:cubicBezTo>
                  <a:pt x="3546950" y="1361794"/>
                  <a:pt x="3599865" y="1375022"/>
                  <a:pt x="3679236" y="1380902"/>
                </a:cubicBezTo>
                <a:cubicBezTo>
                  <a:pt x="3758607" y="1386781"/>
                  <a:pt x="3807112" y="1394130"/>
                  <a:pt x="3824750" y="1402949"/>
                </a:cubicBezTo>
                <a:cubicBezTo>
                  <a:pt x="3842388" y="1411768"/>
                  <a:pt x="3854146" y="1420587"/>
                  <a:pt x="3860026" y="1429406"/>
                </a:cubicBezTo>
                <a:cubicBezTo>
                  <a:pt x="3865905" y="1438225"/>
                  <a:pt x="3867375" y="1452924"/>
                  <a:pt x="3864435" y="1473501"/>
                </a:cubicBezTo>
                <a:cubicBezTo>
                  <a:pt x="3861496" y="1494079"/>
                  <a:pt x="3832099" y="1538174"/>
                  <a:pt x="3776245" y="1605787"/>
                </a:cubicBezTo>
                <a:cubicBezTo>
                  <a:pt x="3720391" y="1673399"/>
                  <a:pt x="3682175" y="1729253"/>
                  <a:pt x="3661598" y="1773348"/>
                </a:cubicBezTo>
                <a:cubicBezTo>
                  <a:pt x="3641020" y="1817443"/>
                  <a:pt x="3627792" y="1855659"/>
                  <a:pt x="3621912" y="1887995"/>
                </a:cubicBezTo>
                <a:cubicBezTo>
                  <a:pt x="3616033" y="1920332"/>
                  <a:pt x="3613093" y="1957078"/>
                  <a:pt x="3613093" y="1998233"/>
                </a:cubicBezTo>
                <a:cubicBezTo>
                  <a:pt x="3613093" y="2039388"/>
                  <a:pt x="3618972" y="2084954"/>
                  <a:pt x="3630731" y="2134928"/>
                </a:cubicBezTo>
                <a:cubicBezTo>
                  <a:pt x="3642490" y="2184902"/>
                  <a:pt x="3657188" y="2228997"/>
                  <a:pt x="3674826" y="2267213"/>
                </a:cubicBezTo>
                <a:cubicBezTo>
                  <a:pt x="3692464" y="2305429"/>
                  <a:pt x="3701283" y="2333356"/>
                  <a:pt x="3701283" y="2350994"/>
                </a:cubicBezTo>
                <a:cubicBezTo>
                  <a:pt x="3701283" y="2368632"/>
                  <a:pt x="3696874" y="2384800"/>
                  <a:pt x="3688055" y="2399499"/>
                </a:cubicBezTo>
                <a:cubicBezTo>
                  <a:pt x="3679236" y="2414197"/>
                  <a:pt x="3657188" y="2437714"/>
                  <a:pt x="3621912" y="2470051"/>
                </a:cubicBezTo>
                <a:cubicBezTo>
                  <a:pt x="3604274" y="2486219"/>
                  <a:pt x="3589576" y="2503122"/>
                  <a:pt x="3577817" y="2520760"/>
                </a:cubicBezTo>
                <a:lnTo>
                  <a:pt x="3567174" y="2542933"/>
                </a:lnTo>
                <a:lnTo>
                  <a:pt x="0" y="2542933"/>
                </a:lnTo>
                <a:lnTo>
                  <a:pt x="0" y="0"/>
                </a:lnTo>
                <a:close/>
              </a:path>
            </a:pathLst>
          </a:custGeom>
          <a:solidFill>
            <a:srgbClr val="FBF4F4"/>
          </a:solidFill>
          <a:ln w="17618" cap="flat">
            <a:solidFill>
              <a:srgbClr val="CB2B2D"/>
            </a:solidFill>
            <a:prstDash val="solid"/>
            <a:round/>
          </a:ln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24" name="Freeform: Shape 423">
            <a:extLst>
              <a:ext uri="{FF2B5EF4-FFF2-40B4-BE49-F238E27FC236}">
                <a16:creationId xmlns:a16="http://schemas.microsoft.com/office/drawing/2014/main" id="{D1A4727B-1971-43F8-BCB4-4B086E4EC56B}"/>
              </a:ext>
            </a:extLst>
          </p:cNvPr>
          <p:cNvSpPr/>
          <p:nvPr/>
        </p:nvSpPr>
        <p:spPr>
          <a:xfrm>
            <a:off x="7301799" y="4102521"/>
            <a:ext cx="4763915" cy="2319836"/>
          </a:xfrm>
          <a:custGeom>
            <a:avLst/>
            <a:gdLst>
              <a:gd name="csX0" fmla="*/ 0 w 4763915"/>
              <a:gd name="csY0" fmla="*/ 0 h 2319836"/>
              <a:gd name="csX1" fmla="*/ 4763915 w 4763915"/>
              <a:gd name="csY1" fmla="*/ 0 h 2319836"/>
              <a:gd name="csX2" fmla="*/ 4763915 w 4763915"/>
              <a:gd name="csY2" fmla="*/ 2319836 h 2319836"/>
              <a:gd name="csX3" fmla="*/ 88190 w 4763915"/>
              <a:gd name="csY3" fmla="*/ 2319836 h 2319836"/>
              <a:gd name="csX4" fmla="*/ 98219 w 4763915"/>
              <a:gd name="csY4" fmla="*/ 2225245 h 2319836"/>
              <a:gd name="csX5" fmla="*/ 120266 w 4763915"/>
              <a:gd name="csY5" fmla="*/ 1841618 h 2319836"/>
              <a:gd name="csX6" fmla="*/ 107038 w 4763915"/>
              <a:gd name="csY6" fmla="*/ 1568228 h 2319836"/>
              <a:gd name="csX7" fmla="*/ 49714 w 4763915"/>
              <a:gd name="csY7" fmla="*/ 1325705 h 2319836"/>
              <a:gd name="csX8" fmla="*/ 1209 w 4763915"/>
              <a:gd name="csY8" fmla="*/ 1096411 h 2319836"/>
              <a:gd name="csX9" fmla="*/ 45304 w 4763915"/>
              <a:gd name="csY9" fmla="*/ 765697 h 2319836"/>
              <a:gd name="csX10" fmla="*/ 93809 w 4763915"/>
              <a:gd name="csY10" fmla="*/ 417346 h 2319836"/>
              <a:gd name="csX11" fmla="*/ 76171 w 4763915"/>
              <a:gd name="csY11" fmla="*/ 205690 h 2319836"/>
              <a:gd name="csX12" fmla="*/ 18847 w 4763915"/>
              <a:gd name="csY12" fmla="*/ 38128 h 2319836"/>
              <a:gd name="csX13" fmla="*/ 0 w 4763915"/>
              <a:gd name="csY13" fmla="*/ 0 h 23198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763915" h="2319836">
                <a:moveTo>
                  <a:pt x="0" y="0"/>
                </a:moveTo>
                <a:lnTo>
                  <a:pt x="4763915" y="0"/>
                </a:lnTo>
                <a:lnTo>
                  <a:pt x="4763915" y="2319836"/>
                </a:lnTo>
                <a:lnTo>
                  <a:pt x="88190" y="2319836"/>
                </a:lnTo>
                <a:lnTo>
                  <a:pt x="98219" y="2225245"/>
                </a:lnTo>
                <a:cubicBezTo>
                  <a:pt x="112917" y="2063564"/>
                  <a:pt x="120266" y="1935688"/>
                  <a:pt x="120266" y="1841618"/>
                </a:cubicBezTo>
                <a:cubicBezTo>
                  <a:pt x="120266" y="1747548"/>
                  <a:pt x="115857" y="1656419"/>
                  <a:pt x="107038" y="1568228"/>
                </a:cubicBezTo>
                <a:cubicBezTo>
                  <a:pt x="98219" y="1480038"/>
                  <a:pt x="79111" y="1399197"/>
                  <a:pt x="49714" y="1325705"/>
                </a:cubicBezTo>
                <a:cubicBezTo>
                  <a:pt x="20317" y="1252214"/>
                  <a:pt x="4149" y="1175782"/>
                  <a:pt x="1209" y="1096411"/>
                </a:cubicBezTo>
                <a:cubicBezTo>
                  <a:pt x="-1730" y="1017039"/>
                  <a:pt x="12968" y="906802"/>
                  <a:pt x="45304" y="765697"/>
                </a:cubicBezTo>
                <a:cubicBezTo>
                  <a:pt x="77641" y="624593"/>
                  <a:pt x="93809" y="508476"/>
                  <a:pt x="93809" y="417346"/>
                </a:cubicBezTo>
                <a:cubicBezTo>
                  <a:pt x="93809" y="326216"/>
                  <a:pt x="87930" y="255664"/>
                  <a:pt x="76171" y="205690"/>
                </a:cubicBezTo>
                <a:cubicBezTo>
                  <a:pt x="64412" y="155715"/>
                  <a:pt x="45304" y="99861"/>
                  <a:pt x="18847" y="38128"/>
                </a:cubicBezTo>
                <a:lnTo>
                  <a:pt x="0" y="0"/>
                </a:lnTo>
                <a:close/>
              </a:path>
            </a:pathLst>
          </a:custGeom>
          <a:solidFill>
            <a:srgbClr val="F1EBFC"/>
          </a:solidFill>
          <a:ln w="19050">
            <a:solidFill>
              <a:srgbClr val="2E1193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lang="en-IN" sz="1600" b="1">
              <a:solidFill>
                <a:srgbClr val="CB2B2D"/>
              </a:solidFill>
            </a:endParaRP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1B70D862-9C88-731D-9E41-A18B878130C9}"/>
              </a:ext>
            </a:extLst>
          </p:cNvPr>
          <p:cNvSpPr txBox="1"/>
          <p:nvPr/>
        </p:nvSpPr>
        <p:spPr>
          <a:xfrm>
            <a:off x="7520873" y="4193539"/>
            <a:ext cx="3425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2E11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Uniqueness and Innovation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24FE869-FE56-8A6E-A86B-A8035BDC39FE}"/>
              </a:ext>
            </a:extLst>
          </p:cNvPr>
          <p:cNvSpPr txBox="1"/>
          <p:nvPr/>
        </p:nvSpPr>
        <p:spPr>
          <a:xfrm>
            <a:off x="7422182" y="4531464"/>
            <a:ext cx="457367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Realistic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physics model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with both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past and future forecast</a:t>
            </a:r>
            <a:endParaRPr lang="en-IN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4C8E63E7-946E-2C7D-7043-BB1E9AC6D53D}"/>
              </a:ext>
            </a:extLst>
          </p:cNvPr>
          <p:cNvSpPr txBox="1"/>
          <p:nvPr/>
        </p:nvSpPr>
        <p:spPr>
          <a:xfrm>
            <a:off x="7396782" y="4840078"/>
            <a:ext cx="45736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Reproducible forecast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 uncertainty-aware conclusions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and a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traceable evidence chain.</a:t>
            </a:r>
            <a:endParaRPr lang="en-IN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0045CC40-5FF9-7E4A-A8D8-468CDB8BA1DF}"/>
              </a:ext>
            </a:extLst>
          </p:cNvPr>
          <p:cNvSpPr txBox="1"/>
          <p:nvPr/>
        </p:nvSpPr>
        <p:spPr>
          <a:xfrm>
            <a:off x="7422182" y="5348747"/>
            <a:ext cx="457367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Lightweight ResNet-18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enables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 efficient inference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 edge-device deployment. </a:t>
            </a: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E91BA7B6-1FBE-110E-7E70-C80330EA6116}"/>
              </a:ext>
            </a:extLst>
          </p:cNvPr>
          <p:cNvSpPr txBox="1"/>
          <p:nvPr/>
        </p:nvSpPr>
        <p:spPr>
          <a:xfrm>
            <a:off x="7422182" y="5857417"/>
            <a:ext cx="45736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Modular architecture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enables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 independent, parallel execution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of analysis modules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21" name="Picture 420">
            <a:extLst>
              <a:ext uri="{FF2B5EF4-FFF2-40B4-BE49-F238E27FC236}">
                <a16:creationId xmlns:a16="http://schemas.microsoft.com/office/drawing/2014/main" id="{DF3AB6AF-F378-DC55-36CC-27116BFCAE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65735" y="4218874"/>
            <a:ext cx="287884" cy="2878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1C83787-6BC6-BAED-F33D-B8DD4B4497AA}"/>
              </a:ext>
            </a:extLst>
          </p:cNvPr>
          <p:cNvSpPr txBox="1"/>
          <p:nvPr/>
        </p:nvSpPr>
        <p:spPr>
          <a:xfrm>
            <a:off x="597144" y="780459"/>
            <a:ext cx="22476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CB2B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World Problem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943DED-9BD8-AA00-0CC0-6548483548F0}"/>
              </a:ext>
            </a:extLst>
          </p:cNvPr>
          <p:cNvSpPr txBox="1"/>
          <p:nvPr/>
        </p:nvSpPr>
        <p:spPr>
          <a:xfrm>
            <a:off x="889278" y="1141144"/>
            <a:ext cx="3549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Hard to detect oil early</a:t>
            </a:r>
          </a:p>
          <a:p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Easily confused with look-alikes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C978EB-23E9-8F23-A6FF-1E166B0AB5B0}"/>
              </a:ext>
            </a:extLst>
          </p:cNvPr>
          <p:cNvSpPr txBox="1"/>
          <p:nvPr/>
        </p:nvSpPr>
        <p:spPr>
          <a:xfrm>
            <a:off x="889278" y="1678879"/>
            <a:ext cx="3549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Hard to find the source</a:t>
            </a:r>
          </a:p>
          <a:p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Current and winds move oil.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01C99D-FFC4-B2E5-54EF-2E18A6078B3F}"/>
              </a:ext>
            </a:extLst>
          </p:cNvPr>
          <p:cNvSpPr txBox="1"/>
          <p:nvPr/>
        </p:nvSpPr>
        <p:spPr>
          <a:xfrm>
            <a:off x="889278" y="2216614"/>
            <a:ext cx="3549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Delay increases damage</a:t>
            </a:r>
          </a:p>
          <a:p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Current and winds move oil.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908D6E-8657-F3C4-7CBE-C79F0BE67324}"/>
              </a:ext>
            </a:extLst>
          </p:cNvPr>
          <p:cNvSpPr txBox="1"/>
          <p:nvPr/>
        </p:nvSpPr>
        <p:spPr>
          <a:xfrm>
            <a:off x="889278" y="2755779"/>
            <a:ext cx="3549372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Need source accountability</a:t>
            </a:r>
          </a:p>
          <a:p>
            <a:r>
              <a:rPr lang="en-IN" sz="1250" dirty="0">
                <a:latin typeface="Arial" panose="020B0604020202020204" pitchFamily="34" charset="0"/>
                <a:cs typeface="Arial" panose="020B0604020202020204" pitchFamily="34" charset="0"/>
              </a:rPr>
              <a:t>Enables faster response, accountability</a:t>
            </a:r>
          </a:p>
        </p:txBody>
      </p:sp>
      <p:pic>
        <p:nvPicPr>
          <p:cNvPr id="241" name="Picture 240">
            <a:extLst>
              <a:ext uri="{FF2B5EF4-FFF2-40B4-BE49-F238E27FC236}">
                <a16:creationId xmlns:a16="http://schemas.microsoft.com/office/drawing/2014/main" id="{17C84153-5BF3-20AD-CFBC-FECF53DF8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892" y="805794"/>
            <a:ext cx="287884" cy="287884"/>
          </a:xfrm>
          <a:prstGeom prst="rect">
            <a:avLst/>
          </a:prstGeom>
        </p:spPr>
      </p:pic>
      <p:pic>
        <p:nvPicPr>
          <p:cNvPr id="245" name="Picture 244">
            <a:extLst>
              <a:ext uri="{FF2B5EF4-FFF2-40B4-BE49-F238E27FC236}">
                <a16:creationId xmlns:a16="http://schemas.microsoft.com/office/drawing/2014/main" id="{BCC20B99-43AF-29CD-7216-9A50912FB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835" y="2321477"/>
            <a:ext cx="282717" cy="282717"/>
          </a:xfrm>
          <a:prstGeom prst="rect">
            <a:avLst/>
          </a:prstGeom>
        </p:spPr>
      </p:pic>
      <p:pic>
        <p:nvPicPr>
          <p:cNvPr id="249" name="Picture 248">
            <a:extLst>
              <a:ext uri="{FF2B5EF4-FFF2-40B4-BE49-F238E27FC236}">
                <a16:creationId xmlns:a16="http://schemas.microsoft.com/office/drawing/2014/main" id="{03EE244E-4997-1934-CD3B-F0E562E637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835" y="1246007"/>
            <a:ext cx="282717" cy="282717"/>
          </a:xfrm>
          <a:prstGeom prst="rect">
            <a:avLst/>
          </a:prstGeom>
        </p:spPr>
      </p:pic>
      <p:pic>
        <p:nvPicPr>
          <p:cNvPr id="253" name="Picture 252">
            <a:extLst>
              <a:ext uri="{FF2B5EF4-FFF2-40B4-BE49-F238E27FC236}">
                <a16:creationId xmlns:a16="http://schemas.microsoft.com/office/drawing/2014/main" id="{3069CA30-F2F6-C363-665D-6AB9E56168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835" y="2856795"/>
            <a:ext cx="282717" cy="282717"/>
          </a:xfrm>
          <a:prstGeom prst="rect">
            <a:avLst/>
          </a:prstGeom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B4EA0461-54E0-2B9D-4DEF-1F5E9CAFB1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835" y="1783742"/>
            <a:ext cx="282717" cy="282717"/>
          </a:xfrm>
          <a:prstGeom prst="rect">
            <a:avLst/>
          </a:prstGeom>
        </p:spPr>
      </p:pic>
      <p:sp>
        <p:nvSpPr>
          <p:cNvPr id="409" name="Freeform: Shape 408">
            <a:extLst>
              <a:ext uri="{FF2B5EF4-FFF2-40B4-BE49-F238E27FC236}">
                <a16:creationId xmlns:a16="http://schemas.microsoft.com/office/drawing/2014/main" id="{C7301B58-5CBA-D35D-9605-ECD4FA27562E}"/>
              </a:ext>
            </a:extLst>
          </p:cNvPr>
          <p:cNvSpPr/>
          <p:nvPr/>
        </p:nvSpPr>
        <p:spPr>
          <a:xfrm>
            <a:off x="184354" y="3369257"/>
            <a:ext cx="4281635" cy="3053100"/>
          </a:xfrm>
          <a:custGeom>
            <a:avLst/>
            <a:gdLst>
              <a:gd name="csX0" fmla="*/ 0 w 4281635"/>
              <a:gd name="csY0" fmla="*/ 0 h 3053100"/>
              <a:gd name="csX1" fmla="*/ 3540888 w 4281635"/>
              <a:gd name="csY1" fmla="*/ 0 h 3053100"/>
              <a:gd name="csX2" fmla="*/ 3540336 w 4281635"/>
              <a:gd name="csY2" fmla="*/ 3035 h 3053100"/>
              <a:gd name="csX3" fmla="*/ 3542541 w 4281635"/>
              <a:gd name="csY3" fmla="*/ 70280 h 3053100"/>
              <a:gd name="csX4" fmla="*/ 3586636 w 4281635"/>
              <a:gd name="csY4" fmla="*/ 198156 h 3053100"/>
              <a:gd name="csX5" fmla="*/ 3639550 w 4281635"/>
              <a:gd name="csY5" fmla="*/ 299574 h 3053100"/>
              <a:gd name="csX6" fmla="*/ 3661598 w 4281635"/>
              <a:gd name="csY6" fmla="*/ 440679 h 3053100"/>
              <a:gd name="csX7" fmla="*/ 3683645 w 4281635"/>
              <a:gd name="csY7" fmla="*/ 581783 h 3053100"/>
              <a:gd name="csX8" fmla="*/ 3732150 w 4281635"/>
              <a:gd name="csY8" fmla="*/ 647926 h 3053100"/>
              <a:gd name="csX9" fmla="*/ 3811521 w 4281635"/>
              <a:gd name="csY9" fmla="*/ 678792 h 3053100"/>
              <a:gd name="csX10" fmla="*/ 4254264 w 4281635"/>
              <a:gd name="csY10" fmla="*/ 687473 h 3053100"/>
              <a:gd name="csX11" fmla="*/ 4281635 w 4281635"/>
              <a:gd name="csY11" fmla="*/ 687504 h 3053100"/>
              <a:gd name="csX12" fmla="*/ 4281635 w 4281635"/>
              <a:gd name="csY12" fmla="*/ 1667141 h 3053100"/>
              <a:gd name="csX13" fmla="*/ 4195149 w 4281635"/>
              <a:gd name="csY13" fmla="*/ 1737075 h 3053100"/>
              <a:gd name="csX14" fmla="*/ 3899711 w 4281635"/>
              <a:gd name="csY14" fmla="*/ 1984008 h 3053100"/>
              <a:gd name="csX15" fmla="*/ 3798293 w 4281635"/>
              <a:gd name="csY15" fmla="*/ 2133931 h 3053100"/>
              <a:gd name="csX16" fmla="*/ 3749788 w 4281635"/>
              <a:gd name="csY16" fmla="*/ 2323540 h 3053100"/>
              <a:gd name="csX17" fmla="*/ 3754197 w 4281635"/>
              <a:gd name="csY17" fmla="*/ 2469054 h 3053100"/>
              <a:gd name="csX18" fmla="*/ 3820340 w 4281635"/>
              <a:gd name="csY18" fmla="*/ 2632206 h 3053100"/>
              <a:gd name="csX19" fmla="*/ 3957035 w 4281635"/>
              <a:gd name="csY19" fmla="*/ 2883548 h 3053100"/>
              <a:gd name="csX20" fmla="*/ 4056249 w 4281635"/>
              <a:gd name="csY20" fmla="*/ 3039810 h 3053100"/>
              <a:gd name="csX21" fmla="*/ 4065915 w 4281635"/>
              <a:gd name="csY21" fmla="*/ 3053100 h 3053100"/>
              <a:gd name="csX22" fmla="*/ 0 w 4281635"/>
              <a:gd name="csY22" fmla="*/ 3053100 h 3053100"/>
              <a:gd name="csX23" fmla="*/ 0 w 4281635"/>
              <a:gd name="csY23" fmla="*/ 0 h 3053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81635" h="3053100">
                <a:moveTo>
                  <a:pt x="0" y="0"/>
                </a:moveTo>
                <a:lnTo>
                  <a:pt x="3540888" y="0"/>
                </a:lnTo>
                <a:lnTo>
                  <a:pt x="3540336" y="3035"/>
                </a:lnTo>
                <a:cubicBezTo>
                  <a:pt x="3538867" y="24348"/>
                  <a:pt x="3539602" y="46763"/>
                  <a:pt x="3542541" y="70280"/>
                </a:cubicBezTo>
                <a:cubicBezTo>
                  <a:pt x="3548420" y="117315"/>
                  <a:pt x="3563119" y="159940"/>
                  <a:pt x="3586636" y="198156"/>
                </a:cubicBezTo>
                <a:cubicBezTo>
                  <a:pt x="3610153" y="236371"/>
                  <a:pt x="3627792" y="270178"/>
                  <a:pt x="3639550" y="299574"/>
                </a:cubicBezTo>
                <a:cubicBezTo>
                  <a:pt x="3651309" y="328971"/>
                  <a:pt x="3658658" y="376006"/>
                  <a:pt x="3661598" y="440679"/>
                </a:cubicBezTo>
                <a:cubicBezTo>
                  <a:pt x="3664537" y="505352"/>
                  <a:pt x="3671887" y="552386"/>
                  <a:pt x="3683645" y="581783"/>
                </a:cubicBezTo>
                <a:cubicBezTo>
                  <a:pt x="3695404" y="611180"/>
                  <a:pt x="3711572" y="633227"/>
                  <a:pt x="3732150" y="647926"/>
                </a:cubicBezTo>
                <a:cubicBezTo>
                  <a:pt x="3752728" y="662624"/>
                  <a:pt x="3779185" y="672913"/>
                  <a:pt x="3811521" y="678792"/>
                </a:cubicBezTo>
                <a:cubicBezTo>
                  <a:pt x="3839816" y="683937"/>
                  <a:pt x="3987397" y="686830"/>
                  <a:pt x="4254264" y="687473"/>
                </a:cubicBezTo>
                <a:lnTo>
                  <a:pt x="4281635" y="687504"/>
                </a:lnTo>
                <a:lnTo>
                  <a:pt x="4281635" y="1667141"/>
                </a:lnTo>
                <a:lnTo>
                  <a:pt x="4195149" y="1737075"/>
                </a:lnTo>
                <a:cubicBezTo>
                  <a:pt x="4036406" y="1860541"/>
                  <a:pt x="3937927" y="1942852"/>
                  <a:pt x="3899711" y="1984008"/>
                </a:cubicBezTo>
                <a:cubicBezTo>
                  <a:pt x="3861496" y="2025163"/>
                  <a:pt x="3827689" y="2075137"/>
                  <a:pt x="3798293" y="2133931"/>
                </a:cubicBezTo>
                <a:cubicBezTo>
                  <a:pt x="3768896" y="2192725"/>
                  <a:pt x="3752728" y="2255927"/>
                  <a:pt x="3749788" y="2323540"/>
                </a:cubicBezTo>
                <a:cubicBezTo>
                  <a:pt x="3746848" y="2391153"/>
                  <a:pt x="3748318" y="2439657"/>
                  <a:pt x="3754197" y="2469054"/>
                </a:cubicBezTo>
                <a:cubicBezTo>
                  <a:pt x="3760077" y="2498450"/>
                  <a:pt x="3782124" y="2552834"/>
                  <a:pt x="3820340" y="2632206"/>
                </a:cubicBezTo>
                <a:cubicBezTo>
                  <a:pt x="3858556" y="2711577"/>
                  <a:pt x="3904121" y="2795357"/>
                  <a:pt x="3957035" y="2883548"/>
                </a:cubicBezTo>
                <a:cubicBezTo>
                  <a:pt x="3996721" y="2949691"/>
                  <a:pt x="4029792" y="3001778"/>
                  <a:pt x="4056249" y="3039810"/>
                </a:cubicBezTo>
                <a:lnTo>
                  <a:pt x="4065915" y="3053100"/>
                </a:lnTo>
                <a:lnTo>
                  <a:pt x="0" y="3053100"/>
                </a:lnTo>
                <a:lnTo>
                  <a:pt x="0" y="0"/>
                </a:lnTo>
                <a:close/>
              </a:path>
            </a:pathLst>
          </a:custGeom>
          <a:solidFill>
            <a:srgbClr val="EFFDEF"/>
          </a:solidFill>
          <a:ln w="19050">
            <a:solidFill>
              <a:srgbClr val="2B641B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lang="en-IN" sz="1600" b="1">
              <a:solidFill>
                <a:srgbClr val="CB2B2D"/>
              </a:solidFill>
            </a:endParaRP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C2E8087B-8FA0-D743-3AA8-5BA30797ABBD}"/>
              </a:ext>
            </a:extLst>
          </p:cNvPr>
          <p:cNvSpPr txBox="1"/>
          <p:nvPr/>
        </p:nvSpPr>
        <p:spPr>
          <a:xfrm>
            <a:off x="597144" y="3460275"/>
            <a:ext cx="30287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2F6A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Solution – ‘Guardians’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6BF320BA-1391-24D7-3ED9-BBFC9600CAFF}"/>
              </a:ext>
            </a:extLst>
          </p:cNvPr>
          <p:cNvSpPr txBox="1"/>
          <p:nvPr/>
        </p:nvSpPr>
        <p:spPr>
          <a:xfrm>
            <a:off x="889278" y="3820960"/>
            <a:ext cx="3549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Detects &amp; validates oil spills</a:t>
            </a:r>
          </a:p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Distinguishes potential spills from look-alikes.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E84D991-0AC2-E750-126E-5D0A9C64C6F8}"/>
              </a:ext>
            </a:extLst>
          </p:cNvPr>
          <p:cNvSpPr txBox="1"/>
          <p:nvPr/>
        </p:nvSpPr>
        <p:spPr>
          <a:xfrm>
            <a:off x="889278" y="4356338"/>
            <a:ext cx="354937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Backtracks spill movement</a:t>
            </a:r>
          </a:p>
          <a:p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Estimates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it originated using ocean currents, wind, etc.</a:t>
            </a:r>
            <a:endParaRPr lang="en-IN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1E5CDDE8-F640-E1C3-49BB-31D67F8881DF}"/>
              </a:ext>
            </a:extLst>
          </p:cNvPr>
          <p:cNvSpPr txBox="1"/>
          <p:nvPr/>
        </p:nvSpPr>
        <p:spPr>
          <a:xfrm>
            <a:off x="889278" y="5091770"/>
            <a:ext cx="3627346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Identifies potential source vessels</a:t>
            </a:r>
          </a:p>
          <a:p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Matches historic AIS tracks to source.</a:t>
            </a:r>
            <a:endParaRPr lang="en-IN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E249E4F4-A3AA-C0C1-5586-FE6442436FEC}"/>
              </a:ext>
            </a:extLst>
          </p:cNvPr>
          <p:cNvSpPr txBox="1"/>
          <p:nvPr/>
        </p:nvSpPr>
        <p:spPr>
          <a:xfrm>
            <a:off x="889278" y="5619453"/>
            <a:ext cx="354937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Forecasts future spill movement</a:t>
            </a:r>
          </a:p>
          <a:p>
            <a:r>
              <a:rPr lang="en-IN" sz="1250" dirty="0"/>
              <a:t>Predicts </a:t>
            </a:r>
            <a:r>
              <a:rPr lang="en-IN" sz="1250" b="1" dirty="0"/>
              <a:t>WHERE </a:t>
            </a:r>
            <a:r>
              <a:rPr lang="en-IN" sz="1250" dirty="0"/>
              <a:t>the spill may go next </a:t>
            </a:r>
            <a:r>
              <a:rPr lang="en-US" sz="1250" dirty="0"/>
              <a:t>to </a:t>
            </a:r>
          </a:p>
          <a:p>
            <a:r>
              <a:rPr lang="en-US" sz="1250" dirty="0"/>
              <a:t>support </a:t>
            </a:r>
            <a:r>
              <a:rPr lang="en-US" sz="1250" b="1" dirty="0"/>
              <a:t>faster response and cleanup planning</a:t>
            </a:r>
            <a:endParaRPr lang="en-IN" sz="1250" b="1" dirty="0"/>
          </a:p>
        </p:txBody>
      </p:sp>
      <p:pic>
        <p:nvPicPr>
          <p:cNvPr id="345" name="Picture 344">
            <a:extLst>
              <a:ext uri="{FF2B5EF4-FFF2-40B4-BE49-F238E27FC236}">
                <a16:creationId xmlns:a16="http://schemas.microsoft.com/office/drawing/2014/main" id="{12BC66EB-EEC4-56BD-2404-292CF74476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8892" y="3485610"/>
            <a:ext cx="287884" cy="287884"/>
          </a:xfrm>
          <a:prstGeom prst="rect">
            <a:avLst/>
          </a:prstGeom>
        </p:spPr>
      </p:pic>
      <p:pic>
        <p:nvPicPr>
          <p:cNvPr id="347" name="Picture 346">
            <a:extLst>
              <a:ext uri="{FF2B5EF4-FFF2-40B4-BE49-F238E27FC236}">
                <a16:creationId xmlns:a16="http://schemas.microsoft.com/office/drawing/2014/main" id="{58EA6A7B-69A9-F37C-E623-3C2AEE10E72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2835" y="5192786"/>
            <a:ext cx="282717" cy="282717"/>
          </a:xfrm>
          <a:prstGeom prst="rect">
            <a:avLst/>
          </a:prstGeom>
        </p:spPr>
      </p:pic>
      <p:pic>
        <p:nvPicPr>
          <p:cNvPr id="349" name="Picture 348">
            <a:extLst>
              <a:ext uri="{FF2B5EF4-FFF2-40B4-BE49-F238E27FC236}">
                <a16:creationId xmlns:a16="http://schemas.microsoft.com/office/drawing/2014/main" id="{7429445C-14B2-7685-5F5B-C3805B17A52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2835" y="3926123"/>
            <a:ext cx="282717" cy="282116"/>
          </a:xfrm>
          <a:prstGeom prst="rect">
            <a:avLst/>
          </a:prstGeom>
        </p:spPr>
      </p:pic>
      <p:pic>
        <p:nvPicPr>
          <p:cNvPr id="351" name="Picture 350">
            <a:extLst>
              <a:ext uri="{FF2B5EF4-FFF2-40B4-BE49-F238E27FC236}">
                <a16:creationId xmlns:a16="http://schemas.microsoft.com/office/drawing/2014/main" id="{780FABDD-559D-C4C7-0C5E-6BE10A8E14D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2835" y="5816649"/>
            <a:ext cx="282717" cy="282717"/>
          </a:xfrm>
          <a:prstGeom prst="rect">
            <a:avLst/>
          </a:prstGeom>
        </p:spPr>
      </p:pic>
      <p:pic>
        <p:nvPicPr>
          <p:cNvPr id="353" name="Picture 352">
            <a:extLst>
              <a:ext uri="{FF2B5EF4-FFF2-40B4-BE49-F238E27FC236}">
                <a16:creationId xmlns:a16="http://schemas.microsoft.com/office/drawing/2014/main" id="{73F01FFE-4534-B4BC-EEE6-38573EADD1B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62835" y="4561228"/>
            <a:ext cx="282717" cy="282717"/>
          </a:xfrm>
          <a:prstGeom prst="rect">
            <a:avLst/>
          </a:prstGeom>
        </p:spPr>
      </p:pic>
      <p:grpSp>
        <p:nvGrpSpPr>
          <p:cNvPr id="380" name="Group 379">
            <a:extLst>
              <a:ext uri="{FF2B5EF4-FFF2-40B4-BE49-F238E27FC236}">
                <a16:creationId xmlns:a16="http://schemas.microsoft.com/office/drawing/2014/main" id="{F40D0979-78F9-BF4C-35BB-AAD957BE4F79}"/>
              </a:ext>
            </a:extLst>
          </p:cNvPr>
          <p:cNvGrpSpPr/>
          <p:nvPr/>
        </p:nvGrpSpPr>
        <p:grpSpPr>
          <a:xfrm>
            <a:off x="171833" y="62216"/>
            <a:ext cx="11838106" cy="680115"/>
            <a:chOff x="171833" y="62216"/>
            <a:chExt cx="11838106" cy="680115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023B1CA3-9428-AF79-9600-397429A9C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CAFAF12-9A11-AE39-85B4-CAFFF2067F7E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48" name="Title 1">
              <a:extLst>
                <a:ext uri="{FF2B5EF4-FFF2-40B4-BE49-F238E27FC236}">
                  <a16:creationId xmlns:a16="http://schemas.microsoft.com/office/drawing/2014/main" id="{324206CA-5EA1-3337-9F1B-9872B3F4EB7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541315" y="62216"/>
              <a:ext cx="4281635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algn="l" eaLnBrk="1" hangingPunct="1"/>
              <a:r>
                <a:rPr lang="en-IN" sz="2400" b="1" dirty="0">
                  <a:solidFill>
                    <a:srgbClr val="1F4E79"/>
                  </a:solidFill>
                </a:rPr>
                <a:t>Proposed Solution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  <p:sp>
          <p:nvSpPr>
            <p:cNvPr id="379" name="Title 1">
              <a:extLst>
                <a:ext uri="{FF2B5EF4-FFF2-40B4-BE49-F238E27FC236}">
                  <a16:creationId xmlns:a16="http://schemas.microsoft.com/office/drawing/2014/main" id="{EF721CAB-F7BD-51C3-310D-DC2319DEEDD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324226" y="62216"/>
              <a:ext cx="2069115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Guardians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pic>
        <p:nvPicPr>
          <p:cNvPr id="653" name="Graphic 652">
            <a:extLst>
              <a:ext uri="{FF2B5EF4-FFF2-40B4-BE49-F238E27FC236}">
                <a16:creationId xmlns:a16="http://schemas.microsoft.com/office/drawing/2014/main" id="{AEE677BA-125B-2CBD-D60C-24182E1294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76049" t="-107" r="-497" b="97606"/>
          <a:stretch>
            <a:fillRect/>
          </a:stretch>
        </p:blipFill>
        <p:spPr>
          <a:xfrm>
            <a:off x="10645868" y="640401"/>
            <a:ext cx="1458328" cy="85030"/>
          </a:xfrm>
          <a:custGeom>
            <a:avLst/>
            <a:gdLst>
              <a:gd name="csX0" fmla="*/ 0 w 1458328"/>
              <a:gd name="csY0" fmla="*/ 0 h 85030"/>
              <a:gd name="csX1" fmla="*/ 1458328 w 1458328"/>
              <a:gd name="csY1" fmla="*/ 0 h 85030"/>
              <a:gd name="csX2" fmla="*/ 1458328 w 1458328"/>
              <a:gd name="csY2" fmla="*/ 85030 h 85030"/>
              <a:gd name="csX3" fmla="*/ 1428705 w 1458328"/>
              <a:gd name="csY3" fmla="*/ 85030 h 85030"/>
              <a:gd name="csX4" fmla="*/ 1428705 w 1458328"/>
              <a:gd name="csY4" fmla="*/ 3631 h 85030"/>
              <a:gd name="csX5" fmla="*/ 1194 w 1458328"/>
              <a:gd name="csY5" fmla="*/ 3631 h 85030"/>
              <a:gd name="csX6" fmla="*/ 0 w 1458328"/>
              <a:gd name="csY6" fmla="*/ 0 h 85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58328" h="85030">
                <a:moveTo>
                  <a:pt x="0" y="0"/>
                </a:moveTo>
                <a:lnTo>
                  <a:pt x="1458328" y="0"/>
                </a:lnTo>
                <a:lnTo>
                  <a:pt x="1458328" y="85030"/>
                </a:lnTo>
                <a:lnTo>
                  <a:pt x="1428705" y="85030"/>
                </a:lnTo>
                <a:lnTo>
                  <a:pt x="1428705" y="3631"/>
                </a:lnTo>
                <a:lnTo>
                  <a:pt x="1194" y="3631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52" name="Graphic 651">
            <a:extLst>
              <a:ext uri="{FF2B5EF4-FFF2-40B4-BE49-F238E27FC236}">
                <a16:creationId xmlns:a16="http://schemas.microsoft.com/office/drawing/2014/main" id="{81DC33CD-E79C-F4D5-8517-943414273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6109353" y="644032"/>
            <a:ext cx="5965220" cy="3400175"/>
          </a:xfrm>
          <a:custGeom>
            <a:avLst/>
            <a:gdLst>
              <a:gd name="csX0" fmla="*/ 0 w 5965220"/>
              <a:gd name="csY0" fmla="*/ 0 h 3400175"/>
              <a:gd name="csX1" fmla="*/ 4537709 w 5965220"/>
              <a:gd name="csY1" fmla="*/ 0 h 3400175"/>
              <a:gd name="csX2" fmla="*/ 4543594 w 5965220"/>
              <a:gd name="csY2" fmla="*/ 17900 h 3400175"/>
              <a:gd name="csX3" fmla="*/ 4750850 w 5965220"/>
              <a:gd name="csY3" fmla="*/ 147600 h 3400175"/>
              <a:gd name="csX4" fmla="*/ 4909901 w 5965220"/>
              <a:gd name="csY4" fmla="*/ 85401 h 3400175"/>
              <a:gd name="csX5" fmla="*/ 4912760 w 5965220"/>
              <a:gd name="csY5" fmla="*/ 81399 h 3400175"/>
              <a:gd name="csX6" fmla="*/ 5965220 w 5965220"/>
              <a:gd name="csY6" fmla="*/ 81399 h 3400175"/>
              <a:gd name="csX7" fmla="*/ 5965220 w 5965220"/>
              <a:gd name="csY7" fmla="*/ 3400175 h 3400175"/>
              <a:gd name="csX8" fmla="*/ 0 w 5965220"/>
              <a:gd name="csY8" fmla="*/ 3400175 h 3400175"/>
              <a:gd name="csX9" fmla="*/ 0 w 5965220"/>
              <a:gd name="csY9" fmla="*/ 0 h 3400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965220" h="3400175">
                <a:moveTo>
                  <a:pt x="0" y="0"/>
                </a:moveTo>
                <a:lnTo>
                  <a:pt x="4537709" y="0"/>
                </a:lnTo>
                <a:lnTo>
                  <a:pt x="4543594" y="17900"/>
                </a:lnTo>
                <a:cubicBezTo>
                  <a:pt x="4577741" y="94119"/>
                  <a:pt x="4657681" y="147600"/>
                  <a:pt x="4750850" y="147600"/>
                </a:cubicBezTo>
                <a:cubicBezTo>
                  <a:pt x="4812964" y="147600"/>
                  <a:pt x="4869196" y="123831"/>
                  <a:pt x="4909901" y="85401"/>
                </a:cubicBezTo>
                <a:lnTo>
                  <a:pt x="4912760" y="81399"/>
                </a:lnTo>
                <a:lnTo>
                  <a:pt x="5965220" y="81399"/>
                </a:lnTo>
                <a:lnTo>
                  <a:pt x="5965220" y="3400175"/>
                </a:lnTo>
                <a:lnTo>
                  <a:pt x="0" y="340017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01" name="TextBox 600">
            <a:extLst>
              <a:ext uri="{FF2B5EF4-FFF2-40B4-BE49-F238E27FC236}">
                <a16:creationId xmlns:a16="http://schemas.microsoft.com/office/drawing/2014/main" id="{E685B346-5CFB-C99A-5DDA-451F2E7812F7}"/>
              </a:ext>
            </a:extLst>
          </p:cNvPr>
          <p:cNvSpPr txBox="1"/>
          <p:nvPr/>
        </p:nvSpPr>
        <p:spPr>
          <a:xfrm>
            <a:off x="6761390" y="658670"/>
            <a:ext cx="38844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rgbClr val="E061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 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450DF2-489C-D24E-1C18-4C47181E3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9536"/>
            <a:ext cx="12191999" cy="2484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FE3CD36-268F-87C6-E5D8-D7CE323AD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058" y="6627806"/>
            <a:ext cx="2844800" cy="211924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4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90535" y="6423819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21" name="Picture 8" descr="C:\Users\User\Downloads\sihppt\fullflow.png">
            <a:extLst>
              <a:ext uri="{FF2B5EF4-FFF2-40B4-BE49-F238E27FC236}">
                <a16:creationId xmlns:a16="http://schemas.microsoft.com/office/drawing/2014/main" id="{3544FF1C-D91E-0559-27CE-E203F8405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908" y="742331"/>
            <a:ext cx="8736474" cy="4946587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511FEEE-FA83-15E1-6C03-07EF4E66704D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08C2D9A-DC32-C7C2-0A25-C84FE74E5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2D10815-5C74-6C6F-7F49-DFAFD39F2CD5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2FA441A6-DED5-A1DF-8E30-B0E5756FA50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US" sz="2400" b="1" dirty="0">
                  <a:solidFill>
                    <a:srgbClr val="1F4E79"/>
                  </a:solidFill>
                </a:rPr>
                <a:t>Technical  Approach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596BC42-819B-DA99-EFF5-FAB7AF80F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9536"/>
            <a:ext cx="12191999" cy="2484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3BDEC27-1E1F-28A4-EACD-A99E4CCC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058" y="6627806"/>
            <a:ext cx="2844800" cy="211924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35" name="Shape 0">
            <a:extLst>
              <a:ext uri="{FF2B5EF4-FFF2-40B4-BE49-F238E27FC236}">
                <a16:creationId xmlns:a16="http://schemas.microsoft.com/office/drawing/2014/main" id="{0071D9D2-070B-0CBC-9CB3-230F97D70D51}"/>
              </a:ext>
            </a:extLst>
          </p:cNvPr>
          <p:cNvSpPr/>
          <p:nvPr/>
        </p:nvSpPr>
        <p:spPr>
          <a:xfrm>
            <a:off x="8890000" y="787400"/>
            <a:ext cx="3124200" cy="4806950"/>
          </a:xfrm>
          <a:prstGeom prst="rect">
            <a:avLst/>
          </a:prstGeom>
          <a:solidFill>
            <a:srgbClr val="FFFFFF"/>
          </a:solidFill>
          <a:ln w="15875">
            <a:solidFill>
              <a:srgbClr val="2B6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7" name="Image 0" descr="C:\Users\Samrat S K\AppData\Local\Temp\pg/h_DataSources_2B61E0.svg">
            <a:extLst>
              <a:ext uri="{FF2B5EF4-FFF2-40B4-BE49-F238E27FC236}">
                <a16:creationId xmlns:a16="http://schemas.microsoft.com/office/drawing/2014/main" id="{A30FBE70-55F2-19E7-E797-155DB6CAA0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67800" y="939800"/>
            <a:ext cx="177800" cy="177800"/>
          </a:xfrm>
          <a:prstGeom prst="rect">
            <a:avLst/>
          </a:prstGeom>
        </p:spPr>
      </p:pic>
      <p:sp>
        <p:nvSpPr>
          <p:cNvPr id="339" name="Text 1">
            <a:extLst>
              <a:ext uri="{FF2B5EF4-FFF2-40B4-BE49-F238E27FC236}">
                <a16:creationId xmlns:a16="http://schemas.microsoft.com/office/drawing/2014/main" id="{AF457276-DE52-2552-351E-C71C19788AFB}"/>
              </a:ext>
            </a:extLst>
          </p:cNvPr>
          <p:cNvSpPr txBox="1"/>
          <p:nvPr/>
        </p:nvSpPr>
        <p:spPr>
          <a:xfrm>
            <a:off x="9321800" y="914400"/>
            <a:ext cx="261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250" dirty="0"/>
          </a:p>
        </p:txBody>
      </p:sp>
      <p:pic>
        <p:nvPicPr>
          <p:cNvPr id="341" name="Image 1" descr="C:/Users/Samrat S K/Downloads/diagrams/data icons/esa_sentinel.png">
            <a:extLst>
              <a:ext uri="{FF2B5EF4-FFF2-40B4-BE49-F238E27FC236}">
                <a16:creationId xmlns:a16="http://schemas.microsoft.com/office/drawing/2014/main" id="{644C8F9F-C82B-9C82-AEAF-82A7A522B7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6700" y="1291732"/>
            <a:ext cx="514350" cy="286735"/>
          </a:xfrm>
          <a:prstGeom prst="rect">
            <a:avLst/>
          </a:prstGeom>
        </p:spPr>
      </p:pic>
      <p:sp>
        <p:nvSpPr>
          <p:cNvPr id="343" name="Text 2">
            <a:extLst>
              <a:ext uri="{FF2B5EF4-FFF2-40B4-BE49-F238E27FC236}">
                <a16:creationId xmlns:a16="http://schemas.microsoft.com/office/drawing/2014/main" id="{48697487-ED18-F6EE-FEBD-22722F01715A}"/>
              </a:ext>
            </a:extLst>
          </p:cNvPr>
          <p:cNvSpPr txBox="1"/>
          <p:nvPr/>
        </p:nvSpPr>
        <p:spPr>
          <a:xfrm>
            <a:off x="9067800" y="1625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Imagery</a:t>
            </a:r>
            <a:endParaRPr lang="en-US" sz="650" dirty="0"/>
          </a:p>
        </p:txBody>
      </p:sp>
      <p:pic>
        <p:nvPicPr>
          <p:cNvPr id="345" name="Image 2" descr="C:/Users/Samrat S K/Downloads/diagrams/data icons/eumetsat.png">
            <a:extLst>
              <a:ext uri="{FF2B5EF4-FFF2-40B4-BE49-F238E27FC236}">
                <a16:creationId xmlns:a16="http://schemas.microsoft.com/office/drawing/2014/main" id="{7E3E8B05-A562-3E5D-1959-B21B98FE30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7681" y="1263650"/>
            <a:ext cx="456687" cy="342900"/>
          </a:xfrm>
          <a:prstGeom prst="rect">
            <a:avLst/>
          </a:prstGeom>
        </p:spPr>
      </p:pic>
      <p:sp>
        <p:nvSpPr>
          <p:cNvPr id="347" name="Text 3">
            <a:extLst>
              <a:ext uri="{FF2B5EF4-FFF2-40B4-BE49-F238E27FC236}">
                <a16:creationId xmlns:a16="http://schemas.microsoft.com/office/drawing/2014/main" id="{5B9CA374-6A42-1666-6C3D-9BC3E15236EA}"/>
              </a:ext>
            </a:extLst>
          </p:cNvPr>
          <p:cNvSpPr txBox="1"/>
          <p:nvPr/>
        </p:nvSpPr>
        <p:spPr>
          <a:xfrm>
            <a:off x="9759950" y="1625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650" dirty="0"/>
          </a:p>
        </p:txBody>
      </p:sp>
      <p:pic>
        <p:nvPicPr>
          <p:cNvPr id="349" name="Image 3" descr="C:/Users/Samrat S K/Downloads/diagrams/data icons/noaa.png">
            <a:extLst>
              <a:ext uri="{FF2B5EF4-FFF2-40B4-BE49-F238E27FC236}">
                <a16:creationId xmlns:a16="http://schemas.microsoft.com/office/drawing/2014/main" id="{778AD0D4-98A8-6D6A-AC19-2BEEBC193F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8080" y="1263650"/>
            <a:ext cx="340189" cy="342900"/>
          </a:xfrm>
          <a:prstGeom prst="rect">
            <a:avLst/>
          </a:prstGeom>
        </p:spPr>
      </p:pic>
      <p:sp>
        <p:nvSpPr>
          <p:cNvPr id="351" name="Text 4">
            <a:extLst>
              <a:ext uri="{FF2B5EF4-FFF2-40B4-BE49-F238E27FC236}">
                <a16:creationId xmlns:a16="http://schemas.microsoft.com/office/drawing/2014/main" id="{F0815B80-3D91-3DDB-3611-32021CB1BC53}"/>
              </a:ext>
            </a:extLst>
          </p:cNvPr>
          <p:cNvSpPr txBox="1"/>
          <p:nvPr/>
        </p:nvSpPr>
        <p:spPr>
          <a:xfrm>
            <a:off x="10452100" y="1625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Currents</a:t>
            </a:r>
            <a:endParaRPr lang="en-US" sz="650" dirty="0"/>
          </a:p>
        </p:txBody>
      </p:sp>
      <p:pic>
        <p:nvPicPr>
          <p:cNvPr id="353" name="Image 4" descr="C:/Users/Samrat S K/Downloads/diagrams/data icons/nasa.png">
            <a:extLst>
              <a:ext uri="{FF2B5EF4-FFF2-40B4-BE49-F238E27FC236}">
                <a16:creationId xmlns:a16="http://schemas.microsoft.com/office/drawing/2014/main" id="{E38342C8-5B52-D931-588A-370EB1644D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81603" y="1263650"/>
            <a:ext cx="417443" cy="342900"/>
          </a:xfrm>
          <a:prstGeom prst="rect">
            <a:avLst/>
          </a:prstGeom>
        </p:spPr>
      </p:pic>
      <p:sp>
        <p:nvSpPr>
          <p:cNvPr id="355" name="Text 5">
            <a:extLst>
              <a:ext uri="{FF2B5EF4-FFF2-40B4-BE49-F238E27FC236}">
                <a16:creationId xmlns:a16="http://schemas.microsoft.com/office/drawing/2014/main" id="{B356438E-11AD-D9B5-F272-07565226D7FE}"/>
              </a:ext>
            </a:extLst>
          </p:cNvPr>
          <p:cNvSpPr txBox="1"/>
          <p:nvPr/>
        </p:nvSpPr>
        <p:spPr>
          <a:xfrm>
            <a:off x="11144250" y="1625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650" dirty="0"/>
          </a:p>
        </p:txBody>
      </p:sp>
      <p:pic>
        <p:nvPicPr>
          <p:cNvPr id="357" name="Image 5" descr="C:/Users/Samrat S K/Downloads/diagrams/data icons/marinetraffic.png">
            <a:extLst>
              <a:ext uri="{FF2B5EF4-FFF2-40B4-BE49-F238E27FC236}">
                <a16:creationId xmlns:a16="http://schemas.microsoft.com/office/drawing/2014/main" id="{90B1E4FE-547F-5BDB-0A23-BAE08FA1B9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5070" y="1898650"/>
            <a:ext cx="477611" cy="342900"/>
          </a:xfrm>
          <a:prstGeom prst="rect">
            <a:avLst/>
          </a:prstGeom>
        </p:spPr>
      </p:pic>
      <p:sp>
        <p:nvSpPr>
          <p:cNvPr id="359" name="Text 6">
            <a:extLst>
              <a:ext uri="{FF2B5EF4-FFF2-40B4-BE49-F238E27FC236}">
                <a16:creationId xmlns:a16="http://schemas.microsoft.com/office/drawing/2014/main" id="{696FC037-7131-4B92-9ABD-6D13BC84933C}"/>
              </a:ext>
            </a:extLst>
          </p:cNvPr>
          <p:cNvSpPr txBox="1"/>
          <p:nvPr/>
        </p:nvSpPr>
        <p:spPr>
          <a:xfrm>
            <a:off x="9067800" y="2260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 Tracks</a:t>
            </a:r>
            <a:endParaRPr lang="en-US" sz="650" dirty="0"/>
          </a:p>
        </p:txBody>
      </p:sp>
      <p:pic>
        <p:nvPicPr>
          <p:cNvPr id="361" name="Image 6" descr="C:/Users/Samrat S K/Downloads/diagrams/data icons/copernicus.png">
            <a:extLst>
              <a:ext uri="{FF2B5EF4-FFF2-40B4-BE49-F238E27FC236}">
                <a16:creationId xmlns:a16="http://schemas.microsoft.com/office/drawing/2014/main" id="{29D80F26-794C-C0D4-6845-099550DBE5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8850" y="1961561"/>
            <a:ext cx="514350" cy="217078"/>
          </a:xfrm>
          <a:prstGeom prst="rect">
            <a:avLst/>
          </a:prstGeom>
        </p:spPr>
      </p:pic>
      <p:sp>
        <p:nvSpPr>
          <p:cNvPr id="363" name="Text 7">
            <a:extLst>
              <a:ext uri="{FF2B5EF4-FFF2-40B4-BE49-F238E27FC236}">
                <a16:creationId xmlns:a16="http://schemas.microsoft.com/office/drawing/2014/main" id="{079769D8-471A-5ABC-D1DD-CF20DFBAAA67}"/>
              </a:ext>
            </a:extLst>
          </p:cNvPr>
          <p:cNvSpPr txBox="1"/>
          <p:nvPr/>
        </p:nvSpPr>
        <p:spPr>
          <a:xfrm>
            <a:off x="9759950" y="2260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 &amp; Land</a:t>
            </a:r>
            <a:endParaRPr lang="en-US" sz="650" dirty="0"/>
          </a:p>
        </p:txBody>
      </p:sp>
      <p:pic>
        <p:nvPicPr>
          <p:cNvPr id="365" name="Image 7" descr="C:/Users/Samrat S K/Downloads/diagrams/data icons/gebco.png">
            <a:extLst>
              <a:ext uri="{FF2B5EF4-FFF2-40B4-BE49-F238E27FC236}">
                <a16:creationId xmlns:a16="http://schemas.microsoft.com/office/drawing/2014/main" id="{B7A7C7D0-6CC4-BBEA-9163-D80022E845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6725" y="1898650"/>
            <a:ext cx="342900" cy="342900"/>
          </a:xfrm>
          <a:prstGeom prst="rect">
            <a:avLst/>
          </a:prstGeom>
        </p:spPr>
      </p:pic>
      <p:sp>
        <p:nvSpPr>
          <p:cNvPr id="367" name="Text 8">
            <a:extLst>
              <a:ext uri="{FF2B5EF4-FFF2-40B4-BE49-F238E27FC236}">
                <a16:creationId xmlns:a16="http://schemas.microsoft.com/office/drawing/2014/main" id="{EEE92988-C3F9-F61F-312A-935F222693A2}"/>
              </a:ext>
            </a:extLst>
          </p:cNvPr>
          <p:cNvSpPr txBox="1"/>
          <p:nvPr/>
        </p:nvSpPr>
        <p:spPr>
          <a:xfrm>
            <a:off x="10452100" y="2260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Bathymetry</a:t>
            </a:r>
            <a:endParaRPr lang="en-US" sz="650" dirty="0"/>
          </a:p>
        </p:txBody>
      </p:sp>
      <p:pic>
        <p:nvPicPr>
          <p:cNvPr id="369" name="Image 8" descr="C:/Users/Samrat S K/Downloads/diagrams/data icons/openstreetmap.png">
            <a:extLst>
              <a:ext uri="{FF2B5EF4-FFF2-40B4-BE49-F238E27FC236}">
                <a16:creationId xmlns:a16="http://schemas.microsoft.com/office/drawing/2014/main" id="{DD80323C-AF2E-1083-711F-844395DC92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88971" y="1898650"/>
            <a:ext cx="402708" cy="342900"/>
          </a:xfrm>
          <a:prstGeom prst="rect">
            <a:avLst/>
          </a:prstGeom>
        </p:spPr>
      </p:pic>
      <p:sp>
        <p:nvSpPr>
          <p:cNvPr id="371" name="Text 9">
            <a:extLst>
              <a:ext uri="{FF2B5EF4-FFF2-40B4-BE49-F238E27FC236}">
                <a16:creationId xmlns:a16="http://schemas.microsoft.com/office/drawing/2014/main" id="{BD54410C-6547-01A2-34D5-BC4E8ED8E2CF}"/>
              </a:ext>
            </a:extLst>
          </p:cNvPr>
          <p:cNvSpPr txBox="1"/>
          <p:nvPr/>
        </p:nvSpPr>
        <p:spPr>
          <a:xfrm>
            <a:off x="11144250" y="2260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Coastline</a:t>
            </a:r>
            <a:endParaRPr lang="en-US" sz="650" dirty="0"/>
          </a:p>
        </p:txBody>
      </p:sp>
      <p:sp>
        <p:nvSpPr>
          <p:cNvPr id="373" name="Shape 10">
            <a:extLst>
              <a:ext uri="{FF2B5EF4-FFF2-40B4-BE49-F238E27FC236}">
                <a16:creationId xmlns:a16="http://schemas.microsoft.com/office/drawing/2014/main" id="{3F0396F7-4522-1519-C2E3-2916614F88B7}"/>
              </a:ext>
            </a:extLst>
          </p:cNvPr>
          <p:cNvSpPr/>
          <p:nvPr/>
        </p:nvSpPr>
        <p:spPr>
          <a:xfrm>
            <a:off x="9067800" y="2489200"/>
            <a:ext cx="2768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5" name="Image 9" descr="C:\Users\Samrat S K\AppData\Local\Temp\pg/h_TechStack_0F766E.svg">
            <a:extLst>
              <a:ext uri="{FF2B5EF4-FFF2-40B4-BE49-F238E27FC236}">
                <a16:creationId xmlns:a16="http://schemas.microsoft.com/office/drawing/2014/main" id="{A755A4D9-1C7A-A2CB-E38D-D4973CAEF0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67800" y="2727960"/>
            <a:ext cx="177800" cy="177800"/>
          </a:xfrm>
          <a:prstGeom prst="rect">
            <a:avLst/>
          </a:prstGeom>
        </p:spPr>
      </p:pic>
      <p:sp>
        <p:nvSpPr>
          <p:cNvPr id="377" name="Text 11">
            <a:extLst>
              <a:ext uri="{FF2B5EF4-FFF2-40B4-BE49-F238E27FC236}">
                <a16:creationId xmlns:a16="http://schemas.microsoft.com/office/drawing/2014/main" id="{9638E3B2-48FE-A384-2A09-549397EFC01B}"/>
              </a:ext>
            </a:extLst>
          </p:cNvPr>
          <p:cNvSpPr txBox="1"/>
          <p:nvPr/>
        </p:nvSpPr>
        <p:spPr>
          <a:xfrm>
            <a:off x="9321800" y="2702560"/>
            <a:ext cx="261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379" name="Text 12">
            <a:extLst>
              <a:ext uri="{FF2B5EF4-FFF2-40B4-BE49-F238E27FC236}">
                <a16:creationId xmlns:a16="http://schemas.microsoft.com/office/drawing/2014/main" id="{A99E59C4-5473-9EF2-4A32-0863F8852667}"/>
              </a:ext>
            </a:extLst>
          </p:cNvPr>
          <p:cNvSpPr txBox="1"/>
          <p:nvPr/>
        </p:nvSpPr>
        <p:spPr>
          <a:xfrm>
            <a:off x="9067800" y="2921000"/>
            <a:ext cx="736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00" dirty="0"/>
          </a:p>
        </p:txBody>
      </p:sp>
      <p:pic>
        <p:nvPicPr>
          <p:cNvPr id="381" name="Image 10" descr="C:/Users/Samrat S K/Downloads/diagrams/ts/tech icons/react.png">
            <a:extLst>
              <a:ext uri="{FF2B5EF4-FFF2-40B4-BE49-F238E27FC236}">
                <a16:creationId xmlns:a16="http://schemas.microsoft.com/office/drawing/2014/main" id="{F375B951-7745-E126-B0D5-0BDE93E3CD9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93300" y="3038488"/>
            <a:ext cx="330200" cy="298423"/>
          </a:xfrm>
          <a:prstGeom prst="rect">
            <a:avLst/>
          </a:prstGeom>
        </p:spPr>
      </p:pic>
      <p:sp>
        <p:nvSpPr>
          <p:cNvPr id="383" name="Text 13">
            <a:extLst>
              <a:ext uri="{FF2B5EF4-FFF2-40B4-BE49-F238E27FC236}">
                <a16:creationId xmlns:a16="http://schemas.microsoft.com/office/drawing/2014/main" id="{3F7E29B3-5E70-767C-4E2B-BEDD55EFEB4A}"/>
              </a:ext>
            </a:extLst>
          </p:cNvPr>
          <p:cNvSpPr txBox="1"/>
          <p:nvPr/>
        </p:nvSpPr>
        <p:spPr>
          <a:xfrm>
            <a:off x="9804400" y="336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600" dirty="0"/>
          </a:p>
        </p:txBody>
      </p:sp>
      <p:pic>
        <p:nvPicPr>
          <p:cNvPr id="385" name="Image 11" descr="C:/Users/Samrat S K/Downloads/diagrams/ts/tech icons/typescript.png">
            <a:extLst>
              <a:ext uri="{FF2B5EF4-FFF2-40B4-BE49-F238E27FC236}">
                <a16:creationId xmlns:a16="http://schemas.microsoft.com/office/drawing/2014/main" id="{D99EACFB-F4E8-F570-E9BE-84F4DB6A394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08417" y="3028950"/>
            <a:ext cx="315966" cy="317500"/>
          </a:xfrm>
          <a:prstGeom prst="rect">
            <a:avLst/>
          </a:prstGeom>
        </p:spPr>
      </p:pic>
      <p:sp>
        <p:nvSpPr>
          <p:cNvPr id="387" name="Text 14">
            <a:extLst>
              <a:ext uri="{FF2B5EF4-FFF2-40B4-BE49-F238E27FC236}">
                <a16:creationId xmlns:a16="http://schemas.microsoft.com/office/drawing/2014/main" id="{5DF92BDD-DFBB-793A-F270-74A12B883ACE}"/>
              </a:ext>
            </a:extLst>
          </p:cNvPr>
          <p:cNvSpPr txBox="1"/>
          <p:nvPr/>
        </p:nvSpPr>
        <p:spPr>
          <a:xfrm>
            <a:off x="10312400" y="336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600" dirty="0"/>
          </a:p>
        </p:txBody>
      </p:sp>
      <p:pic>
        <p:nvPicPr>
          <p:cNvPr id="389" name="Image 12" descr="C:/Users/Samrat S K/Downloads/diagrams/ts/tech icons/vite.png">
            <a:extLst>
              <a:ext uri="{FF2B5EF4-FFF2-40B4-BE49-F238E27FC236}">
                <a16:creationId xmlns:a16="http://schemas.microsoft.com/office/drawing/2014/main" id="{F7D883AB-9AD1-B216-7FCF-3A6A0553826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14226" y="3028950"/>
            <a:ext cx="320348" cy="317500"/>
          </a:xfrm>
          <a:prstGeom prst="rect">
            <a:avLst/>
          </a:prstGeom>
        </p:spPr>
      </p:pic>
      <p:sp>
        <p:nvSpPr>
          <p:cNvPr id="391" name="Text 15">
            <a:extLst>
              <a:ext uri="{FF2B5EF4-FFF2-40B4-BE49-F238E27FC236}">
                <a16:creationId xmlns:a16="http://schemas.microsoft.com/office/drawing/2014/main" id="{2582BA57-A84B-87E7-D4F7-D86F9D81E711}"/>
              </a:ext>
            </a:extLst>
          </p:cNvPr>
          <p:cNvSpPr txBox="1"/>
          <p:nvPr/>
        </p:nvSpPr>
        <p:spPr>
          <a:xfrm>
            <a:off x="10820400" y="336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600" dirty="0"/>
          </a:p>
        </p:txBody>
      </p:sp>
      <p:pic>
        <p:nvPicPr>
          <p:cNvPr id="393" name="Image 13" descr="C:/Users/Samrat S K/Downloads/diagrams/ts/tech icons/zustand.png">
            <a:extLst>
              <a:ext uri="{FF2B5EF4-FFF2-40B4-BE49-F238E27FC236}">
                <a16:creationId xmlns:a16="http://schemas.microsoft.com/office/drawing/2014/main" id="{52725BA9-00E3-5BB5-EDE1-E6F0705DC13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17797" y="3028950"/>
            <a:ext cx="329205" cy="317500"/>
          </a:xfrm>
          <a:prstGeom prst="rect">
            <a:avLst/>
          </a:prstGeom>
        </p:spPr>
      </p:pic>
      <p:sp>
        <p:nvSpPr>
          <p:cNvPr id="395" name="Text 16">
            <a:extLst>
              <a:ext uri="{FF2B5EF4-FFF2-40B4-BE49-F238E27FC236}">
                <a16:creationId xmlns:a16="http://schemas.microsoft.com/office/drawing/2014/main" id="{90119E73-D500-6764-04AF-0A219B96D197}"/>
              </a:ext>
            </a:extLst>
          </p:cNvPr>
          <p:cNvSpPr txBox="1"/>
          <p:nvPr/>
        </p:nvSpPr>
        <p:spPr>
          <a:xfrm>
            <a:off x="11328400" y="336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600" dirty="0"/>
          </a:p>
        </p:txBody>
      </p:sp>
      <p:sp>
        <p:nvSpPr>
          <p:cNvPr id="397" name="Shape 17">
            <a:extLst>
              <a:ext uri="{FF2B5EF4-FFF2-40B4-BE49-F238E27FC236}">
                <a16:creationId xmlns:a16="http://schemas.microsoft.com/office/drawing/2014/main" id="{81A2605E-C953-ACB5-18DE-0E63DC8F1F6A}"/>
              </a:ext>
            </a:extLst>
          </p:cNvPr>
          <p:cNvSpPr/>
          <p:nvPr/>
        </p:nvSpPr>
        <p:spPr>
          <a:xfrm>
            <a:off x="9067800" y="3556000"/>
            <a:ext cx="2768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9" name="Text 18">
            <a:extLst>
              <a:ext uri="{FF2B5EF4-FFF2-40B4-BE49-F238E27FC236}">
                <a16:creationId xmlns:a16="http://schemas.microsoft.com/office/drawing/2014/main" id="{D02286E3-5B9A-5D4E-6D5A-CCCB458F885C}"/>
              </a:ext>
            </a:extLst>
          </p:cNvPr>
          <p:cNvSpPr txBox="1"/>
          <p:nvPr/>
        </p:nvSpPr>
        <p:spPr>
          <a:xfrm>
            <a:off x="9067800" y="3556000"/>
            <a:ext cx="736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</a:t>
            </a:r>
            <a:endParaRPr lang="en-US" sz="800" dirty="0"/>
          </a:p>
        </p:txBody>
      </p:sp>
      <p:pic>
        <p:nvPicPr>
          <p:cNvPr id="401" name="Image 14" descr="C:/Users/Samrat S K/Downloads/diagrams/ts/tech icons/cesium.png">
            <a:extLst>
              <a:ext uri="{FF2B5EF4-FFF2-40B4-BE49-F238E27FC236}">
                <a16:creationId xmlns:a16="http://schemas.microsoft.com/office/drawing/2014/main" id="{3E139401-7F2C-9337-E03B-0F347D1D93C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99650" y="3663950"/>
            <a:ext cx="317500" cy="317500"/>
          </a:xfrm>
          <a:prstGeom prst="rect">
            <a:avLst/>
          </a:prstGeom>
        </p:spPr>
      </p:pic>
      <p:sp>
        <p:nvSpPr>
          <p:cNvPr id="403" name="Text 19">
            <a:extLst>
              <a:ext uri="{FF2B5EF4-FFF2-40B4-BE49-F238E27FC236}">
                <a16:creationId xmlns:a16="http://schemas.microsoft.com/office/drawing/2014/main" id="{F16225EA-C45E-310F-23AF-47F7F9C22D7B}"/>
              </a:ext>
            </a:extLst>
          </p:cNvPr>
          <p:cNvSpPr txBox="1"/>
          <p:nvPr/>
        </p:nvSpPr>
        <p:spPr>
          <a:xfrm>
            <a:off x="9804400" y="400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CesiumJS</a:t>
            </a:r>
            <a:endParaRPr lang="en-US" sz="600" dirty="0"/>
          </a:p>
        </p:txBody>
      </p:sp>
      <p:pic>
        <p:nvPicPr>
          <p:cNvPr id="405" name="Image 15" descr="C:/Users/Samrat S K/Downloads/diagrams/ts/tech icons/postgis.png">
            <a:extLst>
              <a:ext uri="{FF2B5EF4-FFF2-40B4-BE49-F238E27FC236}">
                <a16:creationId xmlns:a16="http://schemas.microsoft.com/office/drawing/2014/main" id="{EF7B6D59-6879-D76A-BC9D-CD0223C0B4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01300" y="3664060"/>
            <a:ext cx="330200" cy="317279"/>
          </a:xfrm>
          <a:prstGeom prst="rect">
            <a:avLst/>
          </a:prstGeom>
        </p:spPr>
      </p:pic>
      <p:sp>
        <p:nvSpPr>
          <p:cNvPr id="407" name="Text 20">
            <a:extLst>
              <a:ext uri="{FF2B5EF4-FFF2-40B4-BE49-F238E27FC236}">
                <a16:creationId xmlns:a16="http://schemas.microsoft.com/office/drawing/2014/main" id="{53C84B83-E286-A82B-8F19-D80894D71107}"/>
              </a:ext>
            </a:extLst>
          </p:cNvPr>
          <p:cNvSpPr txBox="1"/>
          <p:nvPr/>
        </p:nvSpPr>
        <p:spPr>
          <a:xfrm>
            <a:off x="10312400" y="400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</a:t>
            </a:r>
            <a:endParaRPr lang="en-US" sz="600" dirty="0"/>
          </a:p>
        </p:txBody>
      </p:sp>
      <p:pic>
        <p:nvPicPr>
          <p:cNvPr id="409" name="Image 16" descr="C:/Users/Samrat S K/Downloads/diagrams/ts/tech icons/gdal.png">
            <a:extLst>
              <a:ext uri="{FF2B5EF4-FFF2-40B4-BE49-F238E27FC236}">
                <a16:creationId xmlns:a16="http://schemas.microsoft.com/office/drawing/2014/main" id="{2CB434D4-96E2-A766-E061-EE4FEEF6851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17043" y="3663950"/>
            <a:ext cx="314715" cy="317500"/>
          </a:xfrm>
          <a:prstGeom prst="rect">
            <a:avLst/>
          </a:prstGeom>
        </p:spPr>
      </p:pic>
      <p:sp>
        <p:nvSpPr>
          <p:cNvPr id="411" name="Text 21">
            <a:extLst>
              <a:ext uri="{FF2B5EF4-FFF2-40B4-BE49-F238E27FC236}">
                <a16:creationId xmlns:a16="http://schemas.microsoft.com/office/drawing/2014/main" id="{7AAAEA0F-692D-BAC9-A57E-B456C6E9C3BE}"/>
              </a:ext>
            </a:extLst>
          </p:cNvPr>
          <p:cNvSpPr txBox="1"/>
          <p:nvPr/>
        </p:nvSpPr>
        <p:spPr>
          <a:xfrm>
            <a:off x="10820400" y="400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GDAL</a:t>
            </a:r>
            <a:endParaRPr lang="en-US" sz="600" dirty="0"/>
          </a:p>
        </p:txBody>
      </p:sp>
      <p:pic>
        <p:nvPicPr>
          <p:cNvPr id="413" name="Image 17" descr="C:/Users/Samrat S K/Downloads/diagrams/ts/tech icons/geopandas.png">
            <a:extLst>
              <a:ext uri="{FF2B5EF4-FFF2-40B4-BE49-F238E27FC236}">
                <a16:creationId xmlns:a16="http://schemas.microsoft.com/office/drawing/2014/main" id="{E570366A-BF2E-783C-B700-53A78E04A6F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432721" y="3663950"/>
            <a:ext cx="299357" cy="317500"/>
          </a:xfrm>
          <a:prstGeom prst="rect">
            <a:avLst/>
          </a:prstGeom>
        </p:spPr>
      </p:pic>
      <p:sp>
        <p:nvSpPr>
          <p:cNvPr id="415" name="Text 22">
            <a:extLst>
              <a:ext uri="{FF2B5EF4-FFF2-40B4-BE49-F238E27FC236}">
                <a16:creationId xmlns:a16="http://schemas.microsoft.com/office/drawing/2014/main" id="{25C2E499-5DD1-784C-609F-FD0827F79A71}"/>
              </a:ext>
            </a:extLst>
          </p:cNvPr>
          <p:cNvSpPr txBox="1"/>
          <p:nvPr/>
        </p:nvSpPr>
        <p:spPr>
          <a:xfrm>
            <a:off x="11328400" y="400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GeoPandas</a:t>
            </a:r>
            <a:endParaRPr lang="en-US" sz="600" dirty="0"/>
          </a:p>
        </p:txBody>
      </p:sp>
      <p:sp>
        <p:nvSpPr>
          <p:cNvPr id="417" name="Shape 23">
            <a:extLst>
              <a:ext uri="{FF2B5EF4-FFF2-40B4-BE49-F238E27FC236}">
                <a16:creationId xmlns:a16="http://schemas.microsoft.com/office/drawing/2014/main" id="{50CCB03E-7C52-016D-A53B-07A5DBBFBA6A}"/>
              </a:ext>
            </a:extLst>
          </p:cNvPr>
          <p:cNvSpPr/>
          <p:nvPr/>
        </p:nvSpPr>
        <p:spPr>
          <a:xfrm>
            <a:off x="9067800" y="4191000"/>
            <a:ext cx="2768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9" name="Text 24">
            <a:extLst>
              <a:ext uri="{FF2B5EF4-FFF2-40B4-BE49-F238E27FC236}">
                <a16:creationId xmlns:a16="http://schemas.microsoft.com/office/drawing/2014/main" id="{F69A9066-3D4E-9518-B305-92B2664CA92D}"/>
              </a:ext>
            </a:extLst>
          </p:cNvPr>
          <p:cNvSpPr txBox="1"/>
          <p:nvPr/>
        </p:nvSpPr>
        <p:spPr>
          <a:xfrm>
            <a:off x="9067800" y="4191000"/>
            <a:ext cx="736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Backend</a:t>
            </a:r>
            <a:endParaRPr lang="en-US" sz="800" dirty="0"/>
          </a:p>
        </p:txBody>
      </p:sp>
      <p:pic>
        <p:nvPicPr>
          <p:cNvPr id="421" name="Image 18" descr="C:/Users/Samrat S K/Downloads/diagrams/ts/tech icons/python.png">
            <a:extLst>
              <a:ext uri="{FF2B5EF4-FFF2-40B4-BE49-F238E27FC236}">
                <a16:creationId xmlns:a16="http://schemas.microsoft.com/office/drawing/2014/main" id="{2DCC011D-3095-06F6-CD23-B55B8C92AF2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93300" y="4300244"/>
            <a:ext cx="330200" cy="314913"/>
          </a:xfrm>
          <a:prstGeom prst="rect">
            <a:avLst/>
          </a:prstGeom>
        </p:spPr>
      </p:pic>
      <p:sp>
        <p:nvSpPr>
          <p:cNvPr id="423" name="Text 25">
            <a:extLst>
              <a:ext uri="{FF2B5EF4-FFF2-40B4-BE49-F238E27FC236}">
                <a16:creationId xmlns:a16="http://schemas.microsoft.com/office/drawing/2014/main" id="{01AFAF52-B177-A54E-43B5-238201B6A816}"/>
              </a:ext>
            </a:extLst>
          </p:cNvPr>
          <p:cNvSpPr txBox="1"/>
          <p:nvPr/>
        </p:nvSpPr>
        <p:spPr>
          <a:xfrm>
            <a:off x="9804400" y="463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600" dirty="0"/>
          </a:p>
        </p:txBody>
      </p:sp>
      <p:pic>
        <p:nvPicPr>
          <p:cNvPr id="425" name="Image 19" descr="C:/Users/Samrat S K/Downloads/diagrams/ts/tech icons/pytorch.png">
            <a:extLst>
              <a:ext uri="{FF2B5EF4-FFF2-40B4-BE49-F238E27FC236}">
                <a16:creationId xmlns:a16="http://schemas.microsoft.com/office/drawing/2014/main" id="{AD8414A5-D160-445C-B8FC-61997FBA72B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28869" y="4298950"/>
            <a:ext cx="275062" cy="317500"/>
          </a:xfrm>
          <a:prstGeom prst="rect">
            <a:avLst/>
          </a:prstGeom>
        </p:spPr>
      </p:pic>
      <p:sp>
        <p:nvSpPr>
          <p:cNvPr id="427" name="Text 26">
            <a:extLst>
              <a:ext uri="{FF2B5EF4-FFF2-40B4-BE49-F238E27FC236}">
                <a16:creationId xmlns:a16="http://schemas.microsoft.com/office/drawing/2014/main" id="{8AD1E26C-8F18-DEF5-6BC0-A12929C9819E}"/>
              </a:ext>
            </a:extLst>
          </p:cNvPr>
          <p:cNvSpPr txBox="1"/>
          <p:nvPr/>
        </p:nvSpPr>
        <p:spPr>
          <a:xfrm>
            <a:off x="10312400" y="463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600" dirty="0"/>
          </a:p>
        </p:txBody>
      </p:sp>
      <p:pic>
        <p:nvPicPr>
          <p:cNvPr id="429" name="Image 20" descr="C:/Users/Samrat S K/Downloads/diagrams/ts/tech icons/fastapi.png">
            <a:extLst>
              <a:ext uri="{FF2B5EF4-FFF2-40B4-BE49-F238E27FC236}">
                <a16:creationId xmlns:a16="http://schemas.microsoft.com/office/drawing/2014/main" id="{60D09C2B-D23F-AFA5-3027-924600A6AFA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15650" y="4298950"/>
            <a:ext cx="317500" cy="317500"/>
          </a:xfrm>
          <a:prstGeom prst="rect">
            <a:avLst/>
          </a:prstGeom>
        </p:spPr>
      </p:pic>
      <p:sp>
        <p:nvSpPr>
          <p:cNvPr id="431" name="Text 27">
            <a:extLst>
              <a:ext uri="{FF2B5EF4-FFF2-40B4-BE49-F238E27FC236}">
                <a16:creationId xmlns:a16="http://schemas.microsoft.com/office/drawing/2014/main" id="{9DAB0E5A-93E9-D1D2-1180-6E7006ED5F2D}"/>
              </a:ext>
            </a:extLst>
          </p:cNvPr>
          <p:cNvSpPr txBox="1"/>
          <p:nvPr/>
        </p:nvSpPr>
        <p:spPr>
          <a:xfrm>
            <a:off x="10820400" y="463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600" dirty="0"/>
          </a:p>
        </p:txBody>
      </p:sp>
      <p:pic>
        <p:nvPicPr>
          <p:cNvPr id="433" name="Image 21" descr="C:/Users/Samrat S K/Downloads/diagrams/ts/tech icons/nodejs.png">
            <a:extLst>
              <a:ext uri="{FF2B5EF4-FFF2-40B4-BE49-F238E27FC236}">
                <a16:creationId xmlns:a16="http://schemas.microsoft.com/office/drawing/2014/main" id="{DDA59EF4-4AC0-1C9E-2CC8-A177499A10C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440072" y="4298950"/>
            <a:ext cx="284655" cy="317500"/>
          </a:xfrm>
          <a:prstGeom prst="rect">
            <a:avLst/>
          </a:prstGeom>
        </p:spPr>
      </p:pic>
      <p:sp>
        <p:nvSpPr>
          <p:cNvPr id="435" name="Text 28">
            <a:extLst>
              <a:ext uri="{FF2B5EF4-FFF2-40B4-BE49-F238E27FC236}">
                <a16:creationId xmlns:a16="http://schemas.microsoft.com/office/drawing/2014/main" id="{5F1D831C-427E-B3FF-2100-7308A2826AD2}"/>
              </a:ext>
            </a:extLst>
          </p:cNvPr>
          <p:cNvSpPr txBox="1"/>
          <p:nvPr/>
        </p:nvSpPr>
        <p:spPr>
          <a:xfrm>
            <a:off x="11328400" y="463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600" dirty="0"/>
          </a:p>
        </p:txBody>
      </p:sp>
      <p:sp>
        <p:nvSpPr>
          <p:cNvPr id="437" name="Shape 29">
            <a:extLst>
              <a:ext uri="{FF2B5EF4-FFF2-40B4-BE49-F238E27FC236}">
                <a16:creationId xmlns:a16="http://schemas.microsoft.com/office/drawing/2014/main" id="{09D3AB37-E95D-72FE-894C-1BFB70BF8B2D}"/>
              </a:ext>
            </a:extLst>
          </p:cNvPr>
          <p:cNvSpPr/>
          <p:nvPr/>
        </p:nvSpPr>
        <p:spPr>
          <a:xfrm>
            <a:off x="9067800" y="4826000"/>
            <a:ext cx="2768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9" name="Text 30">
            <a:extLst>
              <a:ext uri="{FF2B5EF4-FFF2-40B4-BE49-F238E27FC236}">
                <a16:creationId xmlns:a16="http://schemas.microsoft.com/office/drawing/2014/main" id="{61F77EA5-A06A-D533-FDC5-ADCE55C016D7}"/>
              </a:ext>
            </a:extLst>
          </p:cNvPr>
          <p:cNvSpPr txBox="1"/>
          <p:nvPr/>
        </p:nvSpPr>
        <p:spPr>
          <a:xfrm>
            <a:off x="9067800" y="4826000"/>
            <a:ext cx="736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Storage</a:t>
            </a:r>
            <a:endParaRPr lang="en-US" sz="800" dirty="0"/>
          </a:p>
        </p:txBody>
      </p:sp>
      <p:pic>
        <p:nvPicPr>
          <p:cNvPr id="441" name="Image 22" descr="C:/Users/Samrat S K/Downloads/diagrams/ts/tech icons/postgresql.png">
            <a:extLst>
              <a:ext uri="{FF2B5EF4-FFF2-40B4-BE49-F238E27FC236}">
                <a16:creationId xmlns:a16="http://schemas.microsoft.com/office/drawing/2014/main" id="{153B0411-63DC-0FFC-20CE-51E6C467B4C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95641" y="4933950"/>
            <a:ext cx="325518" cy="317500"/>
          </a:xfrm>
          <a:prstGeom prst="rect">
            <a:avLst/>
          </a:prstGeom>
        </p:spPr>
      </p:pic>
      <p:sp>
        <p:nvSpPr>
          <p:cNvPr id="443" name="Text 31">
            <a:extLst>
              <a:ext uri="{FF2B5EF4-FFF2-40B4-BE49-F238E27FC236}">
                <a16:creationId xmlns:a16="http://schemas.microsoft.com/office/drawing/2014/main" id="{D64FDBA2-1608-4FF1-4CBE-D3C7A14C98B4}"/>
              </a:ext>
            </a:extLst>
          </p:cNvPr>
          <p:cNvSpPr txBox="1"/>
          <p:nvPr/>
        </p:nvSpPr>
        <p:spPr>
          <a:xfrm>
            <a:off x="9804400" y="527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600" dirty="0"/>
          </a:p>
        </p:txBody>
      </p:sp>
      <p:pic>
        <p:nvPicPr>
          <p:cNvPr id="445" name="Image 23" descr="C:/Users/Samrat S K/Downloads/diagrams/ts/tech icons/numpy.png">
            <a:extLst>
              <a:ext uri="{FF2B5EF4-FFF2-40B4-BE49-F238E27FC236}">
                <a16:creationId xmlns:a16="http://schemas.microsoft.com/office/drawing/2014/main" id="{2AA3E4AE-DB31-738F-0A69-67A23272A50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417320" y="4933950"/>
            <a:ext cx="298160" cy="317500"/>
          </a:xfrm>
          <a:prstGeom prst="rect">
            <a:avLst/>
          </a:prstGeom>
        </p:spPr>
      </p:pic>
      <p:sp>
        <p:nvSpPr>
          <p:cNvPr id="447" name="Text 32">
            <a:extLst>
              <a:ext uri="{FF2B5EF4-FFF2-40B4-BE49-F238E27FC236}">
                <a16:creationId xmlns:a16="http://schemas.microsoft.com/office/drawing/2014/main" id="{A0E2B5CB-C7B9-3963-C9A2-7A39D6586D3A}"/>
              </a:ext>
            </a:extLst>
          </p:cNvPr>
          <p:cNvSpPr txBox="1"/>
          <p:nvPr/>
        </p:nvSpPr>
        <p:spPr>
          <a:xfrm>
            <a:off x="10312400" y="527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600" dirty="0"/>
          </a:p>
        </p:txBody>
      </p:sp>
      <p:pic>
        <p:nvPicPr>
          <p:cNvPr id="449" name="Image 24" descr="C:/Users/Samrat S K/Downloads/diagrams/ts/tech icons/pandas.png">
            <a:extLst>
              <a:ext uri="{FF2B5EF4-FFF2-40B4-BE49-F238E27FC236}">
                <a16:creationId xmlns:a16="http://schemas.microsoft.com/office/drawing/2014/main" id="{E43AB63D-6D96-62C2-9D94-8C7D10BF72F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969124" y="4933950"/>
            <a:ext cx="210553" cy="317500"/>
          </a:xfrm>
          <a:prstGeom prst="rect">
            <a:avLst/>
          </a:prstGeom>
        </p:spPr>
      </p:pic>
      <p:sp>
        <p:nvSpPr>
          <p:cNvPr id="451" name="Text 33">
            <a:extLst>
              <a:ext uri="{FF2B5EF4-FFF2-40B4-BE49-F238E27FC236}">
                <a16:creationId xmlns:a16="http://schemas.microsoft.com/office/drawing/2014/main" id="{88A657E1-8835-2D05-8F52-EAB8B6239989}"/>
              </a:ext>
            </a:extLst>
          </p:cNvPr>
          <p:cNvSpPr txBox="1"/>
          <p:nvPr/>
        </p:nvSpPr>
        <p:spPr>
          <a:xfrm>
            <a:off x="10820400" y="527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600" dirty="0"/>
          </a:p>
        </p:txBody>
      </p:sp>
      <p:pic>
        <p:nvPicPr>
          <p:cNvPr id="453" name="Image 25" descr="C:/Users/Samrat S K/Downloads/diagrams/ts/tech icons/zarr.png">
            <a:extLst>
              <a:ext uri="{FF2B5EF4-FFF2-40B4-BE49-F238E27FC236}">
                <a16:creationId xmlns:a16="http://schemas.microsoft.com/office/drawing/2014/main" id="{960C4E7B-7C2E-07B7-9A4B-EEDF4327A29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417300" y="4938225"/>
            <a:ext cx="330200" cy="308950"/>
          </a:xfrm>
          <a:prstGeom prst="rect">
            <a:avLst/>
          </a:prstGeom>
        </p:spPr>
      </p:pic>
      <p:sp>
        <p:nvSpPr>
          <p:cNvPr id="455" name="Text 34">
            <a:extLst>
              <a:ext uri="{FF2B5EF4-FFF2-40B4-BE49-F238E27FC236}">
                <a16:creationId xmlns:a16="http://schemas.microsoft.com/office/drawing/2014/main" id="{1BE23FA9-C703-980B-65C6-ABAC15AED191}"/>
              </a:ext>
            </a:extLst>
          </p:cNvPr>
          <p:cNvSpPr txBox="1"/>
          <p:nvPr/>
        </p:nvSpPr>
        <p:spPr>
          <a:xfrm>
            <a:off x="11328400" y="527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Zarr</a:t>
            </a:r>
            <a:endParaRPr lang="en-US" sz="600" dirty="0"/>
          </a:p>
        </p:txBody>
      </p:sp>
      <p:sp>
        <p:nvSpPr>
          <p:cNvPr id="457" name="Shape 0">
            <a:extLst>
              <a:ext uri="{FF2B5EF4-FFF2-40B4-BE49-F238E27FC236}">
                <a16:creationId xmlns:a16="http://schemas.microsoft.com/office/drawing/2014/main" id="{48B35E67-622E-45DE-9A82-59DA7EE05CB5}"/>
              </a:ext>
            </a:extLst>
          </p:cNvPr>
          <p:cNvSpPr/>
          <p:nvPr/>
        </p:nvSpPr>
        <p:spPr>
          <a:xfrm>
            <a:off x="171832" y="5676310"/>
            <a:ext cx="11842367" cy="864169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B96B47BF-EDE2-3EAF-A888-4C1D32F75067}"/>
              </a:ext>
            </a:extLst>
          </p:cNvPr>
          <p:cNvSpPr txBox="1"/>
          <p:nvPr/>
        </p:nvSpPr>
        <p:spPr>
          <a:xfrm>
            <a:off x="482600" y="5773991"/>
            <a:ext cx="2000250" cy="2923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13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Deployed Prototype</a:t>
            </a:r>
          </a:p>
        </p:txBody>
      </p:sp>
      <p:pic>
        <p:nvPicPr>
          <p:cNvPr id="461" name="Image 26" descr="C:\Users\Samrat S K\AppData\Local\Temp\pg/b_rank_2F5597.svg">
            <a:extLst>
              <a:ext uri="{FF2B5EF4-FFF2-40B4-BE49-F238E27FC236}">
                <a16:creationId xmlns:a16="http://schemas.microsoft.com/office/drawing/2014/main" id="{7D637705-BA57-C9B7-8267-FF5EFD6993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30200" y="5831285"/>
            <a:ext cx="177800" cy="177800"/>
          </a:xfrm>
          <a:prstGeom prst="rect">
            <a:avLst/>
          </a:prstGeom>
        </p:spPr>
      </p:pic>
      <p:sp>
        <p:nvSpPr>
          <p:cNvPr id="462" name="TextBox 461">
            <a:extLst>
              <a:ext uri="{FF2B5EF4-FFF2-40B4-BE49-F238E27FC236}">
                <a16:creationId xmlns:a16="http://schemas.microsoft.com/office/drawing/2014/main" id="{9581D786-3503-30C2-109F-648D8B87A101}"/>
              </a:ext>
            </a:extLst>
          </p:cNvPr>
          <p:cNvSpPr txBox="1"/>
          <p:nvPr/>
        </p:nvSpPr>
        <p:spPr>
          <a:xfrm>
            <a:off x="243840" y="6010688"/>
            <a:ext cx="175768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10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 3D analysis of </a:t>
            </a:r>
          </a:p>
          <a:p>
            <a:r>
              <a:rPr lang="en-IN" sz="10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SAR, ocean &amp; AIS data</a:t>
            </a:r>
          </a:p>
        </p:txBody>
      </p:sp>
      <p:sp>
        <p:nvSpPr>
          <p:cNvPr id="466" name="Shape 38">
            <a:extLst>
              <a:ext uri="{FF2B5EF4-FFF2-40B4-BE49-F238E27FC236}">
                <a16:creationId xmlns:a16="http://schemas.microsoft.com/office/drawing/2014/main" id="{92DE0636-074A-0D35-54AD-DD5DDE2D85B3}"/>
              </a:ext>
            </a:extLst>
          </p:cNvPr>
          <p:cNvSpPr/>
          <p:nvPr/>
        </p:nvSpPr>
        <p:spPr>
          <a:xfrm>
            <a:off x="2328335" y="5854394"/>
            <a:ext cx="0" cy="508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8" name="Image 27" descr="C:\Users\Samrat S K\AppData\Local\Temp\pg/s_eye_E11D48.svg">
            <a:extLst>
              <a:ext uri="{FF2B5EF4-FFF2-40B4-BE49-F238E27FC236}">
                <a16:creationId xmlns:a16="http://schemas.microsoft.com/office/drawing/2014/main" id="{57D49986-A916-78B2-2A7A-D88187A277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464012" y="5811242"/>
            <a:ext cx="228600" cy="228600"/>
          </a:xfrm>
          <a:prstGeom prst="rect">
            <a:avLst/>
          </a:prstGeom>
        </p:spPr>
      </p:pic>
      <p:sp>
        <p:nvSpPr>
          <p:cNvPr id="470" name="Text 39">
            <a:extLst>
              <a:ext uri="{FF2B5EF4-FFF2-40B4-BE49-F238E27FC236}">
                <a16:creationId xmlns:a16="http://schemas.microsoft.com/office/drawing/2014/main" id="{1B4662C9-F5FB-1344-9819-8006F0FA35EE}"/>
              </a:ext>
            </a:extLst>
          </p:cNvPr>
          <p:cNvSpPr txBox="1"/>
          <p:nvPr/>
        </p:nvSpPr>
        <p:spPr>
          <a:xfrm>
            <a:off x="2747435" y="5811242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13,739</a:t>
            </a:r>
            <a:endParaRPr lang="en-US" sz="1600" dirty="0"/>
          </a:p>
        </p:txBody>
      </p:sp>
      <p:sp>
        <p:nvSpPr>
          <p:cNvPr id="474" name="Shape 41">
            <a:extLst>
              <a:ext uri="{FF2B5EF4-FFF2-40B4-BE49-F238E27FC236}">
                <a16:creationId xmlns:a16="http://schemas.microsoft.com/office/drawing/2014/main" id="{286F34F7-C3CD-CCB3-873B-67F31365BA66}"/>
              </a:ext>
            </a:extLst>
          </p:cNvPr>
          <p:cNvSpPr/>
          <p:nvPr/>
        </p:nvSpPr>
        <p:spPr>
          <a:xfrm>
            <a:off x="3699935" y="5854394"/>
            <a:ext cx="0" cy="508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76" name="Image 28" descr="C:\Users\Samrat S K\AppData\Local\Temp\pg/s_map_0D9488.svg">
            <a:extLst>
              <a:ext uri="{FF2B5EF4-FFF2-40B4-BE49-F238E27FC236}">
                <a16:creationId xmlns:a16="http://schemas.microsoft.com/office/drawing/2014/main" id="{6F3B5E51-2E59-1961-8236-4EE3DD859C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795397" y="5807075"/>
            <a:ext cx="228600" cy="228600"/>
          </a:xfrm>
          <a:prstGeom prst="rect">
            <a:avLst/>
          </a:prstGeom>
        </p:spPr>
      </p:pic>
      <p:sp>
        <p:nvSpPr>
          <p:cNvPr id="478" name="Text 42">
            <a:extLst>
              <a:ext uri="{FF2B5EF4-FFF2-40B4-BE49-F238E27FC236}">
                <a16:creationId xmlns:a16="http://schemas.microsoft.com/office/drawing/2014/main" id="{5A5C8C29-AA03-BC17-B98A-A2D2C7C9D8E1}"/>
              </a:ext>
            </a:extLst>
          </p:cNvPr>
          <p:cNvSpPr txBox="1"/>
          <p:nvPr/>
        </p:nvSpPr>
        <p:spPr>
          <a:xfrm>
            <a:off x="4093635" y="5816600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18,770 km²</a:t>
            </a:r>
            <a:endParaRPr lang="en-US" sz="1600" dirty="0"/>
          </a:p>
        </p:txBody>
      </p:sp>
      <p:sp>
        <p:nvSpPr>
          <p:cNvPr id="480" name="Text 43">
            <a:extLst>
              <a:ext uri="{FF2B5EF4-FFF2-40B4-BE49-F238E27FC236}">
                <a16:creationId xmlns:a16="http://schemas.microsoft.com/office/drawing/2014/main" id="{C067A3DB-89AB-AFD9-689F-FC5670CC4C0B}"/>
              </a:ext>
            </a:extLst>
          </p:cNvPr>
          <p:cNvSpPr txBox="1"/>
          <p:nvPr/>
        </p:nvSpPr>
        <p:spPr>
          <a:xfrm>
            <a:off x="4093635" y="6057900"/>
            <a:ext cx="95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Slick area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</a:t>
            </a:r>
            <a:endParaRPr lang="en-US" sz="700" dirty="0"/>
          </a:p>
        </p:txBody>
      </p:sp>
      <p:sp>
        <p:nvSpPr>
          <p:cNvPr id="482" name="Shape 44">
            <a:extLst>
              <a:ext uri="{FF2B5EF4-FFF2-40B4-BE49-F238E27FC236}">
                <a16:creationId xmlns:a16="http://schemas.microsoft.com/office/drawing/2014/main" id="{127F9BEB-0361-697D-9C01-42F5185B0BF3}"/>
              </a:ext>
            </a:extLst>
          </p:cNvPr>
          <p:cNvSpPr/>
          <p:nvPr/>
        </p:nvSpPr>
        <p:spPr>
          <a:xfrm>
            <a:off x="5071535" y="5854394"/>
            <a:ext cx="0" cy="508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4" name="Image 29" descr="C:\Users\Samrat S K\AppData\Local\Temp\pg/s_ship_D97706.svg">
            <a:extLst>
              <a:ext uri="{FF2B5EF4-FFF2-40B4-BE49-F238E27FC236}">
                <a16:creationId xmlns:a16="http://schemas.microsoft.com/office/drawing/2014/main" id="{366F431A-D62A-1319-0F92-1C854D6129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173135" y="5969000"/>
            <a:ext cx="228600" cy="228600"/>
          </a:xfrm>
          <a:prstGeom prst="rect">
            <a:avLst/>
          </a:prstGeom>
        </p:spPr>
      </p:pic>
      <p:sp>
        <p:nvSpPr>
          <p:cNvPr id="486" name="Text 45">
            <a:extLst>
              <a:ext uri="{FF2B5EF4-FFF2-40B4-BE49-F238E27FC236}">
                <a16:creationId xmlns:a16="http://schemas.microsoft.com/office/drawing/2014/main" id="{759C22BA-9249-37EF-6003-8AE701DECF02}"/>
              </a:ext>
            </a:extLst>
          </p:cNvPr>
          <p:cNvSpPr txBox="1"/>
          <p:nvPr/>
        </p:nvSpPr>
        <p:spPr>
          <a:xfrm>
            <a:off x="5465235" y="5816600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643</a:t>
            </a:r>
            <a:endParaRPr lang="en-US" sz="1600" dirty="0"/>
          </a:p>
        </p:txBody>
      </p:sp>
      <p:sp>
        <p:nvSpPr>
          <p:cNvPr id="488" name="Text 46">
            <a:extLst>
              <a:ext uri="{FF2B5EF4-FFF2-40B4-BE49-F238E27FC236}">
                <a16:creationId xmlns:a16="http://schemas.microsoft.com/office/drawing/2014/main" id="{03FB3236-193A-0D26-8B7A-42525873E250}"/>
              </a:ext>
            </a:extLst>
          </p:cNvPr>
          <p:cNvSpPr txBox="1"/>
          <p:nvPr/>
        </p:nvSpPr>
        <p:spPr>
          <a:xfrm>
            <a:off x="5465235" y="6057900"/>
            <a:ext cx="95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 vessels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screened</a:t>
            </a:r>
            <a:endParaRPr lang="en-US" sz="700" dirty="0"/>
          </a:p>
        </p:txBody>
      </p:sp>
      <p:sp>
        <p:nvSpPr>
          <p:cNvPr id="490" name="Shape 47">
            <a:extLst>
              <a:ext uri="{FF2B5EF4-FFF2-40B4-BE49-F238E27FC236}">
                <a16:creationId xmlns:a16="http://schemas.microsoft.com/office/drawing/2014/main" id="{C3EFC2CE-AA5A-2AA7-D1EB-7BE6F2384246}"/>
              </a:ext>
            </a:extLst>
          </p:cNvPr>
          <p:cNvSpPr/>
          <p:nvPr/>
        </p:nvSpPr>
        <p:spPr>
          <a:xfrm>
            <a:off x="6443135" y="5854394"/>
            <a:ext cx="0" cy="508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2" name="Image 30" descr="C:\Users\Samrat S K\AppData\Local\Temp\pg/s_sat_7C3AED.svg">
            <a:extLst>
              <a:ext uri="{FF2B5EF4-FFF2-40B4-BE49-F238E27FC236}">
                <a16:creationId xmlns:a16="http://schemas.microsoft.com/office/drawing/2014/main" id="{1DA1AA8D-520F-1EA2-8E2E-3C4C12E4E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544735" y="5969000"/>
            <a:ext cx="228600" cy="228600"/>
          </a:xfrm>
          <a:prstGeom prst="rect">
            <a:avLst/>
          </a:prstGeom>
        </p:spPr>
      </p:pic>
      <p:sp>
        <p:nvSpPr>
          <p:cNvPr id="494" name="Text 48">
            <a:extLst>
              <a:ext uri="{FF2B5EF4-FFF2-40B4-BE49-F238E27FC236}">
                <a16:creationId xmlns:a16="http://schemas.microsoft.com/office/drawing/2014/main" id="{0A4592B1-F263-E9BC-6797-AEEAC5FE1F51}"/>
              </a:ext>
            </a:extLst>
          </p:cNvPr>
          <p:cNvSpPr txBox="1"/>
          <p:nvPr/>
        </p:nvSpPr>
        <p:spPr>
          <a:xfrm>
            <a:off x="6836835" y="5816600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600" dirty="0"/>
          </a:p>
        </p:txBody>
      </p:sp>
      <p:sp>
        <p:nvSpPr>
          <p:cNvPr id="496" name="Text 49">
            <a:extLst>
              <a:ext uri="{FF2B5EF4-FFF2-40B4-BE49-F238E27FC236}">
                <a16:creationId xmlns:a16="http://schemas.microsoft.com/office/drawing/2014/main" id="{FF6A1990-680A-4E88-F72D-EACD8E44C77F}"/>
              </a:ext>
            </a:extLst>
          </p:cNvPr>
          <p:cNvSpPr txBox="1"/>
          <p:nvPr/>
        </p:nvSpPr>
        <p:spPr>
          <a:xfrm>
            <a:off x="6836835" y="6057900"/>
            <a:ext cx="95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passes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cross-checked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C:/Users/Samrat S K/Downloads/diagrams/sea_strip.png">
            <a:extLst>
              <a:ext uri="{FF2B5EF4-FFF2-40B4-BE49-F238E27FC236}">
                <a16:creationId xmlns:a16="http://schemas.microsoft.com/office/drawing/2014/main" id="{F98C70E4-1BDE-0CD1-5A79-B7860CF67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57036"/>
            <a:ext cx="12192000" cy="952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ED3C37-E72A-CC06-BE66-2951D3420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9536"/>
            <a:ext cx="12191999" cy="2484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78C347A-A185-67E9-6458-43DE2B0CC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058" y="6627806"/>
            <a:ext cx="2844800" cy="211924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Image 0" descr="C:\Users\Samrat S K\AppData\Local\Temp\pg/f_gear_2F5597.svg">
            <a:extLst>
              <a:ext uri="{FF2B5EF4-FFF2-40B4-BE49-F238E27FC236}">
                <a16:creationId xmlns:a16="http://schemas.microsoft.com/office/drawing/2014/main" id="{EDCBD64E-A841-FC51-0372-C4386674E5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800" y="690680"/>
            <a:ext cx="203200" cy="203200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CA67D50F-1563-5814-6328-5BDA4DAF824A}"/>
              </a:ext>
            </a:extLst>
          </p:cNvPr>
          <p:cNvSpPr txBox="1"/>
          <p:nvPr/>
        </p:nvSpPr>
        <p:spPr>
          <a:xfrm>
            <a:off x="457200" y="652580"/>
            <a:ext cx="15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DB06C50C-986D-7702-D0B1-4B09E0E2D54F}"/>
              </a:ext>
            </a:extLst>
          </p:cNvPr>
          <p:cNvSpPr txBox="1"/>
          <p:nvPr/>
        </p:nvSpPr>
        <p:spPr>
          <a:xfrm>
            <a:off x="1717780" y="682029"/>
            <a:ext cx="3708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available data, resilient engineering and practical deployment</a:t>
            </a:r>
            <a:endParaRPr lang="en-US" sz="900" dirty="0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2EC1426A-724C-AB2F-8802-B569D731BECB}"/>
              </a:ext>
            </a:extLst>
          </p:cNvPr>
          <p:cNvSpPr/>
          <p:nvPr/>
        </p:nvSpPr>
        <p:spPr>
          <a:xfrm>
            <a:off x="368300" y="1249480"/>
            <a:ext cx="0" cy="3860800"/>
          </a:xfrm>
          <a:prstGeom prst="line">
            <a:avLst/>
          </a:prstGeom>
          <a:noFill/>
          <a:ln w="19050">
            <a:solidFill>
              <a:srgbClr val="B4C6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EFA3236B-6E2E-57B6-0A08-E1F84F0613EC}"/>
              </a:ext>
            </a:extLst>
          </p:cNvPr>
          <p:cNvSpPr/>
          <p:nvPr/>
        </p:nvSpPr>
        <p:spPr>
          <a:xfrm>
            <a:off x="609600" y="995480"/>
            <a:ext cx="4775200" cy="1917700"/>
          </a:xfrm>
          <a:prstGeom prst="rect">
            <a:avLst/>
          </a:prstGeom>
          <a:solidFill>
            <a:srgbClr val="F2F6FE"/>
          </a:solidFill>
          <a:ln w="19050">
            <a:solidFill>
              <a:srgbClr val="2B6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08B158AB-7805-0531-F59D-343B41454215}"/>
              </a:ext>
            </a:extLst>
          </p:cNvPr>
          <p:cNvSpPr/>
          <p:nvPr/>
        </p:nvSpPr>
        <p:spPr>
          <a:xfrm>
            <a:off x="228600" y="1109780"/>
            <a:ext cx="279400" cy="279400"/>
          </a:xfrm>
          <a:prstGeom prst="ellipse">
            <a:avLst/>
          </a:prstGeom>
          <a:solidFill>
            <a:srgbClr val="2B61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7554F2A-C21F-52C0-C2CD-3A4492066AD0}"/>
              </a:ext>
            </a:extLst>
          </p:cNvPr>
          <p:cNvSpPr txBox="1"/>
          <p:nvPr/>
        </p:nvSpPr>
        <p:spPr>
          <a:xfrm>
            <a:off x="228600" y="110978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pic>
        <p:nvPicPr>
          <p:cNvPr id="30" name="Image 1">
            <a:extLst>
              <a:ext uri="{FF2B5EF4-FFF2-40B4-BE49-F238E27FC236}">
                <a16:creationId xmlns:a16="http://schemas.microsoft.com/office/drawing/2014/main" id="{80D60916-FEC7-1D1B-4649-25D127A296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6600" y="1122480"/>
            <a:ext cx="279400" cy="279400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C9BD8B98-980F-4079-6E7B-476EB02C3EB4}"/>
              </a:ext>
            </a:extLst>
          </p:cNvPr>
          <p:cNvSpPr txBox="1"/>
          <p:nvPr/>
        </p:nvSpPr>
        <p:spPr>
          <a:xfrm>
            <a:off x="1117600" y="109708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4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7BEC3789-B3C2-1F6B-3605-2F33860C5FBF}"/>
              </a:ext>
            </a:extLst>
          </p:cNvPr>
          <p:cNvSpPr txBox="1"/>
          <p:nvPr/>
        </p:nvSpPr>
        <p:spPr>
          <a:xfrm>
            <a:off x="1211711" y="1444272"/>
            <a:ext cx="4144434" cy="610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Compliant &amp; Optimized</a:t>
            </a:r>
          </a:p>
          <a:p>
            <a:pPr>
              <a:spcAft>
                <a:spcPts val="200"/>
              </a:spcAft>
              <a:buSzPct val="100000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efficiently on basic edge devices; can be parallelized to compute large data</a:t>
            </a:r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E02FCA48-09C5-E187-AD3B-68668E3811CF}"/>
              </a:ext>
            </a:extLst>
          </p:cNvPr>
          <p:cNvSpPr/>
          <p:nvPr/>
        </p:nvSpPr>
        <p:spPr>
          <a:xfrm>
            <a:off x="609600" y="3008058"/>
            <a:ext cx="4775200" cy="1645021"/>
          </a:xfrm>
          <a:prstGeom prst="rect">
            <a:avLst/>
          </a:prstGeom>
          <a:solidFill>
            <a:srgbClr val="FEF5EF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05802DAB-42AF-D868-E4AB-81AE00B394D0}"/>
              </a:ext>
            </a:extLst>
          </p:cNvPr>
          <p:cNvSpPr/>
          <p:nvPr/>
        </p:nvSpPr>
        <p:spPr>
          <a:xfrm>
            <a:off x="228600" y="3122359"/>
            <a:ext cx="279400" cy="2794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BA61EE4E-75CF-C862-7E01-BBA17DCAB5FC}"/>
              </a:ext>
            </a:extLst>
          </p:cNvPr>
          <p:cNvSpPr txBox="1"/>
          <p:nvPr/>
        </p:nvSpPr>
        <p:spPr>
          <a:xfrm>
            <a:off x="228600" y="3122359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pic>
        <p:nvPicPr>
          <p:cNvPr id="42" name="Image 2">
            <a:extLst>
              <a:ext uri="{FF2B5EF4-FFF2-40B4-BE49-F238E27FC236}">
                <a16:creationId xmlns:a16="http://schemas.microsoft.com/office/drawing/2014/main" id="{A8E66F5A-2333-C6EA-A234-9B5F043CDCA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6600" y="3135059"/>
            <a:ext cx="279400" cy="279400"/>
          </a:xfrm>
          <a:prstGeom prst="rect">
            <a:avLst/>
          </a:prstGeom>
        </p:spPr>
      </p:pic>
      <p:sp>
        <p:nvSpPr>
          <p:cNvPr id="44" name="Text 14">
            <a:extLst>
              <a:ext uri="{FF2B5EF4-FFF2-40B4-BE49-F238E27FC236}">
                <a16:creationId xmlns:a16="http://schemas.microsoft.com/office/drawing/2014/main" id="{6493AE43-8CC7-49E1-7ECF-F862DE9D4A74}"/>
              </a:ext>
            </a:extLst>
          </p:cNvPr>
          <p:cNvSpPr txBox="1"/>
          <p:nvPr/>
        </p:nvSpPr>
        <p:spPr>
          <a:xfrm>
            <a:off x="1117600" y="3109659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Feasibility</a:t>
            </a:r>
            <a:endParaRPr lang="en-US" sz="1300" dirty="0"/>
          </a:p>
        </p:txBody>
      </p:sp>
      <p:sp>
        <p:nvSpPr>
          <p:cNvPr id="319" name="Freeform: Shape 318">
            <a:extLst>
              <a:ext uri="{FF2B5EF4-FFF2-40B4-BE49-F238E27FC236}">
                <a16:creationId xmlns:a16="http://schemas.microsoft.com/office/drawing/2014/main" id="{2F56C368-C85A-9306-814B-3C2FA08D5A5B}"/>
              </a:ext>
            </a:extLst>
          </p:cNvPr>
          <p:cNvSpPr/>
          <p:nvPr/>
        </p:nvSpPr>
        <p:spPr>
          <a:xfrm>
            <a:off x="609600" y="4723136"/>
            <a:ext cx="4775200" cy="1336979"/>
          </a:xfrm>
          <a:custGeom>
            <a:avLst/>
            <a:gdLst>
              <a:gd name="csX0" fmla="*/ 0 w 4775200"/>
              <a:gd name="csY0" fmla="*/ 0 h 1336979"/>
              <a:gd name="csX1" fmla="*/ 4775200 w 4775200"/>
              <a:gd name="csY1" fmla="*/ 0 h 1336979"/>
              <a:gd name="csX2" fmla="*/ 4775200 w 4775200"/>
              <a:gd name="csY2" fmla="*/ 1122348 h 1336979"/>
              <a:gd name="csX3" fmla="*/ 4738510 w 4775200"/>
              <a:gd name="csY3" fmla="*/ 1123072 h 1336979"/>
              <a:gd name="csX4" fmla="*/ 4333335 w 4775200"/>
              <a:gd name="csY4" fmla="*/ 1093704 h 1336979"/>
              <a:gd name="csX5" fmla="*/ 4069500 w 4775200"/>
              <a:gd name="csY5" fmla="*/ 937074 h 1336979"/>
              <a:gd name="csX6" fmla="*/ 3947005 w 4775200"/>
              <a:gd name="csY6" fmla="*/ 819601 h 1336979"/>
              <a:gd name="csX7" fmla="*/ 3871624 w 4775200"/>
              <a:gd name="csY7" fmla="*/ 829391 h 1336979"/>
              <a:gd name="csX8" fmla="*/ 3739707 w 4775200"/>
              <a:gd name="csY8" fmla="*/ 888127 h 1336979"/>
              <a:gd name="csX9" fmla="*/ 3485295 w 4775200"/>
              <a:gd name="csY9" fmla="*/ 1044757 h 1336979"/>
              <a:gd name="csX10" fmla="*/ 3405790 w 4775200"/>
              <a:gd name="csY10" fmla="*/ 1091869 h 1336979"/>
              <a:gd name="csX11" fmla="*/ 3362340 w 4775200"/>
              <a:gd name="csY11" fmla="*/ 1105585 h 1336979"/>
              <a:gd name="csX12" fmla="*/ 3029222 w 4775200"/>
              <a:gd name="csY12" fmla="*/ 1336979 h 1336979"/>
              <a:gd name="csX13" fmla="*/ 0 w 4775200"/>
              <a:gd name="csY13" fmla="*/ 1336979 h 1336979"/>
              <a:gd name="csX14" fmla="*/ 0 w 4775200"/>
              <a:gd name="csY14" fmla="*/ 0 h 1336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775200" h="1336979">
                <a:moveTo>
                  <a:pt x="0" y="0"/>
                </a:moveTo>
                <a:lnTo>
                  <a:pt x="4775200" y="0"/>
                </a:lnTo>
                <a:lnTo>
                  <a:pt x="4775200" y="1122348"/>
                </a:lnTo>
                <a:lnTo>
                  <a:pt x="4738510" y="1123072"/>
                </a:lnTo>
                <a:cubicBezTo>
                  <a:pt x="4606593" y="1129598"/>
                  <a:pt x="4471534" y="1119809"/>
                  <a:pt x="4333335" y="1093704"/>
                </a:cubicBezTo>
                <a:cubicBezTo>
                  <a:pt x="4195135" y="1067599"/>
                  <a:pt x="4107191" y="1015389"/>
                  <a:pt x="4069500" y="937074"/>
                </a:cubicBezTo>
                <a:cubicBezTo>
                  <a:pt x="4031809" y="858759"/>
                  <a:pt x="3990978" y="819601"/>
                  <a:pt x="3947005" y="819601"/>
                </a:cubicBezTo>
                <a:cubicBezTo>
                  <a:pt x="3903033" y="819601"/>
                  <a:pt x="3877906" y="822864"/>
                  <a:pt x="3871624" y="829391"/>
                </a:cubicBezTo>
                <a:cubicBezTo>
                  <a:pt x="3865343" y="835917"/>
                  <a:pt x="3821370" y="855496"/>
                  <a:pt x="3739707" y="888127"/>
                </a:cubicBezTo>
                <a:cubicBezTo>
                  <a:pt x="3658043" y="920758"/>
                  <a:pt x="3573239" y="972968"/>
                  <a:pt x="3485295" y="1044757"/>
                </a:cubicBezTo>
                <a:cubicBezTo>
                  <a:pt x="3463309" y="1062705"/>
                  <a:pt x="3436807" y="1078408"/>
                  <a:pt x="3405790" y="1091869"/>
                </a:cubicBezTo>
                <a:lnTo>
                  <a:pt x="3362340" y="1105585"/>
                </a:lnTo>
                <a:lnTo>
                  <a:pt x="3029222" y="1336979"/>
                </a:lnTo>
                <a:lnTo>
                  <a:pt x="0" y="1336979"/>
                </a:lnTo>
                <a:lnTo>
                  <a:pt x="0" y="0"/>
                </a:lnTo>
                <a:close/>
              </a:path>
            </a:pathLst>
          </a:custGeom>
          <a:solidFill>
            <a:srgbClr val="EFFDEF"/>
          </a:solidFill>
          <a:ln w="19050">
            <a:solidFill>
              <a:srgbClr val="1B642B"/>
            </a:solidFill>
            <a:prstDash val="solid"/>
          </a:ln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0" name="Shape 17">
            <a:extLst>
              <a:ext uri="{FF2B5EF4-FFF2-40B4-BE49-F238E27FC236}">
                <a16:creationId xmlns:a16="http://schemas.microsoft.com/office/drawing/2014/main" id="{FF8D442B-35BE-39DD-BB49-1EB0EB438642}"/>
              </a:ext>
            </a:extLst>
          </p:cNvPr>
          <p:cNvSpPr/>
          <p:nvPr/>
        </p:nvSpPr>
        <p:spPr>
          <a:xfrm>
            <a:off x="228600" y="4871305"/>
            <a:ext cx="279400" cy="279400"/>
          </a:xfrm>
          <a:prstGeom prst="ellipse">
            <a:avLst/>
          </a:prstGeom>
          <a:solidFill>
            <a:srgbClr val="1B64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3F307DE-8805-08A4-F3F2-A356813133FE}"/>
              </a:ext>
            </a:extLst>
          </p:cNvPr>
          <p:cNvSpPr txBox="1"/>
          <p:nvPr/>
        </p:nvSpPr>
        <p:spPr>
          <a:xfrm>
            <a:off x="228600" y="4871305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pic>
        <p:nvPicPr>
          <p:cNvPr id="54" name="Image 3">
            <a:extLst>
              <a:ext uri="{FF2B5EF4-FFF2-40B4-BE49-F238E27FC236}">
                <a16:creationId xmlns:a16="http://schemas.microsoft.com/office/drawing/2014/main" id="{728D2F78-E606-49FD-6E54-5FB8CC355F8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6600" y="4840164"/>
            <a:ext cx="279400" cy="279400"/>
          </a:xfrm>
          <a:prstGeom prst="rect">
            <a:avLst/>
          </a:prstGeom>
        </p:spPr>
      </p:pic>
      <p:sp>
        <p:nvSpPr>
          <p:cNvPr id="56" name="Text 19">
            <a:extLst>
              <a:ext uri="{FF2B5EF4-FFF2-40B4-BE49-F238E27FC236}">
                <a16:creationId xmlns:a16="http://schemas.microsoft.com/office/drawing/2014/main" id="{5BD59C76-1C90-312E-56EF-688AB11CE81D}"/>
              </a:ext>
            </a:extLst>
          </p:cNvPr>
          <p:cNvSpPr txBox="1"/>
          <p:nvPr/>
        </p:nvSpPr>
        <p:spPr>
          <a:xfrm>
            <a:off x="1117600" y="4814764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Feasibility</a:t>
            </a:r>
            <a:endParaRPr lang="en-US" sz="1300" dirty="0"/>
          </a:p>
        </p:txBody>
      </p:sp>
      <p:pic>
        <p:nvPicPr>
          <p:cNvPr id="60" name="Image 4" descr="C:\Users\Samrat S K\AppData\Local\Temp\pg/f_roof_2E1193.svg">
            <a:extLst>
              <a:ext uri="{FF2B5EF4-FFF2-40B4-BE49-F238E27FC236}">
                <a16:creationId xmlns:a16="http://schemas.microsoft.com/office/drawing/2014/main" id="{668B9BBA-F3D0-8218-23DD-00B010D0CA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37200" y="690680"/>
            <a:ext cx="203200" cy="203200"/>
          </a:xfrm>
          <a:prstGeom prst="rect">
            <a:avLst/>
          </a:prstGeom>
        </p:spPr>
      </p:pic>
      <p:sp>
        <p:nvSpPr>
          <p:cNvPr id="62" name="Text 21">
            <a:extLst>
              <a:ext uri="{FF2B5EF4-FFF2-40B4-BE49-F238E27FC236}">
                <a16:creationId xmlns:a16="http://schemas.microsoft.com/office/drawing/2014/main" id="{974E2879-F437-23D5-0C56-2FC807B44E49}"/>
              </a:ext>
            </a:extLst>
          </p:cNvPr>
          <p:cNvSpPr txBox="1"/>
          <p:nvPr/>
        </p:nvSpPr>
        <p:spPr>
          <a:xfrm>
            <a:off x="5816600" y="652580"/>
            <a:ext cx="317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</a:t>
            </a:r>
            <a:r>
              <a:rPr lang="en-US" sz="1600" b="1" dirty="0">
                <a:solidFill>
                  <a:srgbClr val="2E1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</a:t>
            </a:r>
            <a:endParaRPr lang="en-US" sz="1600" dirty="0"/>
          </a:p>
        </p:txBody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C7A13C40-8699-0017-3871-9E727B11C8EB}"/>
              </a:ext>
            </a:extLst>
          </p:cNvPr>
          <p:cNvSpPr/>
          <p:nvPr/>
        </p:nvSpPr>
        <p:spPr>
          <a:xfrm>
            <a:off x="5537201" y="995480"/>
            <a:ext cx="2207950" cy="1219200"/>
          </a:xfrm>
          <a:custGeom>
            <a:avLst/>
            <a:gdLst/>
            <a:ahLst/>
            <a:cxnLst/>
            <a:rect l="l" t="t" r="r" b="b"/>
            <a:pathLst>
              <a:path w="2252133" h="1219200">
                <a:moveTo>
                  <a:pt x="0" y="0"/>
                </a:moveTo>
                <a:lnTo>
                  <a:pt x="2048933" y="0"/>
                </a:lnTo>
                <a:lnTo>
                  <a:pt x="2252133" y="609600"/>
                </a:lnTo>
                <a:lnTo>
                  <a:pt x="2048933" y="1219200"/>
                </a:lnTo>
                <a:lnTo>
                  <a:pt x="0" y="1219200"/>
                </a:lnTo>
                <a:close/>
              </a:path>
            </a:pathLst>
          </a:custGeom>
          <a:solidFill>
            <a:srgbClr val="F1EBFC"/>
          </a:solidFill>
          <a:ln w="19050">
            <a:solidFill>
              <a:srgbClr val="2E11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23">
            <a:extLst>
              <a:ext uri="{FF2B5EF4-FFF2-40B4-BE49-F238E27FC236}">
                <a16:creationId xmlns:a16="http://schemas.microsoft.com/office/drawing/2014/main" id="{E540525D-E46C-B225-11E5-6B4260677F77}"/>
              </a:ext>
            </a:extLst>
          </p:cNvPr>
          <p:cNvSpPr/>
          <p:nvPr/>
        </p:nvSpPr>
        <p:spPr>
          <a:xfrm>
            <a:off x="5626100" y="1091785"/>
            <a:ext cx="254000" cy="254000"/>
          </a:xfrm>
          <a:prstGeom prst="ellipse">
            <a:avLst/>
          </a:prstGeom>
          <a:solidFill>
            <a:srgbClr val="2E1193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IN" sz="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pic>
        <p:nvPicPr>
          <p:cNvPr id="70" name="Image 5" descr="C:\Users\Samrat S K\AppData\Local\Temp\pg/f_expand_2E1193.svg">
            <a:extLst>
              <a:ext uri="{FF2B5EF4-FFF2-40B4-BE49-F238E27FC236}">
                <a16:creationId xmlns:a16="http://schemas.microsoft.com/office/drawing/2014/main" id="{0DB2F9B3-A501-DF66-D992-14FCA6B8D3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94400" y="1058980"/>
            <a:ext cx="215900" cy="215900"/>
          </a:xfrm>
          <a:prstGeom prst="rect">
            <a:avLst/>
          </a:prstGeom>
        </p:spPr>
      </p:pic>
      <p:sp>
        <p:nvSpPr>
          <p:cNvPr id="72" name="Text 25">
            <a:extLst>
              <a:ext uri="{FF2B5EF4-FFF2-40B4-BE49-F238E27FC236}">
                <a16:creationId xmlns:a16="http://schemas.microsoft.com/office/drawing/2014/main" id="{421EE3E0-05D2-7652-762C-E1C457D04783}"/>
              </a:ext>
            </a:extLst>
          </p:cNvPr>
          <p:cNvSpPr txBox="1"/>
          <p:nvPr/>
        </p:nvSpPr>
        <p:spPr>
          <a:xfrm>
            <a:off x="5664200" y="1447385"/>
            <a:ext cx="18457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&amp; Scalable</a:t>
            </a:r>
            <a:endParaRPr lang="en-US" sz="1150" dirty="0"/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9C583ADE-A240-2093-E716-FA588BCD3306}"/>
              </a:ext>
            </a:extLst>
          </p:cNvPr>
          <p:cNvSpPr txBox="1"/>
          <p:nvPr/>
        </p:nvSpPr>
        <p:spPr>
          <a:xfrm>
            <a:off x="5664200" y="1663873"/>
            <a:ext cx="1911392" cy="505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Applicable to new spill incidents and larger coastal regions.</a:t>
            </a:r>
            <a:endParaRPr lang="en-US" sz="1050" dirty="0"/>
          </a:p>
        </p:txBody>
      </p:sp>
      <p:sp>
        <p:nvSpPr>
          <p:cNvPr id="76" name="Shape 27">
            <a:extLst>
              <a:ext uri="{FF2B5EF4-FFF2-40B4-BE49-F238E27FC236}">
                <a16:creationId xmlns:a16="http://schemas.microsoft.com/office/drawing/2014/main" id="{CB1854A7-22F7-BB18-04B9-527344392DC5}"/>
              </a:ext>
            </a:extLst>
          </p:cNvPr>
          <p:cNvSpPr/>
          <p:nvPr/>
        </p:nvSpPr>
        <p:spPr>
          <a:xfrm>
            <a:off x="7649633" y="995480"/>
            <a:ext cx="2205567" cy="1219200"/>
          </a:xfrm>
          <a:custGeom>
            <a:avLst/>
            <a:gdLst/>
            <a:ahLst/>
            <a:cxnLst/>
            <a:rect l="l" t="t" r="r" b="b"/>
            <a:pathLst>
              <a:path w="2252133" h="1219200">
                <a:moveTo>
                  <a:pt x="0" y="0"/>
                </a:moveTo>
                <a:lnTo>
                  <a:pt x="2048933" y="0"/>
                </a:lnTo>
                <a:lnTo>
                  <a:pt x="2252133" y="609600"/>
                </a:lnTo>
                <a:lnTo>
                  <a:pt x="2048933" y="1219200"/>
                </a:lnTo>
                <a:lnTo>
                  <a:pt x="0" y="121920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F1EBFC"/>
          </a:solidFill>
          <a:ln w="19050">
            <a:solidFill>
              <a:srgbClr val="2E11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2" name="Image 6" descr="C:\Users\Samrat S K\AppData\Local\Temp\pg/f_gear_2E1193.svg">
            <a:extLst>
              <a:ext uri="{FF2B5EF4-FFF2-40B4-BE49-F238E27FC236}">
                <a16:creationId xmlns:a16="http://schemas.microsoft.com/office/drawing/2014/main" id="{AA409FA2-5255-8B19-6F81-BE85FA23D6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84633" y="1058980"/>
            <a:ext cx="215900" cy="215900"/>
          </a:xfrm>
          <a:prstGeom prst="rect">
            <a:avLst/>
          </a:prstGeom>
        </p:spPr>
      </p:pic>
      <p:sp>
        <p:nvSpPr>
          <p:cNvPr id="84" name="Text 30">
            <a:extLst>
              <a:ext uri="{FF2B5EF4-FFF2-40B4-BE49-F238E27FC236}">
                <a16:creationId xmlns:a16="http://schemas.microsoft.com/office/drawing/2014/main" id="{B82EC9A5-9562-926B-C122-5929E986FF8F}"/>
              </a:ext>
            </a:extLst>
          </p:cNvPr>
          <p:cNvSpPr txBox="1"/>
          <p:nvPr/>
        </p:nvSpPr>
        <p:spPr>
          <a:xfrm>
            <a:off x="7954433" y="1447385"/>
            <a:ext cx="1667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&amp; Upgradeable</a:t>
            </a:r>
            <a:endParaRPr lang="en-US" sz="1150" dirty="0"/>
          </a:p>
        </p:txBody>
      </p:sp>
      <p:sp>
        <p:nvSpPr>
          <p:cNvPr id="86" name="Text 31">
            <a:extLst>
              <a:ext uri="{FF2B5EF4-FFF2-40B4-BE49-F238E27FC236}">
                <a16:creationId xmlns:a16="http://schemas.microsoft.com/office/drawing/2014/main" id="{108DE6A0-A170-E4F7-4129-BC689A714F30}"/>
              </a:ext>
            </a:extLst>
          </p:cNvPr>
          <p:cNvSpPr txBox="1"/>
          <p:nvPr/>
        </p:nvSpPr>
        <p:spPr>
          <a:xfrm>
            <a:off x="7954433" y="1663873"/>
            <a:ext cx="1727267" cy="505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analytical modules can evolve independently.</a:t>
            </a:r>
            <a:endParaRPr lang="en-US" sz="1050" dirty="0"/>
          </a:p>
        </p:txBody>
      </p:sp>
      <p:sp>
        <p:nvSpPr>
          <p:cNvPr id="88" name="Shape 32">
            <a:extLst>
              <a:ext uri="{FF2B5EF4-FFF2-40B4-BE49-F238E27FC236}">
                <a16:creationId xmlns:a16="http://schemas.microsoft.com/office/drawing/2014/main" id="{8658FDFF-3391-02AD-A32C-755ACC69B738}"/>
              </a:ext>
            </a:extLst>
          </p:cNvPr>
          <p:cNvSpPr/>
          <p:nvPr/>
        </p:nvSpPr>
        <p:spPr>
          <a:xfrm>
            <a:off x="9762067" y="995480"/>
            <a:ext cx="2252133" cy="1219200"/>
          </a:xfrm>
          <a:custGeom>
            <a:avLst/>
            <a:gdLst/>
            <a:ahLst/>
            <a:cxnLst/>
            <a:rect l="l" t="t" r="r" b="b"/>
            <a:pathLst>
              <a:path w="2252133" h="1219200">
                <a:moveTo>
                  <a:pt x="0" y="0"/>
                </a:moveTo>
                <a:lnTo>
                  <a:pt x="2048933" y="0"/>
                </a:lnTo>
                <a:lnTo>
                  <a:pt x="2252133" y="609600"/>
                </a:lnTo>
                <a:lnTo>
                  <a:pt x="2048933" y="1219200"/>
                </a:lnTo>
                <a:lnTo>
                  <a:pt x="0" y="121920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F1EBFC"/>
          </a:solidFill>
          <a:ln w="19050">
            <a:solidFill>
              <a:srgbClr val="2E11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4" name="Image 7" descr="C:\Users\Samrat S K\AppData\Local\Temp\pg/f_leaf_2E1193.svg">
            <a:extLst>
              <a:ext uri="{FF2B5EF4-FFF2-40B4-BE49-F238E27FC236}">
                <a16:creationId xmlns:a16="http://schemas.microsoft.com/office/drawing/2014/main" id="{D04FEEDF-B00F-17FF-133A-4AC8E544CE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97067" y="1058980"/>
            <a:ext cx="215900" cy="215900"/>
          </a:xfrm>
          <a:prstGeom prst="rect">
            <a:avLst/>
          </a:prstGeom>
        </p:spPr>
      </p:pic>
      <p:sp>
        <p:nvSpPr>
          <p:cNvPr id="96" name="Text 35">
            <a:extLst>
              <a:ext uri="{FF2B5EF4-FFF2-40B4-BE49-F238E27FC236}">
                <a16:creationId xmlns:a16="http://schemas.microsoft.com/office/drawing/2014/main" id="{84AAD4A6-F418-5C61-48E5-8A4F1D256543}"/>
              </a:ext>
            </a:extLst>
          </p:cNvPr>
          <p:cNvSpPr txBox="1"/>
          <p:nvPr/>
        </p:nvSpPr>
        <p:spPr>
          <a:xfrm>
            <a:off x="10066867" y="1384113"/>
            <a:ext cx="1871133" cy="14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Operationally Sustainable</a:t>
            </a:r>
            <a:endParaRPr lang="en-US" sz="1150" dirty="0"/>
          </a:p>
        </p:txBody>
      </p:sp>
      <p:sp>
        <p:nvSpPr>
          <p:cNvPr id="98" name="Text 36">
            <a:extLst>
              <a:ext uri="{FF2B5EF4-FFF2-40B4-BE49-F238E27FC236}">
                <a16:creationId xmlns:a16="http://schemas.microsoft.com/office/drawing/2014/main" id="{9E0C1EB9-701C-1A0E-5A66-9F44486A82CD}"/>
              </a:ext>
            </a:extLst>
          </p:cNvPr>
          <p:cNvSpPr txBox="1"/>
          <p:nvPr/>
        </p:nvSpPr>
        <p:spPr>
          <a:xfrm>
            <a:off x="10066867" y="1572433"/>
            <a:ext cx="1727267" cy="505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Offline-ready, auditable outputs fit existing response workflows.</a:t>
            </a:r>
            <a:endParaRPr lang="en-US" sz="1050" dirty="0"/>
          </a:p>
        </p:txBody>
      </p:sp>
      <p:pic>
        <p:nvPicPr>
          <p:cNvPr id="100" name="Image 8" descr="C:\Users\Samrat S K\AppData\Local\Temp\pg/f_warn_CB2B2D.svg">
            <a:extLst>
              <a:ext uri="{FF2B5EF4-FFF2-40B4-BE49-F238E27FC236}">
                <a16:creationId xmlns:a16="http://schemas.microsoft.com/office/drawing/2014/main" id="{EBA4FCEC-072D-1984-F15E-097887A0E8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37200" y="2392480"/>
            <a:ext cx="203200" cy="203200"/>
          </a:xfrm>
          <a:prstGeom prst="rect">
            <a:avLst/>
          </a:prstGeom>
        </p:spPr>
      </p:pic>
      <p:sp>
        <p:nvSpPr>
          <p:cNvPr id="102" name="Text 37">
            <a:extLst>
              <a:ext uri="{FF2B5EF4-FFF2-40B4-BE49-F238E27FC236}">
                <a16:creationId xmlns:a16="http://schemas.microsoft.com/office/drawing/2014/main" id="{870A277E-BEDA-1054-195C-3C3B25A59127}"/>
              </a:ext>
            </a:extLst>
          </p:cNvPr>
          <p:cNvSpPr txBox="1"/>
          <p:nvPr/>
        </p:nvSpPr>
        <p:spPr>
          <a:xfrm>
            <a:off x="5816600" y="2354380"/>
            <a:ext cx="330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B2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</a:t>
            </a:r>
            <a:r>
              <a:rPr lang="en-US" sz="1600" b="1" dirty="0">
                <a:solidFill>
                  <a:srgbClr val="1B6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600" dirty="0">
              <a:solidFill>
                <a:srgbClr val="1B642B"/>
              </a:solidFill>
            </a:endParaRPr>
          </a:p>
        </p:txBody>
      </p:sp>
      <p:sp>
        <p:nvSpPr>
          <p:cNvPr id="104" name="Text 38">
            <a:extLst>
              <a:ext uri="{FF2B5EF4-FFF2-40B4-BE49-F238E27FC236}">
                <a16:creationId xmlns:a16="http://schemas.microsoft.com/office/drawing/2014/main" id="{1E96A61A-C426-A239-F02B-916DD7520FA5}"/>
              </a:ext>
            </a:extLst>
          </p:cNvPr>
          <p:cNvSpPr txBox="1"/>
          <p:nvPr/>
        </p:nvSpPr>
        <p:spPr>
          <a:xfrm>
            <a:off x="9855200" y="2354380"/>
            <a:ext cx="215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B6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uncertainty to assurance</a:t>
            </a:r>
            <a:endParaRPr lang="en-US" sz="900" dirty="0"/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AABADE45-6072-809D-3921-89AFF9EF020A}"/>
              </a:ext>
            </a:extLst>
          </p:cNvPr>
          <p:cNvGrpSpPr/>
          <p:nvPr/>
        </p:nvGrpSpPr>
        <p:grpSpPr>
          <a:xfrm>
            <a:off x="5537200" y="2714860"/>
            <a:ext cx="6477000" cy="660400"/>
            <a:chOff x="5537200" y="2684580"/>
            <a:chExt cx="6477000" cy="660400"/>
          </a:xfrm>
        </p:grpSpPr>
        <p:sp>
          <p:nvSpPr>
            <p:cNvPr id="106" name="Shape 39">
              <a:extLst>
                <a:ext uri="{FF2B5EF4-FFF2-40B4-BE49-F238E27FC236}">
                  <a16:creationId xmlns:a16="http://schemas.microsoft.com/office/drawing/2014/main" id="{CFF3A8EF-26C4-828F-635C-BBD3FF3CFF75}"/>
                </a:ext>
              </a:extLst>
            </p:cNvPr>
            <p:cNvSpPr/>
            <p:nvPr/>
          </p:nvSpPr>
          <p:spPr>
            <a:xfrm>
              <a:off x="5537200" y="2684580"/>
              <a:ext cx="3073400" cy="660400"/>
            </a:xfrm>
            <a:prstGeom prst="rect">
              <a:avLst/>
            </a:prstGeom>
            <a:solidFill>
              <a:srgbClr val="FBF4F4"/>
            </a:solidFill>
            <a:ln w="19050">
              <a:solidFill>
                <a:srgbClr val="CB2B2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Shape 40">
              <a:extLst>
                <a:ext uri="{FF2B5EF4-FFF2-40B4-BE49-F238E27FC236}">
                  <a16:creationId xmlns:a16="http://schemas.microsoft.com/office/drawing/2014/main" id="{722547E1-7061-1827-A6E8-1F1B5B30EA29}"/>
                </a:ext>
              </a:extLst>
            </p:cNvPr>
            <p:cNvSpPr/>
            <p:nvPr/>
          </p:nvSpPr>
          <p:spPr>
            <a:xfrm>
              <a:off x="5626100" y="2849680"/>
              <a:ext cx="330200" cy="330200"/>
            </a:xfrm>
            <a:prstGeom prst="ellipse">
              <a:avLst/>
            </a:prstGeom>
            <a:solidFill>
              <a:srgbClr val="CB2B2D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10" name="Image 9" descr="C:\Users\Samrat S K\AppData\Local\Temp\pg/f_warn_FFFFFF.svg">
              <a:extLst>
                <a:ext uri="{FF2B5EF4-FFF2-40B4-BE49-F238E27FC236}">
                  <a16:creationId xmlns:a16="http://schemas.microsoft.com/office/drawing/2014/main" id="{2B11AD66-F9B5-46BD-1582-3AD5BABBA8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12884" y="2936464"/>
              <a:ext cx="156633" cy="156633"/>
            </a:xfrm>
            <a:prstGeom prst="rect">
              <a:avLst/>
            </a:prstGeom>
          </p:spPr>
        </p:pic>
        <p:sp>
          <p:nvSpPr>
            <p:cNvPr id="112" name="Text 41">
              <a:extLst>
                <a:ext uri="{FF2B5EF4-FFF2-40B4-BE49-F238E27FC236}">
                  <a16:creationId xmlns:a16="http://schemas.microsoft.com/office/drawing/2014/main" id="{691A32C9-B3B9-CD8F-89F7-315620673267}"/>
                </a:ext>
              </a:extLst>
            </p:cNvPr>
            <p:cNvSpPr txBox="1"/>
            <p:nvPr/>
          </p:nvSpPr>
          <p:spPr>
            <a:xfrm>
              <a:off x="6045200" y="2815284"/>
              <a:ext cx="2489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SAR Look-Alike Ambiguity</a:t>
              </a:r>
              <a:endParaRPr lang="en-US" sz="1150" dirty="0"/>
            </a:p>
          </p:txBody>
        </p:sp>
        <p:sp>
          <p:nvSpPr>
            <p:cNvPr id="114" name="Text 42">
              <a:extLst>
                <a:ext uri="{FF2B5EF4-FFF2-40B4-BE49-F238E27FC236}">
                  <a16:creationId xmlns:a16="http://schemas.microsoft.com/office/drawing/2014/main" id="{6D8F3723-A9FB-9AA8-07B6-7121C7633BD0}"/>
                </a:ext>
              </a:extLst>
            </p:cNvPr>
            <p:cNvSpPr txBox="1"/>
            <p:nvPr/>
          </p:nvSpPr>
          <p:spPr>
            <a:xfrm>
              <a:off x="6045200" y="3017896"/>
              <a:ext cx="2489200" cy="183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Dark ocean features may mimic oil slicks.</a:t>
              </a:r>
              <a:endParaRPr lang="en-US" sz="1000" dirty="0"/>
            </a:p>
          </p:txBody>
        </p:sp>
        <p:sp>
          <p:nvSpPr>
            <p:cNvPr id="116" name="Shape 43">
              <a:extLst>
                <a:ext uri="{FF2B5EF4-FFF2-40B4-BE49-F238E27FC236}">
                  <a16:creationId xmlns:a16="http://schemas.microsoft.com/office/drawing/2014/main" id="{B6253B8F-34ED-5AF1-437A-DA0612917322}"/>
                </a:ext>
              </a:extLst>
            </p:cNvPr>
            <p:cNvSpPr/>
            <p:nvPr/>
          </p:nvSpPr>
          <p:spPr>
            <a:xfrm>
              <a:off x="8940800" y="2684580"/>
              <a:ext cx="3073400" cy="660400"/>
            </a:xfrm>
            <a:prstGeom prst="rect">
              <a:avLst/>
            </a:prstGeom>
            <a:solidFill>
              <a:srgbClr val="EFFDEF"/>
            </a:solidFill>
            <a:ln w="19050">
              <a:solidFill>
                <a:srgbClr val="1B642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Shape 44">
              <a:extLst>
                <a:ext uri="{FF2B5EF4-FFF2-40B4-BE49-F238E27FC236}">
                  <a16:creationId xmlns:a16="http://schemas.microsoft.com/office/drawing/2014/main" id="{A75B7A6C-3EFC-69CB-541C-B5EE16212C13}"/>
                </a:ext>
              </a:extLst>
            </p:cNvPr>
            <p:cNvSpPr/>
            <p:nvPr/>
          </p:nvSpPr>
          <p:spPr>
            <a:xfrm>
              <a:off x="9029700" y="2849680"/>
              <a:ext cx="330200" cy="330200"/>
            </a:xfrm>
            <a:prstGeom prst="ellipse">
              <a:avLst/>
            </a:prstGeom>
            <a:solidFill>
              <a:srgbClr val="1B642B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20" name="Image 10" descr="C:\Users\Samrat S K\AppData\Local\Temp\pg/f_shield_FFFFFF.svg">
              <a:extLst>
                <a:ext uri="{FF2B5EF4-FFF2-40B4-BE49-F238E27FC236}">
                  <a16:creationId xmlns:a16="http://schemas.microsoft.com/office/drawing/2014/main" id="{39A9FCC6-79BE-1DFF-4AD2-ADBA83C514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93200" y="2913180"/>
              <a:ext cx="203200" cy="203200"/>
            </a:xfrm>
            <a:prstGeom prst="rect">
              <a:avLst/>
            </a:prstGeom>
          </p:spPr>
        </p:pic>
        <p:sp>
          <p:nvSpPr>
            <p:cNvPr id="122" name="Text 45">
              <a:extLst>
                <a:ext uri="{FF2B5EF4-FFF2-40B4-BE49-F238E27FC236}">
                  <a16:creationId xmlns:a16="http://schemas.microsoft.com/office/drawing/2014/main" id="{07C08B34-2E6A-F37A-7D08-3E29A395FE5A}"/>
                </a:ext>
              </a:extLst>
            </p:cNvPr>
            <p:cNvSpPr txBox="1"/>
            <p:nvPr/>
          </p:nvSpPr>
          <p:spPr>
            <a:xfrm>
              <a:off x="9448800" y="2785004"/>
              <a:ext cx="2489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Multi-Feature Validation</a:t>
              </a:r>
              <a:endParaRPr lang="en-US" sz="1150" dirty="0"/>
            </a:p>
          </p:txBody>
        </p:sp>
        <p:sp>
          <p:nvSpPr>
            <p:cNvPr id="124" name="Text 46">
              <a:extLst>
                <a:ext uri="{FF2B5EF4-FFF2-40B4-BE49-F238E27FC236}">
                  <a16:creationId xmlns:a16="http://schemas.microsoft.com/office/drawing/2014/main" id="{4C7F9C1B-BD25-B85B-BBD3-6D21E612BE9C}"/>
                </a:ext>
              </a:extLst>
            </p:cNvPr>
            <p:cNvSpPr txBox="1"/>
            <p:nvPr/>
          </p:nvSpPr>
          <p:spPr>
            <a:xfrm>
              <a:off x="9448800" y="2981560"/>
              <a:ext cx="2489200" cy="33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Radiometric, texture, morphology and confidence screening.</a:t>
              </a:r>
              <a:endParaRPr lang="en-US" sz="1000" dirty="0"/>
            </a:p>
          </p:txBody>
        </p:sp>
        <p:sp>
          <p:nvSpPr>
            <p:cNvPr id="126" name="Shape 47">
              <a:extLst>
                <a:ext uri="{FF2B5EF4-FFF2-40B4-BE49-F238E27FC236}">
                  <a16:creationId xmlns:a16="http://schemas.microsoft.com/office/drawing/2014/main" id="{17483154-24F4-170B-9E4B-F0D172458F48}"/>
                </a:ext>
              </a:extLst>
            </p:cNvPr>
            <p:cNvSpPr/>
            <p:nvPr/>
          </p:nvSpPr>
          <p:spPr>
            <a:xfrm>
              <a:off x="8661400" y="2938580"/>
              <a:ext cx="228600" cy="152400"/>
            </a:xfrm>
            <a:prstGeom prst="rightArrow">
              <a:avLst/>
            </a:prstGeom>
            <a:solidFill>
              <a:srgbClr val="0D9488"/>
            </a:solidFill>
            <a:ln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0CAB0E3F-C82F-52F0-F15C-9F5460243004}"/>
              </a:ext>
            </a:extLst>
          </p:cNvPr>
          <p:cNvGrpSpPr/>
          <p:nvPr/>
        </p:nvGrpSpPr>
        <p:grpSpPr>
          <a:xfrm>
            <a:off x="5537200" y="3489814"/>
            <a:ext cx="6477000" cy="660400"/>
            <a:chOff x="5537200" y="3421180"/>
            <a:chExt cx="6477000" cy="660400"/>
          </a:xfrm>
        </p:grpSpPr>
        <p:sp>
          <p:nvSpPr>
            <p:cNvPr id="128" name="Shape 48">
              <a:extLst>
                <a:ext uri="{FF2B5EF4-FFF2-40B4-BE49-F238E27FC236}">
                  <a16:creationId xmlns:a16="http://schemas.microsoft.com/office/drawing/2014/main" id="{C30D191B-7045-1B79-C31A-649691F51158}"/>
                </a:ext>
              </a:extLst>
            </p:cNvPr>
            <p:cNvSpPr/>
            <p:nvPr/>
          </p:nvSpPr>
          <p:spPr>
            <a:xfrm>
              <a:off x="5537200" y="3421180"/>
              <a:ext cx="3073400" cy="660400"/>
            </a:xfrm>
            <a:prstGeom prst="rect">
              <a:avLst/>
            </a:prstGeom>
            <a:solidFill>
              <a:srgbClr val="FBF4F4"/>
            </a:solidFill>
            <a:ln w="19050">
              <a:solidFill>
                <a:srgbClr val="CB2B2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0" name="Shape 49">
              <a:extLst>
                <a:ext uri="{FF2B5EF4-FFF2-40B4-BE49-F238E27FC236}">
                  <a16:creationId xmlns:a16="http://schemas.microsoft.com/office/drawing/2014/main" id="{75899758-1A47-5420-BBBD-345631863CB2}"/>
                </a:ext>
              </a:extLst>
            </p:cNvPr>
            <p:cNvSpPr/>
            <p:nvPr/>
          </p:nvSpPr>
          <p:spPr>
            <a:xfrm>
              <a:off x="5626100" y="3586280"/>
              <a:ext cx="330200" cy="330200"/>
            </a:xfrm>
            <a:prstGeom prst="ellipse">
              <a:avLst/>
            </a:prstGeom>
            <a:solidFill>
              <a:srgbClr val="CB2B2D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32" name="Image 11" descr="C:\Users\Samrat S K\AppData\Local\Temp\pg/f_wave_FFFFFF.svg">
              <a:extLst>
                <a:ext uri="{FF2B5EF4-FFF2-40B4-BE49-F238E27FC236}">
                  <a16:creationId xmlns:a16="http://schemas.microsoft.com/office/drawing/2014/main" id="{D3CBA91D-9D79-CAC3-8BF2-5888F1D3E7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689600" y="3649780"/>
              <a:ext cx="203200" cy="203200"/>
            </a:xfrm>
            <a:prstGeom prst="rect">
              <a:avLst/>
            </a:prstGeom>
          </p:spPr>
        </p:pic>
        <p:sp>
          <p:nvSpPr>
            <p:cNvPr id="134" name="Text 50">
              <a:extLst>
                <a:ext uri="{FF2B5EF4-FFF2-40B4-BE49-F238E27FC236}">
                  <a16:creationId xmlns:a16="http://schemas.microsoft.com/office/drawing/2014/main" id="{5B4B2252-9616-3CE3-DFE1-690C9C1C087F}"/>
                </a:ext>
              </a:extLst>
            </p:cNvPr>
            <p:cNvSpPr txBox="1"/>
            <p:nvPr/>
          </p:nvSpPr>
          <p:spPr>
            <a:xfrm>
              <a:off x="6045200" y="3497380"/>
              <a:ext cx="2489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Environmental Forcing Uncertainty</a:t>
              </a:r>
              <a:endParaRPr lang="en-US" sz="1150" dirty="0"/>
            </a:p>
          </p:txBody>
        </p:sp>
        <p:sp>
          <p:nvSpPr>
            <p:cNvPr id="136" name="Text 51">
              <a:extLst>
                <a:ext uri="{FF2B5EF4-FFF2-40B4-BE49-F238E27FC236}">
                  <a16:creationId xmlns:a16="http://schemas.microsoft.com/office/drawing/2014/main" id="{80B0A709-CF05-4153-093E-65B61BC66986}"/>
                </a:ext>
              </a:extLst>
            </p:cNvPr>
            <p:cNvSpPr txBox="1"/>
            <p:nvPr/>
          </p:nvSpPr>
          <p:spPr>
            <a:xfrm>
              <a:off x="6045200" y="3706048"/>
              <a:ext cx="2489200" cy="33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Coarse wind/current fields reduce drift precision.</a:t>
              </a:r>
              <a:endParaRPr lang="en-US" sz="1000" dirty="0"/>
            </a:p>
          </p:txBody>
        </p:sp>
        <p:sp>
          <p:nvSpPr>
            <p:cNvPr id="138" name="Shape 52">
              <a:extLst>
                <a:ext uri="{FF2B5EF4-FFF2-40B4-BE49-F238E27FC236}">
                  <a16:creationId xmlns:a16="http://schemas.microsoft.com/office/drawing/2014/main" id="{1241DB95-AE00-0134-E7E9-E2F6C9AAEED2}"/>
                </a:ext>
              </a:extLst>
            </p:cNvPr>
            <p:cNvSpPr/>
            <p:nvPr/>
          </p:nvSpPr>
          <p:spPr>
            <a:xfrm>
              <a:off x="8940800" y="3421180"/>
              <a:ext cx="3073400" cy="660400"/>
            </a:xfrm>
            <a:prstGeom prst="rect">
              <a:avLst/>
            </a:prstGeom>
            <a:solidFill>
              <a:srgbClr val="EFFDEF"/>
            </a:solidFill>
            <a:ln w="19050">
              <a:solidFill>
                <a:srgbClr val="1B642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0" name="Shape 53">
              <a:extLst>
                <a:ext uri="{FF2B5EF4-FFF2-40B4-BE49-F238E27FC236}">
                  <a16:creationId xmlns:a16="http://schemas.microsoft.com/office/drawing/2014/main" id="{DDCD07A8-9813-38CE-99B2-50BC729619A9}"/>
                </a:ext>
              </a:extLst>
            </p:cNvPr>
            <p:cNvSpPr/>
            <p:nvPr/>
          </p:nvSpPr>
          <p:spPr>
            <a:xfrm>
              <a:off x="9029700" y="3586280"/>
              <a:ext cx="330200" cy="330200"/>
            </a:xfrm>
            <a:prstGeom prst="ellipse">
              <a:avLst/>
            </a:prstGeom>
            <a:solidFill>
              <a:srgbClr val="1B642B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42" name="Image 12" descr="C:\Users\Samrat S K\AppData\Local\Temp\pg/f_bars_FFFFFF.svg">
              <a:extLst>
                <a:ext uri="{FF2B5EF4-FFF2-40B4-BE49-F238E27FC236}">
                  <a16:creationId xmlns:a16="http://schemas.microsoft.com/office/drawing/2014/main" id="{A66F72AF-92D8-4F9E-8BF3-98972A1C4B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093200" y="3649780"/>
              <a:ext cx="203200" cy="203200"/>
            </a:xfrm>
            <a:prstGeom prst="rect">
              <a:avLst/>
            </a:prstGeom>
          </p:spPr>
        </p:pic>
        <p:sp>
          <p:nvSpPr>
            <p:cNvPr id="144" name="Text 54">
              <a:extLst>
                <a:ext uri="{FF2B5EF4-FFF2-40B4-BE49-F238E27FC236}">
                  <a16:creationId xmlns:a16="http://schemas.microsoft.com/office/drawing/2014/main" id="{C7C09800-F5BB-511E-F4E5-95849930C39B}"/>
                </a:ext>
              </a:extLst>
            </p:cNvPr>
            <p:cNvSpPr txBox="1"/>
            <p:nvPr/>
          </p:nvSpPr>
          <p:spPr>
            <a:xfrm>
              <a:off x="9448800" y="3509492"/>
              <a:ext cx="2489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Uncertainty-Aware Modelling</a:t>
              </a:r>
              <a:endParaRPr lang="en-US" sz="1150" dirty="0"/>
            </a:p>
          </p:txBody>
        </p:sp>
        <p:sp>
          <p:nvSpPr>
            <p:cNvPr id="146" name="Text 55">
              <a:extLst>
                <a:ext uri="{FF2B5EF4-FFF2-40B4-BE49-F238E27FC236}">
                  <a16:creationId xmlns:a16="http://schemas.microsoft.com/office/drawing/2014/main" id="{6D071536-EA53-9A11-B950-0D6A509FE9FD}"/>
                </a:ext>
              </a:extLst>
            </p:cNvPr>
            <p:cNvSpPr txBox="1"/>
            <p:nvPr/>
          </p:nvSpPr>
          <p:spPr>
            <a:xfrm>
              <a:off x="9448800" y="3706048"/>
              <a:ext cx="2489200" cy="33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Interpolation, windage scenarios and particle-spread envelopes.</a:t>
              </a:r>
              <a:endParaRPr lang="en-US" sz="1000" dirty="0"/>
            </a:p>
          </p:txBody>
        </p:sp>
        <p:sp>
          <p:nvSpPr>
            <p:cNvPr id="148" name="Shape 56">
              <a:extLst>
                <a:ext uri="{FF2B5EF4-FFF2-40B4-BE49-F238E27FC236}">
                  <a16:creationId xmlns:a16="http://schemas.microsoft.com/office/drawing/2014/main" id="{E1689D94-9FCC-0181-1AC4-E323303F0BCF}"/>
                </a:ext>
              </a:extLst>
            </p:cNvPr>
            <p:cNvSpPr/>
            <p:nvPr/>
          </p:nvSpPr>
          <p:spPr>
            <a:xfrm>
              <a:off x="8661400" y="3675180"/>
              <a:ext cx="228600" cy="152400"/>
            </a:xfrm>
            <a:prstGeom prst="rightArrow">
              <a:avLst/>
            </a:prstGeom>
            <a:solidFill>
              <a:srgbClr val="0D9488"/>
            </a:solidFill>
            <a:ln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F28621E0-8957-FD4E-A730-1BA9415D7EEE}"/>
              </a:ext>
            </a:extLst>
          </p:cNvPr>
          <p:cNvGrpSpPr/>
          <p:nvPr/>
        </p:nvGrpSpPr>
        <p:grpSpPr>
          <a:xfrm>
            <a:off x="5537200" y="4264768"/>
            <a:ext cx="6477000" cy="660400"/>
            <a:chOff x="5537200" y="4157780"/>
            <a:chExt cx="6477000" cy="660400"/>
          </a:xfrm>
        </p:grpSpPr>
        <p:sp>
          <p:nvSpPr>
            <p:cNvPr id="150" name="Shape 57">
              <a:extLst>
                <a:ext uri="{FF2B5EF4-FFF2-40B4-BE49-F238E27FC236}">
                  <a16:creationId xmlns:a16="http://schemas.microsoft.com/office/drawing/2014/main" id="{B1B38544-256D-6969-7CB6-00036D11552B}"/>
                </a:ext>
              </a:extLst>
            </p:cNvPr>
            <p:cNvSpPr/>
            <p:nvPr/>
          </p:nvSpPr>
          <p:spPr>
            <a:xfrm>
              <a:off x="5537200" y="4157780"/>
              <a:ext cx="3073400" cy="660400"/>
            </a:xfrm>
            <a:prstGeom prst="rect">
              <a:avLst/>
            </a:prstGeom>
            <a:solidFill>
              <a:srgbClr val="FBF4F4"/>
            </a:solidFill>
            <a:ln w="19050">
              <a:solidFill>
                <a:srgbClr val="CB2B2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2" name="Shape 58">
              <a:extLst>
                <a:ext uri="{FF2B5EF4-FFF2-40B4-BE49-F238E27FC236}">
                  <a16:creationId xmlns:a16="http://schemas.microsoft.com/office/drawing/2014/main" id="{20B96B3E-5109-4738-A21A-1ECDB3DE7C3F}"/>
                </a:ext>
              </a:extLst>
            </p:cNvPr>
            <p:cNvSpPr/>
            <p:nvPr/>
          </p:nvSpPr>
          <p:spPr>
            <a:xfrm>
              <a:off x="5626100" y="4322880"/>
              <a:ext cx="330200" cy="330200"/>
            </a:xfrm>
            <a:prstGeom prst="ellipse">
              <a:avLst/>
            </a:prstGeom>
            <a:solidFill>
              <a:srgbClr val="CB2B2D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54" name="Image 13" descr="C:\Users\Samrat S K\AppData\Local\Temp\pg/f_ship_FFFFFF.svg">
              <a:extLst>
                <a:ext uri="{FF2B5EF4-FFF2-40B4-BE49-F238E27FC236}">
                  <a16:creationId xmlns:a16="http://schemas.microsoft.com/office/drawing/2014/main" id="{15AAC908-0AD0-8207-2A5B-B456B94BA5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689600" y="4386380"/>
              <a:ext cx="203200" cy="203200"/>
            </a:xfrm>
            <a:prstGeom prst="rect">
              <a:avLst/>
            </a:prstGeom>
          </p:spPr>
        </p:pic>
        <p:sp>
          <p:nvSpPr>
            <p:cNvPr id="156" name="Text 59">
              <a:extLst>
                <a:ext uri="{FF2B5EF4-FFF2-40B4-BE49-F238E27FC236}">
                  <a16:creationId xmlns:a16="http://schemas.microsoft.com/office/drawing/2014/main" id="{CFDD0A84-CFA8-4004-C947-46D0C2B0E3A4}"/>
                </a:ext>
              </a:extLst>
            </p:cNvPr>
            <p:cNvSpPr txBox="1"/>
            <p:nvPr/>
          </p:nvSpPr>
          <p:spPr>
            <a:xfrm>
              <a:off x="6045200" y="4246092"/>
              <a:ext cx="2489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AIS Trajectory Gaps</a:t>
              </a:r>
              <a:endParaRPr lang="en-US" sz="1150" dirty="0"/>
            </a:p>
          </p:txBody>
        </p:sp>
        <p:sp>
          <p:nvSpPr>
            <p:cNvPr id="158" name="Text 60">
              <a:extLst>
                <a:ext uri="{FF2B5EF4-FFF2-40B4-BE49-F238E27FC236}">
                  <a16:creationId xmlns:a16="http://schemas.microsoft.com/office/drawing/2014/main" id="{5B7DED6F-E20B-643C-1499-4386613A1459}"/>
                </a:ext>
              </a:extLst>
            </p:cNvPr>
            <p:cNvSpPr txBox="1"/>
            <p:nvPr/>
          </p:nvSpPr>
          <p:spPr>
            <a:xfrm>
              <a:off x="6045200" y="4448704"/>
              <a:ext cx="2489200" cy="33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Missing or sparse vessel tracks weaken attribution.</a:t>
              </a:r>
              <a:endParaRPr lang="en-US" sz="1000" dirty="0"/>
            </a:p>
          </p:txBody>
        </p:sp>
        <p:sp>
          <p:nvSpPr>
            <p:cNvPr id="160" name="Shape 61">
              <a:extLst>
                <a:ext uri="{FF2B5EF4-FFF2-40B4-BE49-F238E27FC236}">
                  <a16:creationId xmlns:a16="http://schemas.microsoft.com/office/drawing/2014/main" id="{C33F471B-7F88-2C7C-13CA-F6AFBBEF1B43}"/>
                </a:ext>
              </a:extLst>
            </p:cNvPr>
            <p:cNvSpPr/>
            <p:nvPr/>
          </p:nvSpPr>
          <p:spPr>
            <a:xfrm>
              <a:off x="8940800" y="4157780"/>
              <a:ext cx="3073400" cy="660400"/>
            </a:xfrm>
            <a:prstGeom prst="rect">
              <a:avLst/>
            </a:prstGeom>
            <a:solidFill>
              <a:srgbClr val="EFFDEF"/>
            </a:solidFill>
            <a:ln w="19050">
              <a:solidFill>
                <a:srgbClr val="1B642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2" name="Shape 62">
              <a:extLst>
                <a:ext uri="{FF2B5EF4-FFF2-40B4-BE49-F238E27FC236}">
                  <a16:creationId xmlns:a16="http://schemas.microsoft.com/office/drawing/2014/main" id="{E17F4066-FEB7-13B8-82C6-44F3E9443346}"/>
                </a:ext>
              </a:extLst>
            </p:cNvPr>
            <p:cNvSpPr/>
            <p:nvPr/>
          </p:nvSpPr>
          <p:spPr>
            <a:xfrm>
              <a:off x="9029700" y="4322880"/>
              <a:ext cx="330200" cy="330200"/>
            </a:xfrm>
            <a:prstGeom prst="ellipse">
              <a:avLst/>
            </a:prstGeom>
            <a:solidFill>
              <a:srgbClr val="1B642B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64" name="Image 14" descr="C:\Users\Samrat S K\AppData\Local\Temp\pg/f_target_FFFFFF.svg">
              <a:extLst>
                <a:ext uri="{FF2B5EF4-FFF2-40B4-BE49-F238E27FC236}">
                  <a16:creationId xmlns:a16="http://schemas.microsoft.com/office/drawing/2014/main" id="{51498D14-C962-1EF4-4E96-61A1D97BAF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93200" y="4386380"/>
              <a:ext cx="203200" cy="203200"/>
            </a:xfrm>
            <a:prstGeom prst="rect">
              <a:avLst/>
            </a:prstGeom>
          </p:spPr>
        </p:pic>
        <p:sp>
          <p:nvSpPr>
            <p:cNvPr id="166" name="Text 63">
              <a:extLst>
                <a:ext uri="{FF2B5EF4-FFF2-40B4-BE49-F238E27FC236}">
                  <a16:creationId xmlns:a16="http://schemas.microsoft.com/office/drawing/2014/main" id="{F3546F09-352D-8474-D166-57A7468B021B}"/>
                </a:ext>
              </a:extLst>
            </p:cNvPr>
            <p:cNvSpPr txBox="1"/>
            <p:nvPr/>
          </p:nvSpPr>
          <p:spPr>
            <a:xfrm>
              <a:off x="9448800" y="4252148"/>
              <a:ext cx="2489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Robust AIS Scoring</a:t>
              </a:r>
              <a:endParaRPr lang="en-US" sz="1150" dirty="0"/>
            </a:p>
          </p:txBody>
        </p:sp>
        <p:sp>
          <p:nvSpPr>
            <p:cNvPr id="168" name="Text 64">
              <a:extLst>
                <a:ext uri="{FF2B5EF4-FFF2-40B4-BE49-F238E27FC236}">
                  <a16:creationId xmlns:a16="http://schemas.microsoft.com/office/drawing/2014/main" id="{CAFB9EAF-66DE-020D-6739-D1EFF883B7DE}"/>
                </a:ext>
              </a:extLst>
            </p:cNvPr>
            <p:cNvSpPr txBox="1"/>
            <p:nvPr/>
          </p:nvSpPr>
          <p:spPr>
            <a:xfrm>
              <a:off x="9448800" y="4448704"/>
              <a:ext cx="2489200" cy="33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Gap detection plus spatial-temporal-directional scoring.</a:t>
              </a:r>
              <a:endParaRPr lang="en-US" sz="1000" dirty="0"/>
            </a:p>
          </p:txBody>
        </p:sp>
        <p:sp>
          <p:nvSpPr>
            <p:cNvPr id="170" name="Shape 65">
              <a:extLst>
                <a:ext uri="{FF2B5EF4-FFF2-40B4-BE49-F238E27FC236}">
                  <a16:creationId xmlns:a16="http://schemas.microsoft.com/office/drawing/2014/main" id="{AE3AF0B5-9E85-2F65-DFF2-0C81D811B8A6}"/>
                </a:ext>
              </a:extLst>
            </p:cNvPr>
            <p:cNvSpPr/>
            <p:nvPr/>
          </p:nvSpPr>
          <p:spPr>
            <a:xfrm>
              <a:off x="8661400" y="4411780"/>
              <a:ext cx="228600" cy="152400"/>
            </a:xfrm>
            <a:prstGeom prst="rightArrow">
              <a:avLst/>
            </a:prstGeom>
            <a:solidFill>
              <a:srgbClr val="0D9488"/>
            </a:solidFill>
            <a:ln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AC6BD76E-BB6F-6246-5FF2-E0EA0442CFB0}"/>
              </a:ext>
            </a:extLst>
          </p:cNvPr>
          <p:cNvGrpSpPr/>
          <p:nvPr/>
        </p:nvGrpSpPr>
        <p:grpSpPr>
          <a:xfrm>
            <a:off x="5537200" y="5039721"/>
            <a:ext cx="6477000" cy="660400"/>
            <a:chOff x="5537200" y="4894380"/>
            <a:chExt cx="6477000" cy="660400"/>
          </a:xfrm>
        </p:grpSpPr>
        <p:sp>
          <p:nvSpPr>
            <p:cNvPr id="172" name="Shape 66">
              <a:extLst>
                <a:ext uri="{FF2B5EF4-FFF2-40B4-BE49-F238E27FC236}">
                  <a16:creationId xmlns:a16="http://schemas.microsoft.com/office/drawing/2014/main" id="{DE22B1C2-DAFF-70B2-7826-E3F3477AFB30}"/>
                </a:ext>
              </a:extLst>
            </p:cNvPr>
            <p:cNvSpPr/>
            <p:nvPr/>
          </p:nvSpPr>
          <p:spPr>
            <a:xfrm>
              <a:off x="5537200" y="4894380"/>
              <a:ext cx="3073400" cy="660400"/>
            </a:xfrm>
            <a:prstGeom prst="rect">
              <a:avLst/>
            </a:prstGeom>
            <a:solidFill>
              <a:srgbClr val="FBF4F4"/>
            </a:solidFill>
            <a:ln w="19050">
              <a:solidFill>
                <a:srgbClr val="CB2B2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" name="Shape 67">
              <a:extLst>
                <a:ext uri="{FF2B5EF4-FFF2-40B4-BE49-F238E27FC236}">
                  <a16:creationId xmlns:a16="http://schemas.microsoft.com/office/drawing/2014/main" id="{9E3DD01D-6005-251A-F8B5-9632C1151DB0}"/>
                </a:ext>
              </a:extLst>
            </p:cNvPr>
            <p:cNvSpPr/>
            <p:nvPr/>
          </p:nvSpPr>
          <p:spPr>
            <a:xfrm>
              <a:off x="5626100" y="5059480"/>
              <a:ext cx="330200" cy="330200"/>
            </a:xfrm>
            <a:prstGeom prst="ellipse">
              <a:avLst/>
            </a:prstGeom>
            <a:solidFill>
              <a:srgbClr val="CB2B2D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76" name="Image 15" descr="C:\Users\Samrat S K\AppData\Local\Temp\pg/f_layers_FFFFFF.svg">
              <a:extLst>
                <a:ext uri="{FF2B5EF4-FFF2-40B4-BE49-F238E27FC236}">
                  <a16:creationId xmlns:a16="http://schemas.microsoft.com/office/drawing/2014/main" id="{6BFEE8F8-5EE2-5A0F-E816-A2A0B7F2CF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689600" y="5122980"/>
              <a:ext cx="203200" cy="203200"/>
            </a:xfrm>
            <a:prstGeom prst="rect">
              <a:avLst/>
            </a:prstGeom>
          </p:spPr>
        </p:pic>
        <p:sp>
          <p:nvSpPr>
            <p:cNvPr id="178" name="Text 68">
              <a:extLst>
                <a:ext uri="{FF2B5EF4-FFF2-40B4-BE49-F238E27FC236}">
                  <a16:creationId xmlns:a16="http://schemas.microsoft.com/office/drawing/2014/main" id="{6CDA560B-32E0-F4B5-99B3-F6EF3F23BB96}"/>
                </a:ext>
              </a:extLst>
            </p:cNvPr>
            <p:cNvSpPr txBox="1"/>
            <p:nvPr/>
          </p:nvSpPr>
          <p:spPr>
            <a:xfrm>
              <a:off x="6045200" y="4988748"/>
              <a:ext cx="2489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Resolution Mismatch</a:t>
              </a:r>
              <a:endParaRPr lang="en-US" sz="1150" dirty="0"/>
            </a:p>
          </p:txBody>
        </p:sp>
        <p:sp>
          <p:nvSpPr>
            <p:cNvPr id="180" name="Text 69">
              <a:extLst>
                <a:ext uri="{FF2B5EF4-FFF2-40B4-BE49-F238E27FC236}">
                  <a16:creationId xmlns:a16="http://schemas.microsoft.com/office/drawing/2014/main" id="{2F19060E-5687-833C-E7E1-73F6DEB29824}"/>
                </a:ext>
              </a:extLst>
            </p:cNvPr>
            <p:cNvSpPr txBox="1"/>
            <p:nvPr/>
          </p:nvSpPr>
          <p:spPr>
            <a:xfrm>
              <a:off x="6045200" y="5191360"/>
              <a:ext cx="2489200" cy="33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Satellite, ocean and AIS datasets differ in resolution.</a:t>
              </a:r>
              <a:endParaRPr lang="en-US" sz="1000" dirty="0"/>
            </a:p>
          </p:txBody>
        </p:sp>
        <p:sp>
          <p:nvSpPr>
            <p:cNvPr id="182" name="Shape 70">
              <a:extLst>
                <a:ext uri="{FF2B5EF4-FFF2-40B4-BE49-F238E27FC236}">
                  <a16:creationId xmlns:a16="http://schemas.microsoft.com/office/drawing/2014/main" id="{0867D4E0-30D9-60D1-A428-AB6CAEF06E9F}"/>
                </a:ext>
              </a:extLst>
            </p:cNvPr>
            <p:cNvSpPr/>
            <p:nvPr/>
          </p:nvSpPr>
          <p:spPr>
            <a:xfrm>
              <a:off x="8940800" y="4894380"/>
              <a:ext cx="3073400" cy="660400"/>
            </a:xfrm>
            <a:prstGeom prst="rect">
              <a:avLst/>
            </a:prstGeom>
            <a:solidFill>
              <a:srgbClr val="EFFDEF"/>
            </a:solidFill>
            <a:ln w="19050">
              <a:solidFill>
                <a:srgbClr val="1B642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" name="Shape 71">
              <a:extLst>
                <a:ext uri="{FF2B5EF4-FFF2-40B4-BE49-F238E27FC236}">
                  <a16:creationId xmlns:a16="http://schemas.microsoft.com/office/drawing/2014/main" id="{0C268A4E-12CD-4DC4-A08D-9F7C3C706539}"/>
                </a:ext>
              </a:extLst>
            </p:cNvPr>
            <p:cNvSpPr/>
            <p:nvPr/>
          </p:nvSpPr>
          <p:spPr>
            <a:xfrm>
              <a:off x="9029700" y="5059480"/>
              <a:ext cx="330200" cy="330200"/>
            </a:xfrm>
            <a:prstGeom prst="ellipse">
              <a:avLst/>
            </a:prstGeom>
            <a:solidFill>
              <a:srgbClr val="1B642B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86" name="Image 16" descr="C:\Users\Samrat S K\AppData\Local\Temp\pg/f_db_FFFFFF.svg">
              <a:extLst>
                <a:ext uri="{FF2B5EF4-FFF2-40B4-BE49-F238E27FC236}">
                  <a16:creationId xmlns:a16="http://schemas.microsoft.com/office/drawing/2014/main" id="{B98327A4-DD49-D05F-3DC5-278B9A0A43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93200" y="5122980"/>
              <a:ext cx="203200" cy="203200"/>
            </a:xfrm>
            <a:prstGeom prst="rect">
              <a:avLst/>
            </a:prstGeom>
          </p:spPr>
        </p:pic>
        <p:sp>
          <p:nvSpPr>
            <p:cNvPr id="188" name="Text 72">
              <a:extLst>
                <a:ext uri="{FF2B5EF4-FFF2-40B4-BE49-F238E27FC236}">
                  <a16:creationId xmlns:a16="http://schemas.microsoft.com/office/drawing/2014/main" id="{0281472D-89A7-FA28-E9A6-733D3EF16FD3}"/>
                </a:ext>
              </a:extLst>
            </p:cNvPr>
            <p:cNvSpPr txBox="1"/>
            <p:nvPr/>
          </p:nvSpPr>
          <p:spPr>
            <a:xfrm>
              <a:off x="9448800" y="4982692"/>
              <a:ext cx="24892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Spatio-Temporal Harmonization</a:t>
              </a:r>
              <a:endParaRPr lang="en-US" sz="1150" dirty="0"/>
            </a:p>
          </p:txBody>
        </p:sp>
        <p:sp>
          <p:nvSpPr>
            <p:cNvPr id="190" name="Text 73">
              <a:extLst>
                <a:ext uri="{FF2B5EF4-FFF2-40B4-BE49-F238E27FC236}">
                  <a16:creationId xmlns:a16="http://schemas.microsoft.com/office/drawing/2014/main" id="{329DD8CA-FB45-2ACD-CE32-1B32B4E7B3A7}"/>
                </a:ext>
              </a:extLst>
            </p:cNvPr>
            <p:cNvSpPr txBox="1"/>
            <p:nvPr/>
          </p:nvSpPr>
          <p:spPr>
            <a:xfrm>
              <a:off x="9448800" y="5179248"/>
              <a:ext cx="2489200" cy="33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Interpolation, timestamp alignment, resolution-aware processing.</a:t>
              </a:r>
              <a:endParaRPr lang="en-US" sz="1000" dirty="0"/>
            </a:p>
          </p:txBody>
        </p:sp>
        <p:sp>
          <p:nvSpPr>
            <p:cNvPr id="192" name="Shape 74">
              <a:extLst>
                <a:ext uri="{FF2B5EF4-FFF2-40B4-BE49-F238E27FC236}">
                  <a16:creationId xmlns:a16="http://schemas.microsoft.com/office/drawing/2014/main" id="{138559BD-027F-33F2-500E-8C4D33CBA48F}"/>
                </a:ext>
              </a:extLst>
            </p:cNvPr>
            <p:cNvSpPr/>
            <p:nvPr/>
          </p:nvSpPr>
          <p:spPr>
            <a:xfrm>
              <a:off x="8661400" y="5148380"/>
              <a:ext cx="228600" cy="152400"/>
            </a:xfrm>
            <a:prstGeom prst="rightArrow">
              <a:avLst/>
            </a:prstGeom>
            <a:solidFill>
              <a:srgbClr val="0D9488"/>
            </a:solidFill>
            <a:ln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6" name="Shape 23">
            <a:extLst>
              <a:ext uri="{FF2B5EF4-FFF2-40B4-BE49-F238E27FC236}">
                <a16:creationId xmlns:a16="http://schemas.microsoft.com/office/drawing/2014/main" id="{9194A8D2-42B2-3BE1-C040-17601EC4027B}"/>
              </a:ext>
            </a:extLst>
          </p:cNvPr>
          <p:cNvSpPr/>
          <p:nvPr/>
        </p:nvSpPr>
        <p:spPr>
          <a:xfrm>
            <a:off x="7852200" y="1078559"/>
            <a:ext cx="254000" cy="254000"/>
          </a:xfrm>
          <a:prstGeom prst="ellipse">
            <a:avLst/>
          </a:prstGeom>
          <a:solidFill>
            <a:srgbClr val="2E1193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IN" sz="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207" name="Shape 23">
            <a:extLst>
              <a:ext uri="{FF2B5EF4-FFF2-40B4-BE49-F238E27FC236}">
                <a16:creationId xmlns:a16="http://schemas.microsoft.com/office/drawing/2014/main" id="{BBFE6634-EE7D-5AB7-20AC-981DDAD2BCB3}"/>
              </a:ext>
            </a:extLst>
          </p:cNvPr>
          <p:cNvSpPr/>
          <p:nvPr/>
        </p:nvSpPr>
        <p:spPr>
          <a:xfrm>
            <a:off x="9929241" y="1054742"/>
            <a:ext cx="254000" cy="254000"/>
          </a:xfrm>
          <a:prstGeom prst="ellipse">
            <a:avLst/>
          </a:prstGeom>
          <a:solidFill>
            <a:srgbClr val="2E1193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IN" sz="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09" name="Text 10">
            <a:extLst>
              <a:ext uri="{FF2B5EF4-FFF2-40B4-BE49-F238E27FC236}">
                <a16:creationId xmlns:a16="http://schemas.microsoft.com/office/drawing/2014/main" id="{966C8FFE-AD47-EB92-2945-6E0324081F33}"/>
              </a:ext>
            </a:extLst>
          </p:cNvPr>
          <p:cNvSpPr txBox="1"/>
          <p:nvPr/>
        </p:nvSpPr>
        <p:spPr>
          <a:xfrm>
            <a:off x="1211711" y="2113864"/>
            <a:ext cx="4195596" cy="334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Tolerant</a:t>
            </a:r>
            <a:endParaRPr lang="en-US" sz="11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200"/>
              </a:spcAft>
              <a:buSzPct val="100000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missing/weak data gracefully without producing unreliable results.</a:t>
            </a:r>
            <a:endParaRPr lang="en-US" sz="1000" dirty="0"/>
          </a:p>
        </p:txBody>
      </p:sp>
      <p:sp>
        <p:nvSpPr>
          <p:cNvPr id="212" name="Text 10">
            <a:extLst>
              <a:ext uri="{FF2B5EF4-FFF2-40B4-BE49-F238E27FC236}">
                <a16:creationId xmlns:a16="http://schemas.microsoft.com/office/drawing/2014/main" id="{E77329AA-2DE6-7A8F-8795-AFA830A30EE7}"/>
              </a:ext>
            </a:extLst>
          </p:cNvPr>
          <p:cNvSpPr txBox="1"/>
          <p:nvPr/>
        </p:nvSpPr>
        <p:spPr>
          <a:xfrm>
            <a:off x="1211711" y="2507246"/>
            <a:ext cx="4187129" cy="334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Atomicity</a:t>
            </a:r>
            <a:endParaRPr lang="en-US" sz="11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200"/>
              </a:spcAft>
              <a:buSzPct val="100000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modules run separately and are parallelized for speed.</a:t>
            </a:r>
            <a:endParaRPr lang="en-US" sz="1000" dirty="0"/>
          </a:p>
        </p:txBody>
      </p:sp>
      <p:sp>
        <p:nvSpPr>
          <p:cNvPr id="216" name="Text 10">
            <a:extLst>
              <a:ext uri="{FF2B5EF4-FFF2-40B4-BE49-F238E27FC236}">
                <a16:creationId xmlns:a16="http://schemas.microsoft.com/office/drawing/2014/main" id="{DA8EDAF0-AF45-3DEA-9A56-F8BC3A26B9CB}"/>
              </a:ext>
            </a:extLst>
          </p:cNvPr>
          <p:cNvSpPr txBox="1"/>
          <p:nvPr/>
        </p:nvSpPr>
        <p:spPr>
          <a:xfrm>
            <a:off x="1211711" y="3421180"/>
            <a:ext cx="4140200" cy="334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Infrastructure Dependency </a:t>
            </a:r>
            <a:endParaRPr lang="en-US" sz="11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200"/>
              </a:spcAft>
              <a:buSzPct val="100000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existing satellite, environmental and AIS information.</a:t>
            </a:r>
            <a:endParaRPr lang="en-US" sz="1000" dirty="0"/>
          </a:p>
        </p:txBody>
      </p:sp>
      <p:sp>
        <p:nvSpPr>
          <p:cNvPr id="218" name="Text 10">
            <a:extLst>
              <a:ext uri="{FF2B5EF4-FFF2-40B4-BE49-F238E27FC236}">
                <a16:creationId xmlns:a16="http://schemas.microsoft.com/office/drawing/2014/main" id="{E9D2902E-8E9D-3D71-2126-F6F00486063A}"/>
              </a:ext>
            </a:extLst>
          </p:cNvPr>
          <p:cNvSpPr txBox="1"/>
          <p:nvPr/>
        </p:nvSpPr>
        <p:spPr>
          <a:xfrm>
            <a:off x="1211711" y="4248439"/>
            <a:ext cx="4187129" cy="334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</a:t>
            </a:r>
            <a:endParaRPr lang="en-US" sz="11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200"/>
              </a:spcAft>
              <a:buSzPct val="100000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can be swapped or upgraded easily</a:t>
            </a:r>
            <a:endParaRPr lang="en-US" sz="1000" dirty="0"/>
          </a:p>
        </p:txBody>
      </p:sp>
      <p:sp>
        <p:nvSpPr>
          <p:cNvPr id="219" name="Text 10">
            <a:extLst>
              <a:ext uri="{FF2B5EF4-FFF2-40B4-BE49-F238E27FC236}">
                <a16:creationId xmlns:a16="http://schemas.microsoft.com/office/drawing/2014/main" id="{74ED6522-88D3-6A08-A52B-4447005C9F12}"/>
              </a:ext>
            </a:extLst>
          </p:cNvPr>
          <p:cNvSpPr txBox="1"/>
          <p:nvPr/>
        </p:nvSpPr>
        <p:spPr>
          <a:xfrm>
            <a:off x="1207428" y="5101627"/>
            <a:ext cx="4140200" cy="334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Faster Response  </a:t>
            </a:r>
            <a:endParaRPr lang="en-US" sz="11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200"/>
              </a:spcAft>
              <a:buSzPct val="100000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and prediction significantly reduce response delay.</a:t>
            </a:r>
            <a:endParaRPr lang="en-US" sz="1000" dirty="0"/>
          </a:p>
        </p:txBody>
      </p:sp>
      <p:sp>
        <p:nvSpPr>
          <p:cNvPr id="220" name="Text 10">
            <a:extLst>
              <a:ext uri="{FF2B5EF4-FFF2-40B4-BE49-F238E27FC236}">
                <a16:creationId xmlns:a16="http://schemas.microsoft.com/office/drawing/2014/main" id="{CF5F5358-B369-8F03-8CAC-CD84CCEA282A}"/>
              </a:ext>
            </a:extLst>
          </p:cNvPr>
          <p:cNvSpPr txBox="1"/>
          <p:nvPr/>
        </p:nvSpPr>
        <p:spPr>
          <a:xfrm>
            <a:off x="1215306" y="5494103"/>
            <a:ext cx="4271434" cy="556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Environment &amp; Coastal Livelihoods </a:t>
            </a:r>
            <a:endParaRPr lang="en-US" sz="11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200"/>
              </a:spcAft>
              <a:buSzPct val="100000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Timely alerts support cleanup and spill </a:t>
            </a:r>
          </a:p>
          <a:p>
            <a:pPr>
              <a:spcAft>
                <a:spcPts val="200"/>
              </a:spcAft>
              <a:buSzPct val="100000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</a:p>
        </p:txBody>
      </p:sp>
      <p:pic>
        <p:nvPicPr>
          <p:cNvPr id="223" name="Image 1">
            <a:extLst>
              <a:ext uri="{FF2B5EF4-FFF2-40B4-BE49-F238E27FC236}">
                <a16:creationId xmlns:a16="http://schemas.microsoft.com/office/drawing/2014/main" id="{A2756ED9-55DE-B796-1C1D-7C088E7D85D0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27835" y="1490998"/>
            <a:ext cx="279399" cy="279399"/>
          </a:xfrm>
          <a:prstGeom prst="rect">
            <a:avLst/>
          </a:prstGeom>
        </p:spPr>
      </p:pic>
      <p:pic>
        <p:nvPicPr>
          <p:cNvPr id="224" name="Image 1">
            <a:extLst>
              <a:ext uri="{FF2B5EF4-FFF2-40B4-BE49-F238E27FC236}">
                <a16:creationId xmlns:a16="http://schemas.microsoft.com/office/drawing/2014/main" id="{7D3656DD-3301-7487-506C-8431B7BB0841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827835" y="2146483"/>
            <a:ext cx="269396" cy="269396"/>
          </a:xfrm>
          <a:prstGeom prst="rect">
            <a:avLst/>
          </a:prstGeom>
        </p:spPr>
      </p:pic>
      <p:pic>
        <p:nvPicPr>
          <p:cNvPr id="225" name="Image 1">
            <a:extLst>
              <a:ext uri="{FF2B5EF4-FFF2-40B4-BE49-F238E27FC236}">
                <a16:creationId xmlns:a16="http://schemas.microsoft.com/office/drawing/2014/main" id="{2F2088F2-7FC5-DEC7-B36A-C785E84B9EFE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27835" y="2534864"/>
            <a:ext cx="279399" cy="279399"/>
          </a:xfrm>
          <a:prstGeom prst="rect">
            <a:avLst/>
          </a:prstGeom>
        </p:spPr>
      </p:pic>
      <p:sp>
        <p:nvSpPr>
          <p:cNvPr id="248" name="Text 10">
            <a:extLst>
              <a:ext uri="{FF2B5EF4-FFF2-40B4-BE49-F238E27FC236}">
                <a16:creationId xmlns:a16="http://schemas.microsoft.com/office/drawing/2014/main" id="{EF05B548-4BD3-B4B6-3889-F570970CDD02}"/>
              </a:ext>
            </a:extLst>
          </p:cNvPr>
          <p:cNvSpPr txBox="1"/>
          <p:nvPr/>
        </p:nvSpPr>
        <p:spPr>
          <a:xfrm>
            <a:off x="1219200" y="3839534"/>
            <a:ext cx="4144434" cy="334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</a:t>
            </a:r>
            <a:endParaRPr lang="en-US" sz="115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200"/>
              </a:spcAft>
              <a:buSzPct val="100000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existing data pipelines; very low setup and maintenance cost</a:t>
            </a:r>
            <a:endParaRPr lang="en-US" sz="1000" dirty="0"/>
          </a:p>
        </p:txBody>
      </p:sp>
      <p:pic>
        <p:nvPicPr>
          <p:cNvPr id="252" name="Image 1">
            <a:extLst>
              <a:ext uri="{FF2B5EF4-FFF2-40B4-BE49-F238E27FC236}">
                <a16:creationId xmlns:a16="http://schemas.microsoft.com/office/drawing/2014/main" id="{68F0F1A8-89DD-3C02-E90F-A980E0705D24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27835" y="3457932"/>
            <a:ext cx="268991" cy="269396"/>
          </a:xfrm>
          <a:prstGeom prst="rect">
            <a:avLst/>
          </a:prstGeom>
        </p:spPr>
      </p:pic>
      <p:pic>
        <p:nvPicPr>
          <p:cNvPr id="253" name="Image 1">
            <a:extLst>
              <a:ext uri="{FF2B5EF4-FFF2-40B4-BE49-F238E27FC236}">
                <a16:creationId xmlns:a16="http://schemas.microsoft.com/office/drawing/2014/main" id="{A34E333C-9DA3-2B11-A49E-ADEE2F3D5205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827835" y="3898893"/>
            <a:ext cx="269396" cy="263566"/>
          </a:xfrm>
          <a:prstGeom prst="rect">
            <a:avLst/>
          </a:prstGeom>
        </p:spPr>
      </p:pic>
      <p:pic>
        <p:nvPicPr>
          <p:cNvPr id="254" name="Image 1">
            <a:extLst>
              <a:ext uri="{FF2B5EF4-FFF2-40B4-BE49-F238E27FC236}">
                <a16:creationId xmlns:a16="http://schemas.microsoft.com/office/drawing/2014/main" id="{EB09D614-F89B-4F21-F352-7B76E086C80A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27835" y="5148952"/>
            <a:ext cx="269029" cy="269396"/>
          </a:xfrm>
          <a:prstGeom prst="rect">
            <a:avLst/>
          </a:prstGeom>
        </p:spPr>
      </p:pic>
      <p:pic>
        <p:nvPicPr>
          <p:cNvPr id="257" name="Image 1">
            <a:extLst>
              <a:ext uri="{FF2B5EF4-FFF2-40B4-BE49-F238E27FC236}">
                <a16:creationId xmlns:a16="http://schemas.microsoft.com/office/drawing/2014/main" id="{167F74B8-A6DD-B84F-16EC-0D858B38EB43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27835" y="5557245"/>
            <a:ext cx="269396" cy="269396"/>
          </a:xfrm>
          <a:prstGeom prst="rect">
            <a:avLst/>
          </a:prstGeom>
        </p:spPr>
      </p:pic>
      <p:grpSp>
        <p:nvGrpSpPr>
          <p:cNvPr id="260" name="Group 259">
            <a:extLst>
              <a:ext uri="{FF2B5EF4-FFF2-40B4-BE49-F238E27FC236}">
                <a16:creationId xmlns:a16="http://schemas.microsoft.com/office/drawing/2014/main" id="{6F12292C-8825-2B7D-B029-751BE7B81F3B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261" name="Picture 260">
              <a:extLst>
                <a:ext uri="{FF2B5EF4-FFF2-40B4-BE49-F238E27FC236}">
                  <a16:creationId xmlns:a16="http://schemas.microsoft.com/office/drawing/2014/main" id="{9F68F73E-EE27-CBEA-B035-1167D2084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262" name="Rectangle: Rounded Corners 261">
              <a:extLst>
                <a:ext uri="{FF2B5EF4-FFF2-40B4-BE49-F238E27FC236}">
                  <a16:creationId xmlns:a16="http://schemas.microsoft.com/office/drawing/2014/main" id="{89773990-6CD3-D777-7BE1-F70F42EADD08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263" name="Title 1">
              <a:extLst>
                <a:ext uri="{FF2B5EF4-FFF2-40B4-BE49-F238E27FC236}">
                  <a16:creationId xmlns:a16="http://schemas.microsoft.com/office/drawing/2014/main" id="{B084A3AB-EB85-4274-07B7-1953406D44F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Feasibility and Viability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pic>
        <p:nvPicPr>
          <p:cNvPr id="294" name="Image 1">
            <a:extLst>
              <a:ext uri="{FF2B5EF4-FFF2-40B4-BE49-F238E27FC236}">
                <a16:creationId xmlns:a16="http://schemas.microsoft.com/office/drawing/2014/main" id="{D0EF475A-A24A-336D-5AF6-F0FFDCCB148E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827835" y="4329886"/>
            <a:ext cx="269396" cy="26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Image 17" descr="C:/Users/Samrat S K/Downloads/diagrams/sea_strip.png">
            <a:extLst>
              <a:ext uri="{FF2B5EF4-FFF2-40B4-BE49-F238E27FC236}">
                <a16:creationId xmlns:a16="http://schemas.microsoft.com/office/drawing/2014/main" id="{33E8A872-6D40-BF99-E98D-A89BE9CED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57036"/>
            <a:ext cx="12192000" cy="9525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05542B2-C61C-0538-3E22-2A705FAC86A9}"/>
              </a:ext>
            </a:extLst>
          </p:cNvPr>
          <p:cNvSpPr/>
          <p:nvPr/>
        </p:nvSpPr>
        <p:spPr>
          <a:xfrm>
            <a:off x="0" y="95190"/>
            <a:ext cx="12191999" cy="844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E50A0B-D26B-D195-6649-8845CCDB7601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57E2FA5-5D7A-6712-D188-D3F1E88FD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9E321BD-DACB-3BCB-A042-2219A49B6AE6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51CA121F-A497-B06D-918A-82573566DAE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Impacts and Benefits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9D665AF-96BC-A58C-C534-FDFAE4C7FD66}"/>
              </a:ext>
            </a:extLst>
          </p:cNvPr>
          <p:cNvSpPr txBox="1"/>
          <p:nvPr/>
        </p:nvSpPr>
        <p:spPr>
          <a:xfrm>
            <a:off x="1032995" y="1046707"/>
            <a:ext cx="190435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chemeClr val="bg1"/>
                </a:solidFill>
              </a:rPr>
              <a:t>Who Benefits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C74777-0520-E30B-D350-78678C53EE2C}"/>
              </a:ext>
            </a:extLst>
          </p:cNvPr>
          <p:cNvSpPr txBox="1"/>
          <p:nvPr/>
        </p:nvSpPr>
        <p:spPr>
          <a:xfrm>
            <a:off x="4648200" y="1046707"/>
            <a:ext cx="190435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chemeClr val="bg1"/>
                </a:solidFill>
              </a:rPr>
              <a:t>Value Created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80A03E-F7C2-EF5E-5F83-3BDBECD9C00D}"/>
              </a:ext>
            </a:extLst>
          </p:cNvPr>
          <p:cNvSpPr txBox="1"/>
          <p:nvPr/>
        </p:nvSpPr>
        <p:spPr>
          <a:xfrm>
            <a:off x="8525706" y="1046707"/>
            <a:ext cx="2320431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chemeClr val="bg1"/>
                </a:solidFill>
              </a:rPr>
              <a:t>Why “GUARDIANS”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2D8670-1E76-A615-10F3-FEB142EAC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9536"/>
            <a:ext cx="12191999" cy="2484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30CC2E5-3527-DEC4-4741-9B35F8C5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058" y="6627806"/>
            <a:ext cx="2844800" cy="211924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9" name="Image 0" descr="C:\Users\Samrat S K\AppData\Local\Temp\pg/f_people_2F5597.svg">
            <a:extLst>
              <a:ext uri="{FF2B5EF4-FFF2-40B4-BE49-F238E27FC236}">
                <a16:creationId xmlns:a16="http://schemas.microsoft.com/office/drawing/2014/main" id="{79949CB2-0B6B-E5C1-435C-B7BDBE4767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7800" y="685800"/>
            <a:ext cx="203200" cy="203200"/>
          </a:xfrm>
          <a:prstGeom prst="rect">
            <a:avLst/>
          </a:prstGeom>
        </p:spPr>
      </p:pic>
      <p:sp>
        <p:nvSpPr>
          <p:cNvPr id="161" name="Text 5">
            <a:extLst>
              <a:ext uri="{FF2B5EF4-FFF2-40B4-BE49-F238E27FC236}">
                <a16:creationId xmlns:a16="http://schemas.microsoft.com/office/drawing/2014/main" id="{E1BE8DED-15A7-D2F4-9CE1-472DE74B1942}"/>
              </a:ext>
            </a:extLst>
          </p:cNvPr>
          <p:cNvSpPr txBox="1"/>
          <p:nvPr/>
        </p:nvSpPr>
        <p:spPr>
          <a:xfrm>
            <a:off x="457200" y="6477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Target Audience</a:t>
            </a:r>
            <a:endParaRPr lang="en-US" sz="1600" dirty="0"/>
          </a:p>
        </p:txBody>
      </p:sp>
      <p:sp>
        <p:nvSpPr>
          <p:cNvPr id="163" name="Shape 6">
            <a:extLst>
              <a:ext uri="{FF2B5EF4-FFF2-40B4-BE49-F238E27FC236}">
                <a16:creationId xmlns:a16="http://schemas.microsoft.com/office/drawing/2014/main" id="{18429153-D4E5-4881-E122-0B2E175701E6}"/>
              </a:ext>
            </a:extLst>
          </p:cNvPr>
          <p:cNvSpPr/>
          <p:nvPr/>
        </p:nvSpPr>
        <p:spPr>
          <a:xfrm>
            <a:off x="177800" y="1016000"/>
            <a:ext cx="2832100" cy="1231900"/>
          </a:xfrm>
          <a:prstGeom prst="rect">
            <a:avLst/>
          </a:prstGeom>
          <a:solidFill>
            <a:srgbClr val="F2F6FE"/>
          </a:solidFill>
          <a:ln w="19050">
            <a:solidFill>
              <a:srgbClr val="2B6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5" name="Shape 7">
            <a:extLst>
              <a:ext uri="{FF2B5EF4-FFF2-40B4-BE49-F238E27FC236}">
                <a16:creationId xmlns:a16="http://schemas.microsoft.com/office/drawing/2014/main" id="{0DC2E3E1-D2B0-0A13-4F70-6805F510B686}"/>
              </a:ext>
            </a:extLst>
          </p:cNvPr>
          <p:cNvSpPr/>
          <p:nvPr/>
        </p:nvSpPr>
        <p:spPr>
          <a:xfrm>
            <a:off x="304800" y="1143000"/>
            <a:ext cx="406400" cy="406400"/>
          </a:xfrm>
          <a:prstGeom prst="ellipse">
            <a:avLst/>
          </a:prstGeom>
          <a:solidFill>
            <a:srgbClr val="2B61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7" name="Image 1" descr="C:\Users\Samrat S K\AppData\Local\Temp\pg/f_ship_FFFFFF.svg">
            <a:extLst>
              <a:ext uri="{FF2B5EF4-FFF2-40B4-BE49-F238E27FC236}">
                <a16:creationId xmlns:a16="http://schemas.microsoft.com/office/drawing/2014/main" id="{A686F367-BC0C-1419-E6B7-B867CA0163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700" y="1231900"/>
            <a:ext cx="228600" cy="228600"/>
          </a:xfrm>
          <a:prstGeom prst="rect">
            <a:avLst/>
          </a:prstGeom>
        </p:spPr>
      </p:pic>
      <p:sp>
        <p:nvSpPr>
          <p:cNvPr id="169" name="Text 8">
            <a:extLst>
              <a:ext uri="{FF2B5EF4-FFF2-40B4-BE49-F238E27FC236}">
                <a16:creationId xmlns:a16="http://schemas.microsoft.com/office/drawing/2014/main" id="{F868D722-204E-1298-455D-BC9409E41E2A}"/>
              </a:ext>
            </a:extLst>
          </p:cNvPr>
          <p:cNvSpPr txBox="1"/>
          <p:nvPr/>
        </p:nvSpPr>
        <p:spPr>
          <a:xfrm>
            <a:off x="812800" y="1143000"/>
            <a:ext cx="2095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Authorities</a:t>
            </a:r>
            <a:endParaRPr lang="en-US" sz="1400" dirty="0"/>
          </a:p>
        </p:txBody>
      </p:sp>
      <p:sp>
        <p:nvSpPr>
          <p:cNvPr id="171" name="Text 9">
            <a:extLst>
              <a:ext uri="{FF2B5EF4-FFF2-40B4-BE49-F238E27FC236}">
                <a16:creationId xmlns:a16="http://schemas.microsoft.com/office/drawing/2014/main" id="{4706143D-A9D8-B515-DEA3-37CE8D84CAF3}"/>
              </a:ext>
            </a:extLst>
          </p:cNvPr>
          <p:cNvSpPr txBox="1"/>
          <p:nvPr/>
        </p:nvSpPr>
        <p:spPr>
          <a:xfrm>
            <a:off x="355600" y="1625600"/>
            <a:ext cx="2501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incident assessment and source investigation.</a:t>
            </a:r>
            <a:endParaRPr lang="en-US" sz="1100" dirty="0"/>
          </a:p>
        </p:txBody>
      </p:sp>
      <p:sp>
        <p:nvSpPr>
          <p:cNvPr id="173" name="Shape 10">
            <a:extLst>
              <a:ext uri="{FF2B5EF4-FFF2-40B4-BE49-F238E27FC236}">
                <a16:creationId xmlns:a16="http://schemas.microsoft.com/office/drawing/2014/main" id="{F6463DBB-2D83-F9A0-BB37-ECA3AAA769FE}"/>
              </a:ext>
            </a:extLst>
          </p:cNvPr>
          <p:cNvSpPr/>
          <p:nvPr/>
        </p:nvSpPr>
        <p:spPr>
          <a:xfrm>
            <a:off x="3136900" y="1016000"/>
            <a:ext cx="2832100" cy="1231900"/>
          </a:xfrm>
          <a:prstGeom prst="rect">
            <a:avLst/>
          </a:prstGeom>
          <a:solidFill>
            <a:srgbClr val="EFFDEF"/>
          </a:solidFill>
          <a:ln w="19050">
            <a:solidFill>
              <a:srgbClr val="1B64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5" name="Shape 11">
            <a:extLst>
              <a:ext uri="{FF2B5EF4-FFF2-40B4-BE49-F238E27FC236}">
                <a16:creationId xmlns:a16="http://schemas.microsoft.com/office/drawing/2014/main" id="{ECA4BAA1-49EF-B8C3-CD2A-A262590963F3}"/>
              </a:ext>
            </a:extLst>
          </p:cNvPr>
          <p:cNvSpPr/>
          <p:nvPr/>
        </p:nvSpPr>
        <p:spPr>
          <a:xfrm>
            <a:off x="3263900" y="1143000"/>
            <a:ext cx="406400" cy="406400"/>
          </a:xfrm>
          <a:prstGeom prst="ellipse">
            <a:avLst/>
          </a:prstGeom>
          <a:solidFill>
            <a:srgbClr val="1B64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7" name="Image 2" descr="C:\Users\Samrat S K\AppData\Local\Temp\pg/f_helmet_FFFFFF.svg">
            <a:extLst>
              <a:ext uri="{FF2B5EF4-FFF2-40B4-BE49-F238E27FC236}">
                <a16:creationId xmlns:a16="http://schemas.microsoft.com/office/drawing/2014/main" id="{6A6F2AB1-86C2-804E-E253-679D30FA20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52800" y="1231900"/>
            <a:ext cx="228600" cy="228600"/>
          </a:xfrm>
          <a:prstGeom prst="rect">
            <a:avLst/>
          </a:prstGeom>
        </p:spPr>
      </p:pic>
      <p:sp>
        <p:nvSpPr>
          <p:cNvPr id="179" name="Text 12">
            <a:extLst>
              <a:ext uri="{FF2B5EF4-FFF2-40B4-BE49-F238E27FC236}">
                <a16:creationId xmlns:a16="http://schemas.microsoft.com/office/drawing/2014/main" id="{9F91509C-6B95-9E6D-67DF-D5A76843D0FB}"/>
              </a:ext>
            </a:extLst>
          </p:cNvPr>
          <p:cNvSpPr txBox="1"/>
          <p:nvPr/>
        </p:nvSpPr>
        <p:spPr>
          <a:xfrm>
            <a:off x="3771900" y="1143000"/>
            <a:ext cx="2095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Teams</a:t>
            </a:r>
            <a:endParaRPr lang="en-US" sz="1400" dirty="0"/>
          </a:p>
        </p:txBody>
      </p:sp>
      <p:sp>
        <p:nvSpPr>
          <p:cNvPr id="181" name="Text 13">
            <a:extLst>
              <a:ext uri="{FF2B5EF4-FFF2-40B4-BE49-F238E27FC236}">
                <a16:creationId xmlns:a16="http://schemas.microsoft.com/office/drawing/2014/main" id="{8E8A63F5-A6FF-6D6B-4385-446CA66D81BA}"/>
              </a:ext>
            </a:extLst>
          </p:cNvPr>
          <p:cNvSpPr txBox="1"/>
          <p:nvPr/>
        </p:nvSpPr>
        <p:spPr>
          <a:xfrm>
            <a:off x="3314700" y="1625600"/>
            <a:ext cx="2501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Prioritised containment, surveillance and cleanup zones.</a:t>
            </a:r>
            <a:endParaRPr lang="en-US" sz="1100" dirty="0"/>
          </a:p>
        </p:txBody>
      </p:sp>
      <p:sp>
        <p:nvSpPr>
          <p:cNvPr id="183" name="Shape 14">
            <a:extLst>
              <a:ext uri="{FF2B5EF4-FFF2-40B4-BE49-F238E27FC236}">
                <a16:creationId xmlns:a16="http://schemas.microsoft.com/office/drawing/2014/main" id="{1DB88AE1-DE6E-7A30-5D86-ABF21F7E1242}"/>
              </a:ext>
            </a:extLst>
          </p:cNvPr>
          <p:cNvSpPr/>
          <p:nvPr/>
        </p:nvSpPr>
        <p:spPr>
          <a:xfrm>
            <a:off x="177800" y="2362200"/>
            <a:ext cx="2832100" cy="1231900"/>
          </a:xfrm>
          <a:prstGeom prst="rect">
            <a:avLst/>
          </a:prstGeom>
          <a:solidFill>
            <a:srgbClr val="FEF5EF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5" name="Shape 15">
            <a:extLst>
              <a:ext uri="{FF2B5EF4-FFF2-40B4-BE49-F238E27FC236}">
                <a16:creationId xmlns:a16="http://schemas.microsoft.com/office/drawing/2014/main" id="{DF7CF7AC-0934-72F6-430D-054072F8BFB5}"/>
              </a:ext>
            </a:extLst>
          </p:cNvPr>
          <p:cNvSpPr/>
          <p:nvPr/>
        </p:nvSpPr>
        <p:spPr>
          <a:xfrm>
            <a:off x="304800" y="2489200"/>
            <a:ext cx="406400" cy="4064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7" name="Image 3" descr="C:\Users\Samrat S K\AppData\Local\Temp\pg/f_anchor_FFFFFF.svg">
            <a:extLst>
              <a:ext uri="{FF2B5EF4-FFF2-40B4-BE49-F238E27FC236}">
                <a16:creationId xmlns:a16="http://schemas.microsoft.com/office/drawing/2014/main" id="{C2E36A96-2557-E366-2CB9-9AC03F12B7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3700" y="2578100"/>
            <a:ext cx="228600" cy="228600"/>
          </a:xfrm>
          <a:prstGeom prst="rect">
            <a:avLst/>
          </a:prstGeom>
        </p:spPr>
      </p:pic>
      <p:sp>
        <p:nvSpPr>
          <p:cNvPr id="189" name="Text 16">
            <a:extLst>
              <a:ext uri="{FF2B5EF4-FFF2-40B4-BE49-F238E27FC236}">
                <a16:creationId xmlns:a16="http://schemas.microsoft.com/office/drawing/2014/main" id="{4775EA5B-8C47-2D90-9287-10408C216405}"/>
              </a:ext>
            </a:extLst>
          </p:cNvPr>
          <p:cNvSpPr txBox="1"/>
          <p:nvPr/>
        </p:nvSpPr>
        <p:spPr>
          <a:xfrm>
            <a:off x="812800" y="2489200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Investigators</a:t>
            </a:r>
            <a:endParaRPr lang="en-US" sz="1400" dirty="0"/>
          </a:p>
        </p:txBody>
      </p:sp>
      <p:sp>
        <p:nvSpPr>
          <p:cNvPr id="191" name="Text 17">
            <a:extLst>
              <a:ext uri="{FF2B5EF4-FFF2-40B4-BE49-F238E27FC236}">
                <a16:creationId xmlns:a16="http://schemas.microsoft.com/office/drawing/2014/main" id="{BD5F7319-6DC4-2993-8A10-4C1868C0D9FA}"/>
              </a:ext>
            </a:extLst>
          </p:cNvPr>
          <p:cNvSpPr txBox="1"/>
          <p:nvPr/>
        </p:nvSpPr>
        <p:spPr>
          <a:xfrm>
            <a:off x="355600" y="2971800"/>
            <a:ext cx="2501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vessel screening with explainable attribution.</a:t>
            </a:r>
            <a:endParaRPr lang="en-US" sz="1100" dirty="0"/>
          </a:p>
        </p:txBody>
      </p:sp>
      <p:sp>
        <p:nvSpPr>
          <p:cNvPr id="193" name="Shape 18">
            <a:extLst>
              <a:ext uri="{FF2B5EF4-FFF2-40B4-BE49-F238E27FC236}">
                <a16:creationId xmlns:a16="http://schemas.microsoft.com/office/drawing/2014/main" id="{5E90A2F0-DD2E-FDCB-7656-26AA9D5C44EF}"/>
              </a:ext>
            </a:extLst>
          </p:cNvPr>
          <p:cNvSpPr/>
          <p:nvPr/>
        </p:nvSpPr>
        <p:spPr>
          <a:xfrm>
            <a:off x="3136900" y="2362200"/>
            <a:ext cx="2832100" cy="1231900"/>
          </a:xfrm>
          <a:prstGeom prst="rect">
            <a:avLst/>
          </a:prstGeom>
          <a:solidFill>
            <a:srgbClr val="EEF9F7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5" name="Shape 19">
            <a:extLst>
              <a:ext uri="{FF2B5EF4-FFF2-40B4-BE49-F238E27FC236}">
                <a16:creationId xmlns:a16="http://schemas.microsoft.com/office/drawing/2014/main" id="{DC10F894-F794-25F2-FA8C-2E7FEDC6327C}"/>
              </a:ext>
            </a:extLst>
          </p:cNvPr>
          <p:cNvSpPr/>
          <p:nvPr/>
        </p:nvSpPr>
        <p:spPr>
          <a:xfrm>
            <a:off x="3263900" y="2489200"/>
            <a:ext cx="406400" cy="40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7" name="Image 4" descr="C:\Users\Samrat S K\AppData\Local\Temp\pg/f_hand_FFFFFF.svg">
            <a:extLst>
              <a:ext uri="{FF2B5EF4-FFF2-40B4-BE49-F238E27FC236}">
                <a16:creationId xmlns:a16="http://schemas.microsoft.com/office/drawing/2014/main" id="{03BE27B9-3A22-E73D-4DA1-285996A6D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52800" y="2578100"/>
            <a:ext cx="228600" cy="228600"/>
          </a:xfrm>
          <a:prstGeom prst="rect">
            <a:avLst/>
          </a:prstGeom>
        </p:spPr>
      </p:pic>
      <p:sp>
        <p:nvSpPr>
          <p:cNvPr id="199" name="Text 20">
            <a:extLst>
              <a:ext uri="{FF2B5EF4-FFF2-40B4-BE49-F238E27FC236}">
                <a16:creationId xmlns:a16="http://schemas.microsoft.com/office/drawing/2014/main" id="{28023A96-AB70-7957-9244-86F1455B15B3}"/>
              </a:ext>
            </a:extLst>
          </p:cNvPr>
          <p:cNvSpPr txBox="1"/>
          <p:nvPr/>
        </p:nvSpPr>
        <p:spPr>
          <a:xfrm>
            <a:off x="3771900" y="2517775"/>
            <a:ext cx="2095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Communities &amp; Ecosystems</a:t>
            </a:r>
            <a:endParaRPr lang="en-US" sz="1400" dirty="0"/>
          </a:p>
        </p:txBody>
      </p:sp>
      <p:sp>
        <p:nvSpPr>
          <p:cNvPr id="201" name="Text 21">
            <a:extLst>
              <a:ext uri="{FF2B5EF4-FFF2-40B4-BE49-F238E27FC236}">
                <a16:creationId xmlns:a16="http://schemas.microsoft.com/office/drawing/2014/main" id="{A2B97E31-8AB6-1956-BB40-B1624ED1CD36}"/>
              </a:ext>
            </a:extLst>
          </p:cNvPr>
          <p:cNvSpPr txBox="1"/>
          <p:nvPr/>
        </p:nvSpPr>
        <p:spPr>
          <a:xfrm>
            <a:off x="3314700" y="2971800"/>
            <a:ext cx="2501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awareness of areas threatened by spill movement.</a:t>
            </a:r>
            <a:endParaRPr lang="en-US" sz="1100" dirty="0"/>
          </a:p>
        </p:txBody>
      </p:sp>
      <p:pic>
        <p:nvPicPr>
          <p:cNvPr id="203" name="Image 5" descr="C:\Users\Samrat S K\AppData\Local\Temp\pg/f_leaf_1B642B.svg">
            <a:extLst>
              <a:ext uri="{FF2B5EF4-FFF2-40B4-BE49-F238E27FC236}">
                <a16:creationId xmlns:a16="http://schemas.microsoft.com/office/drawing/2014/main" id="{0BF0D3C6-B5AC-EC1F-0751-202FC09E48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2200" y="685800"/>
            <a:ext cx="203200" cy="203200"/>
          </a:xfrm>
          <a:prstGeom prst="rect">
            <a:avLst/>
          </a:prstGeom>
        </p:spPr>
      </p:pic>
      <p:sp>
        <p:nvSpPr>
          <p:cNvPr id="205" name="Text 22">
            <a:extLst>
              <a:ext uri="{FF2B5EF4-FFF2-40B4-BE49-F238E27FC236}">
                <a16:creationId xmlns:a16="http://schemas.microsoft.com/office/drawing/2014/main" id="{E6D92E45-A69C-54E3-3396-4F550E0AAA3E}"/>
              </a:ext>
            </a:extLst>
          </p:cNvPr>
          <p:cNvSpPr txBox="1"/>
          <p:nvPr/>
        </p:nvSpPr>
        <p:spPr>
          <a:xfrm>
            <a:off x="6451600" y="6477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</a:t>
            </a:r>
            <a:r>
              <a:rPr lang="en-US" sz="1600" b="1" dirty="0">
                <a:solidFill>
                  <a:srgbClr val="1B6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Guardians</a:t>
            </a:r>
            <a:endParaRPr lang="en-US" sz="1600" dirty="0"/>
          </a:p>
        </p:txBody>
      </p:sp>
      <p:sp>
        <p:nvSpPr>
          <p:cNvPr id="207" name="Shape 23">
            <a:extLst>
              <a:ext uri="{FF2B5EF4-FFF2-40B4-BE49-F238E27FC236}">
                <a16:creationId xmlns:a16="http://schemas.microsoft.com/office/drawing/2014/main" id="{6471F15E-04ED-33C9-402A-9AB879532392}"/>
              </a:ext>
            </a:extLst>
          </p:cNvPr>
          <p:cNvSpPr/>
          <p:nvPr/>
        </p:nvSpPr>
        <p:spPr>
          <a:xfrm>
            <a:off x="6172200" y="1016000"/>
            <a:ext cx="5842000" cy="469900"/>
          </a:xfrm>
          <a:prstGeom prst="rect">
            <a:avLst/>
          </a:prstGeom>
          <a:solidFill>
            <a:srgbClr val="F2F6FE"/>
          </a:solidFill>
          <a:ln w="19050">
            <a:solidFill>
              <a:srgbClr val="2B6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9" name="Shape 24">
            <a:extLst>
              <a:ext uri="{FF2B5EF4-FFF2-40B4-BE49-F238E27FC236}">
                <a16:creationId xmlns:a16="http://schemas.microsoft.com/office/drawing/2014/main" id="{05E58804-8927-F363-E4F6-0562CF6C950F}"/>
              </a:ext>
            </a:extLst>
          </p:cNvPr>
          <p:cNvSpPr/>
          <p:nvPr/>
        </p:nvSpPr>
        <p:spPr>
          <a:xfrm>
            <a:off x="6286500" y="1085850"/>
            <a:ext cx="330200" cy="330200"/>
          </a:xfrm>
          <a:prstGeom prst="ellipse">
            <a:avLst/>
          </a:prstGeom>
          <a:solidFill>
            <a:srgbClr val="2B61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1" name="Image 6" descr="C:\Users\Samrat S K\AppData\Local\Temp\pg/f_gear_FFFFFF.svg">
            <a:extLst>
              <a:ext uri="{FF2B5EF4-FFF2-40B4-BE49-F238E27FC236}">
                <a16:creationId xmlns:a16="http://schemas.microsoft.com/office/drawing/2014/main" id="{E387ABB7-260D-8290-5527-80C8C4A1D8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6350" y="1155700"/>
            <a:ext cx="190500" cy="190500"/>
          </a:xfrm>
          <a:prstGeom prst="rect">
            <a:avLst/>
          </a:prstGeom>
        </p:spPr>
      </p:pic>
      <p:sp>
        <p:nvSpPr>
          <p:cNvPr id="213" name="Text 25">
            <a:extLst>
              <a:ext uri="{FF2B5EF4-FFF2-40B4-BE49-F238E27FC236}">
                <a16:creationId xmlns:a16="http://schemas.microsoft.com/office/drawing/2014/main" id="{B011C576-0C73-0B5A-2D97-1419D3BF2BE9}"/>
              </a:ext>
            </a:extLst>
          </p:cNvPr>
          <p:cNvSpPr txBox="1"/>
          <p:nvPr/>
        </p:nvSpPr>
        <p:spPr>
          <a:xfrm>
            <a:off x="6731000" y="107442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200" dirty="0"/>
          </a:p>
        </p:txBody>
      </p:sp>
      <p:sp>
        <p:nvSpPr>
          <p:cNvPr id="215" name="Text 26">
            <a:extLst>
              <a:ext uri="{FF2B5EF4-FFF2-40B4-BE49-F238E27FC236}">
                <a16:creationId xmlns:a16="http://schemas.microsoft.com/office/drawing/2014/main" id="{7F50DA04-89DE-A03A-5145-5B7833F9A5FE}"/>
              </a:ext>
            </a:extLst>
          </p:cNvPr>
          <p:cNvSpPr txBox="1"/>
          <p:nvPr/>
        </p:nvSpPr>
        <p:spPr>
          <a:xfrm>
            <a:off x="6731000" y="1240790"/>
            <a:ext cx="515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decision-support workflow from detection to response.</a:t>
            </a:r>
            <a:endParaRPr lang="en-US" sz="1050" dirty="0"/>
          </a:p>
        </p:txBody>
      </p:sp>
      <p:sp>
        <p:nvSpPr>
          <p:cNvPr id="217" name="Shape 27">
            <a:extLst>
              <a:ext uri="{FF2B5EF4-FFF2-40B4-BE49-F238E27FC236}">
                <a16:creationId xmlns:a16="http://schemas.microsoft.com/office/drawing/2014/main" id="{2B367B29-50B2-B445-AEE0-892CAC32D5D8}"/>
              </a:ext>
            </a:extLst>
          </p:cNvPr>
          <p:cNvSpPr/>
          <p:nvPr/>
        </p:nvSpPr>
        <p:spPr>
          <a:xfrm>
            <a:off x="6172200" y="1543050"/>
            <a:ext cx="5842000" cy="469900"/>
          </a:xfrm>
          <a:prstGeom prst="rect">
            <a:avLst/>
          </a:prstGeom>
          <a:solidFill>
            <a:srgbClr val="EFFDEF"/>
          </a:solidFill>
          <a:ln w="19050">
            <a:solidFill>
              <a:srgbClr val="1B64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9" name="Shape 28">
            <a:extLst>
              <a:ext uri="{FF2B5EF4-FFF2-40B4-BE49-F238E27FC236}">
                <a16:creationId xmlns:a16="http://schemas.microsoft.com/office/drawing/2014/main" id="{5889A0F0-569B-A26C-6781-82D68C7D9E13}"/>
              </a:ext>
            </a:extLst>
          </p:cNvPr>
          <p:cNvSpPr/>
          <p:nvPr/>
        </p:nvSpPr>
        <p:spPr>
          <a:xfrm>
            <a:off x="6286500" y="1612900"/>
            <a:ext cx="330200" cy="330200"/>
          </a:xfrm>
          <a:prstGeom prst="ellipse">
            <a:avLst/>
          </a:prstGeom>
          <a:solidFill>
            <a:srgbClr val="1B64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1" name="Image 7" descr="C:\Users\Samrat S K\AppData\Local\Temp\pg/f_leaf_FFFFFF.svg">
            <a:extLst>
              <a:ext uri="{FF2B5EF4-FFF2-40B4-BE49-F238E27FC236}">
                <a16:creationId xmlns:a16="http://schemas.microsoft.com/office/drawing/2014/main" id="{2376743C-C5DA-035A-17EA-3F4D0B6626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6350" y="1682750"/>
            <a:ext cx="190500" cy="190500"/>
          </a:xfrm>
          <a:prstGeom prst="rect">
            <a:avLst/>
          </a:prstGeom>
        </p:spPr>
      </p:pic>
      <p:sp>
        <p:nvSpPr>
          <p:cNvPr id="223" name="Text 29">
            <a:extLst>
              <a:ext uri="{FF2B5EF4-FFF2-40B4-BE49-F238E27FC236}">
                <a16:creationId xmlns:a16="http://schemas.microsoft.com/office/drawing/2014/main" id="{719D8C98-4DF4-D264-C8D2-8C4B0783F034}"/>
              </a:ext>
            </a:extLst>
          </p:cNvPr>
          <p:cNvSpPr txBox="1"/>
          <p:nvPr/>
        </p:nvSpPr>
        <p:spPr>
          <a:xfrm>
            <a:off x="6731000" y="158115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200" dirty="0"/>
          </a:p>
        </p:txBody>
      </p:sp>
      <p:sp>
        <p:nvSpPr>
          <p:cNvPr id="225" name="Text 30">
            <a:extLst>
              <a:ext uri="{FF2B5EF4-FFF2-40B4-BE49-F238E27FC236}">
                <a16:creationId xmlns:a16="http://schemas.microsoft.com/office/drawing/2014/main" id="{C99E91EB-61E9-EEFF-2C8C-A7B1B3730B58}"/>
              </a:ext>
            </a:extLst>
          </p:cNvPr>
          <p:cNvSpPr txBox="1"/>
          <p:nvPr/>
        </p:nvSpPr>
        <p:spPr>
          <a:xfrm>
            <a:off x="6731000" y="1767840"/>
            <a:ext cx="515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protection through forward-drift prediction.</a:t>
            </a:r>
            <a:endParaRPr lang="en-US" sz="1050" dirty="0"/>
          </a:p>
        </p:txBody>
      </p:sp>
      <p:sp>
        <p:nvSpPr>
          <p:cNvPr id="227" name="Shape 31">
            <a:extLst>
              <a:ext uri="{FF2B5EF4-FFF2-40B4-BE49-F238E27FC236}">
                <a16:creationId xmlns:a16="http://schemas.microsoft.com/office/drawing/2014/main" id="{7AF97C47-C0D4-CBD6-6DA5-0F6C10E5D4BB}"/>
              </a:ext>
            </a:extLst>
          </p:cNvPr>
          <p:cNvSpPr/>
          <p:nvPr/>
        </p:nvSpPr>
        <p:spPr>
          <a:xfrm>
            <a:off x="6172200" y="2070100"/>
            <a:ext cx="5842000" cy="469900"/>
          </a:xfrm>
          <a:prstGeom prst="rect">
            <a:avLst/>
          </a:prstGeom>
          <a:solidFill>
            <a:srgbClr val="FEF5EF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9" name="Shape 32">
            <a:extLst>
              <a:ext uri="{FF2B5EF4-FFF2-40B4-BE49-F238E27FC236}">
                <a16:creationId xmlns:a16="http://schemas.microsoft.com/office/drawing/2014/main" id="{8651D26F-2BDF-7E2A-4869-81597E8D69A2}"/>
              </a:ext>
            </a:extLst>
          </p:cNvPr>
          <p:cNvSpPr/>
          <p:nvPr/>
        </p:nvSpPr>
        <p:spPr>
          <a:xfrm>
            <a:off x="6286500" y="2139950"/>
            <a:ext cx="330200" cy="3302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1" name="Image 8" descr="C:\Users\Samrat S K\AppData\Local\Temp\pg/f_bars_FFFFFF.svg">
            <a:extLst>
              <a:ext uri="{FF2B5EF4-FFF2-40B4-BE49-F238E27FC236}">
                <a16:creationId xmlns:a16="http://schemas.microsoft.com/office/drawing/2014/main" id="{6FC4C673-A3EC-6018-195E-47E808136E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6350" y="2209800"/>
            <a:ext cx="190500" cy="190500"/>
          </a:xfrm>
          <a:prstGeom prst="rect">
            <a:avLst/>
          </a:prstGeom>
        </p:spPr>
      </p:pic>
      <p:sp>
        <p:nvSpPr>
          <p:cNvPr id="233" name="Text 33">
            <a:extLst>
              <a:ext uri="{FF2B5EF4-FFF2-40B4-BE49-F238E27FC236}">
                <a16:creationId xmlns:a16="http://schemas.microsoft.com/office/drawing/2014/main" id="{F678FCB8-2C9E-A09D-B3FA-5CA997047983}"/>
              </a:ext>
            </a:extLst>
          </p:cNvPr>
          <p:cNvSpPr txBox="1"/>
          <p:nvPr/>
        </p:nvSpPr>
        <p:spPr>
          <a:xfrm>
            <a:off x="6731000" y="21082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200" dirty="0"/>
          </a:p>
        </p:txBody>
      </p:sp>
      <p:sp>
        <p:nvSpPr>
          <p:cNvPr id="235" name="Text 34">
            <a:extLst>
              <a:ext uri="{FF2B5EF4-FFF2-40B4-BE49-F238E27FC236}">
                <a16:creationId xmlns:a16="http://schemas.microsoft.com/office/drawing/2014/main" id="{7A29ABBA-43FD-700B-D172-F11A01139854}"/>
              </a:ext>
            </a:extLst>
          </p:cNvPr>
          <p:cNvSpPr txBox="1"/>
          <p:nvPr/>
        </p:nvSpPr>
        <p:spPr>
          <a:xfrm>
            <a:off x="6731000" y="2294890"/>
            <a:ext cx="515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Focuses limited response assets on priority areas.</a:t>
            </a:r>
            <a:endParaRPr lang="en-US" sz="1050" dirty="0"/>
          </a:p>
        </p:txBody>
      </p:sp>
      <p:sp>
        <p:nvSpPr>
          <p:cNvPr id="237" name="Shape 35">
            <a:extLst>
              <a:ext uri="{FF2B5EF4-FFF2-40B4-BE49-F238E27FC236}">
                <a16:creationId xmlns:a16="http://schemas.microsoft.com/office/drawing/2014/main" id="{9F7331DA-C5B8-D3D6-F27B-4AB0183940C8}"/>
              </a:ext>
            </a:extLst>
          </p:cNvPr>
          <p:cNvSpPr/>
          <p:nvPr/>
        </p:nvSpPr>
        <p:spPr>
          <a:xfrm>
            <a:off x="6172200" y="2597150"/>
            <a:ext cx="5842000" cy="469900"/>
          </a:xfrm>
          <a:prstGeom prst="rect">
            <a:avLst/>
          </a:prstGeom>
          <a:solidFill>
            <a:srgbClr val="F1EBFC"/>
          </a:solidFill>
          <a:ln w="19050">
            <a:solidFill>
              <a:srgbClr val="2E11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Shape 36">
            <a:extLst>
              <a:ext uri="{FF2B5EF4-FFF2-40B4-BE49-F238E27FC236}">
                <a16:creationId xmlns:a16="http://schemas.microsoft.com/office/drawing/2014/main" id="{12DFBC79-2E25-2DC5-0BB8-3AE33837A952}"/>
              </a:ext>
            </a:extLst>
          </p:cNvPr>
          <p:cNvSpPr/>
          <p:nvPr/>
        </p:nvSpPr>
        <p:spPr>
          <a:xfrm>
            <a:off x="6286500" y="2667000"/>
            <a:ext cx="330200" cy="330200"/>
          </a:xfrm>
          <a:prstGeom prst="ellipse">
            <a:avLst/>
          </a:prstGeom>
          <a:solidFill>
            <a:srgbClr val="2E11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1" name="Image 9" descr="C:\Users\Samrat S K\AppData\Local\Temp\pg/f_bank_FFFFFF.svg">
            <a:extLst>
              <a:ext uri="{FF2B5EF4-FFF2-40B4-BE49-F238E27FC236}">
                <a16:creationId xmlns:a16="http://schemas.microsoft.com/office/drawing/2014/main" id="{FD48346C-A1F1-0A87-3D31-094187C58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6350" y="2736850"/>
            <a:ext cx="190500" cy="190500"/>
          </a:xfrm>
          <a:prstGeom prst="rect">
            <a:avLst/>
          </a:prstGeom>
        </p:spPr>
      </p:pic>
      <p:sp>
        <p:nvSpPr>
          <p:cNvPr id="243" name="Text 37">
            <a:extLst>
              <a:ext uri="{FF2B5EF4-FFF2-40B4-BE49-F238E27FC236}">
                <a16:creationId xmlns:a16="http://schemas.microsoft.com/office/drawing/2014/main" id="{CB1D4C54-520E-0984-7EB5-BCB809DB9FF7}"/>
              </a:ext>
            </a:extLst>
          </p:cNvPr>
          <p:cNvSpPr txBox="1"/>
          <p:nvPr/>
        </p:nvSpPr>
        <p:spPr>
          <a:xfrm>
            <a:off x="6731000" y="265557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245" name="Text 38">
            <a:extLst>
              <a:ext uri="{FF2B5EF4-FFF2-40B4-BE49-F238E27FC236}">
                <a16:creationId xmlns:a16="http://schemas.microsoft.com/office/drawing/2014/main" id="{92E043B5-F930-797D-DC17-E3BCA4260C8D}"/>
              </a:ext>
            </a:extLst>
          </p:cNvPr>
          <p:cNvSpPr txBox="1"/>
          <p:nvPr/>
        </p:nvSpPr>
        <p:spPr>
          <a:xfrm>
            <a:off x="6731000" y="2816860"/>
            <a:ext cx="515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provenance, uncertainty and auditable evidence.</a:t>
            </a:r>
            <a:endParaRPr lang="en-US" sz="1050" dirty="0"/>
          </a:p>
        </p:txBody>
      </p:sp>
      <p:sp>
        <p:nvSpPr>
          <p:cNvPr id="247" name="Shape 39">
            <a:extLst>
              <a:ext uri="{FF2B5EF4-FFF2-40B4-BE49-F238E27FC236}">
                <a16:creationId xmlns:a16="http://schemas.microsoft.com/office/drawing/2014/main" id="{C7428BBC-9A77-1612-A399-9BAC7129DBB9}"/>
              </a:ext>
            </a:extLst>
          </p:cNvPr>
          <p:cNvSpPr/>
          <p:nvPr/>
        </p:nvSpPr>
        <p:spPr>
          <a:xfrm>
            <a:off x="6172200" y="3124200"/>
            <a:ext cx="5842000" cy="469900"/>
          </a:xfrm>
          <a:prstGeom prst="rect">
            <a:avLst/>
          </a:prstGeom>
          <a:solidFill>
            <a:srgbClr val="EEF9F7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9" name="Shape 40">
            <a:extLst>
              <a:ext uri="{FF2B5EF4-FFF2-40B4-BE49-F238E27FC236}">
                <a16:creationId xmlns:a16="http://schemas.microsoft.com/office/drawing/2014/main" id="{8CA20B88-0AD2-4958-1D7F-B00A08063411}"/>
              </a:ext>
            </a:extLst>
          </p:cNvPr>
          <p:cNvSpPr/>
          <p:nvPr/>
        </p:nvSpPr>
        <p:spPr>
          <a:xfrm>
            <a:off x="6286500" y="3194050"/>
            <a:ext cx="330200" cy="3302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1" name="Image 10" descr="C:\Users\Samrat S K\AppData\Local\Temp\pg/f_brain_FFFFFF.svg">
            <a:extLst>
              <a:ext uri="{FF2B5EF4-FFF2-40B4-BE49-F238E27FC236}">
                <a16:creationId xmlns:a16="http://schemas.microsoft.com/office/drawing/2014/main" id="{15F93204-D7B2-AA03-C672-F94D016C00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6350" y="3263900"/>
            <a:ext cx="190500" cy="190500"/>
          </a:xfrm>
          <a:prstGeom prst="rect">
            <a:avLst/>
          </a:prstGeom>
        </p:spPr>
      </p:pic>
      <p:sp>
        <p:nvSpPr>
          <p:cNvPr id="253" name="Text 41">
            <a:extLst>
              <a:ext uri="{FF2B5EF4-FFF2-40B4-BE49-F238E27FC236}">
                <a16:creationId xmlns:a16="http://schemas.microsoft.com/office/drawing/2014/main" id="{CEB1A4EF-76F3-C418-FA22-0D44C2DBFFBB}"/>
              </a:ext>
            </a:extLst>
          </p:cNvPr>
          <p:cNvSpPr txBox="1"/>
          <p:nvPr/>
        </p:nvSpPr>
        <p:spPr>
          <a:xfrm>
            <a:off x="6731000" y="31623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255" name="Text 42">
            <a:extLst>
              <a:ext uri="{FF2B5EF4-FFF2-40B4-BE49-F238E27FC236}">
                <a16:creationId xmlns:a16="http://schemas.microsoft.com/office/drawing/2014/main" id="{C9767CFA-1C86-97CB-FA8C-C0061891BCA2}"/>
              </a:ext>
            </a:extLst>
          </p:cNvPr>
          <p:cNvSpPr txBox="1"/>
          <p:nvPr/>
        </p:nvSpPr>
        <p:spPr>
          <a:xfrm>
            <a:off x="6731000" y="3338830"/>
            <a:ext cx="515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Abstains when evidence is insufficient; human stays final authority.</a:t>
            </a:r>
            <a:endParaRPr lang="en-US" sz="1050" dirty="0"/>
          </a:p>
        </p:txBody>
      </p:sp>
      <p:pic>
        <p:nvPicPr>
          <p:cNvPr id="257" name="Image 11" descr="C:\Users\Samrat S K\AppData\Local\Temp\pg/f_bars_2F5597.svg">
            <a:extLst>
              <a:ext uri="{FF2B5EF4-FFF2-40B4-BE49-F238E27FC236}">
                <a16:creationId xmlns:a16="http://schemas.microsoft.com/office/drawing/2014/main" id="{570BE40D-D8C8-4CB7-6EDD-D1B73DE403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7800" y="3759200"/>
            <a:ext cx="203200" cy="203200"/>
          </a:xfrm>
          <a:prstGeom prst="rect">
            <a:avLst/>
          </a:prstGeom>
        </p:spPr>
      </p:pic>
      <p:sp>
        <p:nvSpPr>
          <p:cNvPr id="259" name="Text 43">
            <a:extLst>
              <a:ext uri="{FF2B5EF4-FFF2-40B4-BE49-F238E27FC236}">
                <a16:creationId xmlns:a16="http://schemas.microsoft.com/office/drawing/2014/main" id="{7C3D7570-2DE7-A8BB-7A0A-4FF50291B671}"/>
              </a:ext>
            </a:extLst>
          </p:cNvPr>
          <p:cNvSpPr txBox="1"/>
          <p:nvPr/>
        </p:nvSpPr>
        <p:spPr>
          <a:xfrm>
            <a:off x="457200" y="37211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Analysis</a:t>
            </a:r>
            <a:endParaRPr lang="en-US" sz="1600" dirty="0"/>
          </a:p>
        </p:txBody>
      </p:sp>
      <p:sp>
        <p:nvSpPr>
          <p:cNvPr id="261" name="Text 44">
            <a:extLst>
              <a:ext uri="{FF2B5EF4-FFF2-40B4-BE49-F238E27FC236}">
                <a16:creationId xmlns:a16="http://schemas.microsoft.com/office/drawing/2014/main" id="{733FE8F8-8C53-85F6-7507-6660E3D617A1}"/>
              </a:ext>
            </a:extLst>
          </p:cNvPr>
          <p:cNvSpPr txBox="1"/>
          <p:nvPr/>
        </p:nvSpPr>
        <p:spPr>
          <a:xfrm>
            <a:off x="5334000" y="3721100"/>
            <a:ext cx="3733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Supported     ◐ Partial     — Not available</a:t>
            </a:r>
            <a:endParaRPr lang="en-US" sz="900" dirty="0"/>
          </a:p>
        </p:txBody>
      </p:sp>
      <p:graphicFrame>
        <p:nvGraphicFramePr>
          <p:cNvPr id="263" name="Table 0">
            <a:extLst>
              <a:ext uri="{FF2B5EF4-FFF2-40B4-BE49-F238E27FC236}">
                <a16:creationId xmlns:a16="http://schemas.microsoft.com/office/drawing/2014/main" id="{21DCE37F-84B0-1CB7-CD3C-A4A0652D2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521650"/>
              </p:ext>
            </p:extLst>
          </p:nvPr>
        </p:nvGraphicFramePr>
        <p:xfrm>
          <a:off x="177800" y="4038600"/>
          <a:ext cx="8890000" cy="153924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CleanSeaNet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KSAT Oil Spill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SkyTruth Cerulean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Guardians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 Slick Detection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+ WHEN Reconstruction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Explainable Vessel Ranking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Drift Prediction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/ Local Operation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4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5" name="Shape 45">
            <a:extLst>
              <a:ext uri="{FF2B5EF4-FFF2-40B4-BE49-F238E27FC236}">
                <a16:creationId xmlns:a16="http://schemas.microsoft.com/office/drawing/2014/main" id="{87CDF1EE-6B27-672D-2B5D-D796325C8229}"/>
              </a:ext>
            </a:extLst>
          </p:cNvPr>
          <p:cNvSpPr/>
          <p:nvPr/>
        </p:nvSpPr>
        <p:spPr>
          <a:xfrm>
            <a:off x="9220200" y="4038600"/>
            <a:ext cx="2794000" cy="1562100"/>
          </a:xfrm>
          <a:prstGeom prst="rect">
            <a:avLst/>
          </a:prstGeom>
          <a:solidFill>
            <a:srgbClr val="F1EBFC"/>
          </a:solidFill>
          <a:ln w="19050">
            <a:solidFill>
              <a:srgbClr val="2E119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8265ED"/>
              </a:solidFill>
            </a:endParaRPr>
          </a:p>
        </p:txBody>
      </p:sp>
      <p:sp>
        <p:nvSpPr>
          <p:cNvPr id="267" name="Shape 46">
            <a:extLst>
              <a:ext uri="{FF2B5EF4-FFF2-40B4-BE49-F238E27FC236}">
                <a16:creationId xmlns:a16="http://schemas.microsoft.com/office/drawing/2014/main" id="{C9CB9B09-8B9A-B8BB-E73A-D76A81B72D73}"/>
              </a:ext>
            </a:extLst>
          </p:cNvPr>
          <p:cNvSpPr/>
          <p:nvPr/>
        </p:nvSpPr>
        <p:spPr>
          <a:xfrm>
            <a:off x="9321800" y="4140200"/>
            <a:ext cx="355600" cy="355600"/>
          </a:xfrm>
          <a:prstGeom prst="ellipse">
            <a:avLst/>
          </a:prstGeom>
          <a:solidFill>
            <a:srgbClr val="2E11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9" name="Image 12" descr="C:\Users\Samrat S K\AppData\Local\Temp\pg/f_bulb_FFFFFF.svg">
            <a:extLst>
              <a:ext uri="{FF2B5EF4-FFF2-40B4-BE49-F238E27FC236}">
                <a16:creationId xmlns:a16="http://schemas.microsoft.com/office/drawing/2014/main" id="{80BFF127-8078-058C-2D10-956E95E3C0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98000" y="4216400"/>
            <a:ext cx="203200" cy="203200"/>
          </a:xfrm>
          <a:prstGeom prst="rect">
            <a:avLst/>
          </a:prstGeom>
        </p:spPr>
      </p:pic>
      <p:sp>
        <p:nvSpPr>
          <p:cNvPr id="271" name="Text 47">
            <a:extLst>
              <a:ext uri="{FF2B5EF4-FFF2-40B4-BE49-F238E27FC236}">
                <a16:creationId xmlns:a16="http://schemas.microsoft.com/office/drawing/2014/main" id="{B5194680-82FF-AC92-4A1A-88BDC5DC8474}"/>
              </a:ext>
            </a:extLst>
          </p:cNvPr>
          <p:cNvSpPr txBox="1"/>
          <p:nvPr/>
        </p:nvSpPr>
        <p:spPr>
          <a:xfrm>
            <a:off x="9779000" y="4154664"/>
            <a:ext cx="2159000" cy="324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45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Guardians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2E1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“Stands out”?</a:t>
            </a:r>
            <a:endParaRPr lang="en-US" sz="1200" dirty="0"/>
          </a:p>
        </p:txBody>
      </p:sp>
      <p:sp>
        <p:nvSpPr>
          <p:cNvPr id="273" name="Text 48">
            <a:extLst>
              <a:ext uri="{FF2B5EF4-FFF2-40B4-BE49-F238E27FC236}">
                <a16:creationId xmlns:a16="http://schemas.microsoft.com/office/drawing/2014/main" id="{1DCFB4B1-58F2-86FF-146E-488B81A478BB}"/>
              </a:ext>
            </a:extLst>
          </p:cNvPr>
          <p:cNvSpPr txBox="1"/>
          <p:nvPr/>
        </p:nvSpPr>
        <p:spPr>
          <a:xfrm>
            <a:off x="9372600" y="4622800"/>
            <a:ext cx="2514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only system that </a:t>
            </a: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reconstruction, full explainability, prediction</a:t>
            </a: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readiness</a:t>
            </a: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one workflow.</a:t>
            </a:r>
            <a:endParaRPr lang="en-US" sz="1100" dirty="0"/>
          </a:p>
        </p:txBody>
      </p:sp>
      <p:sp>
        <p:nvSpPr>
          <p:cNvPr id="275" name="Text 49">
            <a:extLst>
              <a:ext uri="{FF2B5EF4-FFF2-40B4-BE49-F238E27FC236}">
                <a16:creationId xmlns:a16="http://schemas.microsoft.com/office/drawing/2014/main" id="{BEC1A137-BE32-E9A3-38C1-9D9CC6E88B5D}"/>
              </a:ext>
            </a:extLst>
          </p:cNvPr>
          <p:cNvSpPr txBox="1"/>
          <p:nvPr/>
        </p:nvSpPr>
        <p:spPr>
          <a:xfrm>
            <a:off x="3453812" y="5758815"/>
            <a:ext cx="5284377" cy="28239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satellite observation to explainable operational decision support</a:t>
            </a:r>
            <a:endParaRPr lang="en-US" sz="1200" dirty="0"/>
          </a:p>
        </p:txBody>
      </p:sp>
      <p:sp>
        <p:nvSpPr>
          <p:cNvPr id="277" name="Shape 50">
            <a:extLst>
              <a:ext uri="{FF2B5EF4-FFF2-40B4-BE49-F238E27FC236}">
                <a16:creationId xmlns:a16="http://schemas.microsoft.com/office/drawing/2014/main" id="{586C4D0F-BBBF-008C-6A5E-6C1D528215EA}"/>
              </a:ext>
            </a:extLst>
          </p:cNvPr>
          <p:cNvSpPr/>
          <p:nvPr/>
        </p:nvSpPr>
        <p:spPr>
          <a:xfrm>
            <a:off x="3035300" y="6121400"/>
            <a:ext cx="1905000" cy="304800"/>
          </a:xfrm>
          <a:prstGeom prst="rect">
            <a:avLst/>
          </a:prstGeom>
          <a:solidFill>
            <a:srgbClr val="F2F6FE"/>
          </a:solidFill>
          <a:ln w="19050">
            <a:solidFill>
              <a:srgbClr val="2B6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9" name="Image 13" descr="C:\Users\Samrat S K\AppData\Local\Temp\pg/f_cloud_2B61E0.svg">
            <a:extLst>
              <a:ext uri="{FF2B5EF4-FFF2-40B4-BE49-F238E27FC236}">
                <a16:creationId xmlns:a16="http://schemas.microsoft.com/office/drawing/2014/main" id="{D228A30A-4220-200C-18C3-BCDAC50CBD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238500" y="6184900"/>
            <a:ext cx="177800" cy="177800"/>
          </a:xfrm>
          <a:prstGeom prst="rect">
            <a:avLst/>
          </a:prstGeom>
        </p:spPr>
      </p:pic>
      <p:sp>
        <p:nvSpPr>
          <p:cNvPr id="281" name="Text 51">
            <a:extLst>
              <a:ext uri="{FF2B5EF4-FFF2-40B4-BE49-F238E27FC236}">
                <a16:creationId xmlns:a16="http://schemas.microsoft.com/office/drawing/2014/main" id="{E7AA550C-FB2F-713F-9B73-113740E6B809}"/>
              </a:ext>
            </a:extLst>
          </p:cNvPr>
          <p:cNvSpPr txBox="1"/>
          <p:nvPr/>
        </p:nvSpPr>
        <p:spPr>
          <a:xfrm>
            <a:off x="3492500" y="61214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6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Offline-ready</a:t>
            </a:r>
            <a:endParaRPr lang="en-US" sz="1050" dirty="0"/>
          </a:p>
        </p:txBody>
      </p:sp>
      <p:sp>
        <p:nvSpPr>
          <p:cNvPr id="283" name="Shape 52">
            <a:extLst>
              <a:ext uri="{FF2B5EF4-FFF2-40B4-BE49-F238E27FC236}">
                <a16:creationId xmlns:a16="http://schemas.microsoft.com/office/drawing/2014/main" id="{2302DED8-46FA-D729-A780-B33949481A5B}"/>
              </a:ext>
            </a:extLst>
          </p:cNvPr>
          <p:cNvSpPr/>
          <p:nvPr/>
        </p:nvSpPr>
        <p:spPr>
          <a:xfrm>
            <a:off x="5143500" y="6121400"/>
            <a:ext cx="1905000" cy="304800"/>
          </a:xfrm>
          <a:prstGeom prst="rect">
            <a:avLst/>
          </a:prstGeom>
          <a:solidFill>
            <a:srgbClr val="EFFDEF"/>
          </a:solidFill>
          <a:ln w="19050">
            <a:solidFill>
              <a:srgbClr val="1B64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5" name="Image 14" descr="C:\Users\Samrat S K\AppData\Local\Temp\pg/f_bars_1B642B.svg">
            <a:extLst>
              <a:ext uri="{FF2B5EF4-FFF2-40B4-BE49-F238E27FC236}">
                <a16:creationId xmlns:a16="http://schemas.microsoft.com/office/drawing/2014/main" id="{7FFD9CA6-ADE3-B0CF-9765-ADA76BEAD4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46700" y="6184900"/>
            <a:ext cx="177800" cy="177800"/>
          </a:xfrm>
          <a:prstGeom prst="rect">
            <a:avLst/>
          </a:prstGeom>
        </p:spPr>
      </p:pic>
      <p:sp>
        <p:nvSpPr>
          <p:cNvPr id="287" name="Text 53">
            <a:extLst>
              <a:ext uri="{FF2B5EF4-FFF2-40B4-BE49-F238E27FC236}">
                <a16:creationId xmlns:a16="http://schemas.microsoft.com/office/drawing/2014/main" id="{167F2AFC-E6C2-5CF4-2349-AD0E1CE23436}"/>
              </a:ext>
            </a:extLst>
          </p:cNvPr>
          <p:cNvSpPr txBox="1"/>
          <p:nvPr/>
        </p:nvSpPr>
        <p:spPr>
          <a:xfrm>
            <a:off x="5600700" y="61214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Uncertainty-aware</a:t>
            </a:r>
            <a:endParaRPr lang="en-US" sz="1050" dirty="0"/>
          </a:p>
        </p:txBody>
      </p:sp>
      <p:sp>
        <p:nvSpPr>
          <p:cNvPr id="289" name="Shape 54">
            <a:extLst>
              <a:ext uri="{FF2B5EF4-FFF2-40B4-BE49-F238E27FC236}">
                <a16:creationId xmlns:a16="http://schemas.microsoft.com/office/drawing/2014/main" id="{86B76011-68F6-33C2-040A-EB86290E18DF}"/>
              </a:ext>
            </a:extLst>
          </p:cNvPr>
          <p:cNvSpPr/>
          <p:nvPr/>
        </p:nvSpPr>
        <p:spPr>
          <a:xfrm>
            <a:off x="7251700" y="6121400"/>
            <a:ext cx="1905000" cy="304800"/>
          </a:xfrm>
          <a:prstGeom prst="rect">
            <a:avLst/>
          </a:prstGeom>
          <a:solidFill>
            <a:srgbClr val="F1EBFC"/>
          </a:solidFill>
          <a:ln w="19050">
            <a:solidFill>
              <a:srgbClr val="2E11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1" name="Image 15" descr="C:\Users\Samrat S K\AppData\Local\Temp\pg/f_people_2E1193.svg">
            <a:extLst>
              <a:ext uri="{FF2B5EF4-FFF2-40B4-BE49-F238E27FC236}">
                <a16:creationId xmlns:a16="http://schemas.microsoft.com/office/drawing/2014/main" id="{9C30793F-6B98-17BC-10E1-CA3A9FA04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454900" y="6184900"/>
            <a:ext cx="177800" cy="177800"/>
          </a:xfrm>
          <a:prstGeom prst="rect">
            <a:avLst/>
          </a:prstGeom>
        </p:spPr>
      </p:pic>
      <p:sp>
        <p:nvSpPr>
          <p:cNvPr id="293" name="Text 55">
            <a:extLst>
              <a:ext uri="{FF2B5EF4-FFF2-40B4-BE49-F238E27FC236}">
                <a16:creationId xmlns:a16="http://schemas.microsoft.com/office/drawing/2014/main" id="{F2A34A14-0C56-D604-5D9A-946D6A802252}"/>
              </a:ext>
            </a:extLst>
          </p:cNvPr>
          <p:cNvSpPr txBox="1"/>
          <p:nvPr/>
        </p:nvSpPr>
        <p:spPr>
          <a:xfrm>
            <a:off x="7708900" y="61214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1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D3EABB-76E4-9F9B-C80E-F639B10B8651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0B9FE30-57AA-187A-ADE3-EB7B30A69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B0BB8DF-10F3-7CC8-FFE5-E4AB99131903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638F027-0E11-4B03-8479-8691B4868C0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Research and References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53FAAD72-3AF9-EF11-AF7C-2727AD6BE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9536"/>
            <a:ext cx="12191999" cy="2484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007404B-1EFD-FAF8-9E62-8FC9F445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058" y="6627806"/>
            <a:ext cx="2844800" cy="211924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0" name="Image 0" descr="C:\Users\Samrat S K\AppData\Local\Temp\pg/f_globe_2B61E0.svg">
            <a:extLst>
              <a:ext uri="{FF2B5EF4-FFF2-40B4-BE49-F238E27FC236}">
                <a16:creationId xmlns:a16="http://schemas.microsoft.com/office/drawing/2014/main" id="{86899273-20C8-51B4-6CFA-62F98CDE62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800" y="685800"/>
            <a:ext cx="203200" cy="203200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5F08E07C-28AD-563D-8F7C-0CB835A02262}"/>
              </a:ext>
            </a:extLst>
          </p:cNvPr>
          <p:cNvSpPr txBox="1"/>
          <p:nvPr/>
        </p:nvSpPr>
        <p:spPr>
          <a:xfrm>
            <a:off x="457200" y="647700"/>
            <a:ext cx="317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6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Data Sources</a:t>
            </a:r>
            <a:endParaRPr lang="en-US" sz="1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46827B12-70A8-855C-39DF-B940565F966A}"/>
              </a:ext>
            </a:extLst>
          </p:cNvPr>
          <p:cNvSpPr txBox="1"/>
          <p:nvPr/>
        </p:nvSpPr>
        <p:spPr>
          <a:xfrm>
            <a:off x="3352800" y="719756"/>
            <a:ext cx="1803400" cy="207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datasets</a:t>
            </a:r>
            <a:endParaRPr lang="en-US" sz="9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91B0C38A-4832-3434-E204-CBAC60E67AA1}"/>
              </a:ext>
            </a:extLst>
          </p:cNvPr>
          <p:cNvSpPr/>
          <p:nvPr/>
        </p:nvSpPr>
        <p:spPr>
          <a:xfrm>
            <a:off x="177800" y="990600"/>
            <a:ext cx="4978400" cy="3937000"/>
          </a:xfrm>
          <a:prstGeom prst="rect">
            <a:avLst/>
          </a:prstGeom>
          <a:solidFill>
            <a:srgbClr val="F2F6FE"/>
          </a:solidFill>
          <a:ln w="19050">
            <a:solidFill>
              <a:srgbClr val="2B6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1" descr="C:\Users\Samrat S K\AppData\Local\Temp\pg/f_layers_2B61E0.svg">
            <a:extLst>
              <a:ext uri="{FF2B5EF4-FFF2-40B4-BE49-F238E27FC236}">
                <a16:creationId xmlns:a16="http://schemas.microsoft.com/office/drawing/2014/main" id="{A92F8831-2242-8E82-448A-0D5374246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200" y="1201057"/>
            <a:ext cx="228600" cy="228600"/>
          </a:xfrm>
          <a:prstGeom prst="rect">
            <a:avLst/>
          </a:prstGeom>
        </p:spPr>
      </p:pic>
      <p:sp>
        <p:nvSpPr>
          <p:cNvPr id="23" name="Text 8">
            <a:extLst>
              <a:ext uri="{FF2B5EF4-FFF2-40B4-BE49-F238E27FC236}">
                <a16:creationId xmlns:a16="http://schemas.microsoft.com/office/drawing/2014/main" id="{643DAEE8-15B7-7969-1BAC-078516ECC21A}"/>
              </a:ext>
            </a:extLst>
          </p:cNvPr>
          <p:cNvSpPr txBox="1"/>
          <p:nvPr/>
        </p:nvSpPr>
        <p:spPr>
          <a:xfrm>
            <a:off x="685800" y="1130300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SAR</a:t>
            </a:r>
            <a:endParaRPr lang="en-US" sz="11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E107912F-6136-2E8D-4965-B44F442B16DD}"/>
              </a:ext>
            </a:extLst>
          </p:cNvPr>
          <p:cNvSpPr txBox="1"/>
          <p:nvPr/>
        </p:nvSpPr>
        <p:spPr>
          <a:xfrm>
            <a:off x="685800" y="1333500"/>
            <a:ext cx="279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Copernicus Data Space · slick imagery</a:t>
            </a:r>
            <a:endParaRPr lang="en-US" sz="9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0503DBF-8286-37DF-E0E4-3E87EA0FD06D}"/>
              </a:ext>
            </a:extLst>
          </p:cNvPr>
          <p:cNvSpPr txBox="1"/>
          <p:nvPr/>
        </p:nvSpPr>
        <p:spPr>
          <a:xfrm>
            <a:off x="3352800" y="1041400"/>
            <a:ext cx="1676400" cy="54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dataspace.copernicus.eu</a:t>
            </a:r>
            <a:endParaRPr lang="en-US" sz="900" dirty="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8975FE84-EB92-278F-BFB2-5BA420166CDF}"/>
              </a:ext>
            </a:extLst>
          </p:cNvPr>
          <p:cNvSpPr/>
          <p:nvPr/>
        </p:nvSpPr>
        <p:spPr>
          <a:xfrm>
            <a:off x="304800" y="1589314"/>
            <a:ext cx="4724400" cy="0"/>
          </a:xfrm>
          <a:prstGeom prst="line">
            <a:avLst/>
          </a:prstGeom>
          <a:noFill/>
          <a:ln w="9525">
            <a:solidFill>
              <a:srgbClr val="C9D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2" descr="C:\Users\Samrat S K\AppData\Local\Temp\pg/f_wind_2B61E0.svg">
            <a:extLst>
              <a:ext uri="{FF2B5EF4-FFF2-40B4-BE49-F238E27FC236}">
                <a16:creationId xmlns:a16="http://schemas.microsoft.com/office/drawing/2014/main" id="{BF476E5A-35CE-AA8B-0997-616C496DC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200" y="1748971"/>
            <a:ext cx="228600" cy="228600"/>
          </a:xfrm>
          <a:prstGeom prst="rect">
            <a:avLst/>
          </a:prstGeom>
        </p:spPr>
      </p:pic>
      <p:sp>
        <p:nvSpPr>
          <p:cNvPr id="33" name="Text 12">
            <a:extLst>
              <a:ext uri="{FF2B5EF4-FFF2-40B4-BE49-F238E27FC236}">
                <a16:creationId xmlns:a16="http://schemas.microsoft.com/office/drawing/2014/main" id="{5FB6A5E0-E187-80EA-FFD4-2C23D277CAFC}"/>
              </a:ext>
            </a:extLst>
          </p:cNvPr>
          <p:cNvSpPr txBox="1"/>
          <p:nvPr/>
        </p:nvSpPr>
        <p:spPr>
          <a:xfrm>
            <a:off x="685800" y="1678214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 Wind</a:t>
            </a:r>
            <a:endParaRPr lang="en-US" sz="11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A0859D4C-48FA-AB68-6645-1875E2E51117}"/>
              </a:ext>
            </a:extLst>
          </p:cNvPr>
          <p:cNvSpPr txBox="1"/>
          <p:nvPr/>
        </p:nvSpPr>
        <p:spPr>
          <a:xfrm>
            <a:off x="685800" y="1881414"/>
            <a:ext cx="279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Copernicus Climate Data Store · wind fields</a:t>
            </a:r>
            <a:endParaRPr lang="en-US" sz="9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46AC3CE6-30F4-7799-003D-F927BDA951CB}"/>
              </a:ext>
            </a:extLst>
          </p:cNvPr>
          <p:cNvSpPr txBox="1"/>
          <p:nvPr/>
        </p:nvSpPr>
        <p:spPr>
          <a:xfrm>
            <a:off x="3352800" y="1589314"/>
            <a:ext cx="1676400" cy="54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cds.climate.copernicus.eu</a:t>
            </a:r>
            <a:endParaRPr lang="en-US" sz="90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9441D70A-DC95-A6E2-7851-C380A85CEEE8}"/>
              </a:ext>
            </a:extLst>
          </p:cNvPr>
          <p:cNvSpPr/>
          <p:nvPr/>
        </p:nvSpPr>
        <p:spPr>
          <a:xfrm>
            <a:off x="304800" y="2137229"/>
            <a:ext cx="4724400" cy="0"/>
          </a:xfrm>
          <a:prstGeom prst="line">
            <a:avLst/>
          </a:prstGeom>
          <a:noFill/>
          <a:ln w="9525">
            <a:solidFill>
              <a:srgbClr val="C9D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3" descr="C:\Users\Samrat S K\AppData\Local\Temp\pg/f_wave_2B61E0.svg">
            <a:extLst>
              <a:ext uri="{FF2B5EF4-FFF2-40B4-BE49-F238E27FC236}">
                <a16:creationId xmlns:a16="http://schemas.microsoft.com/office/drawing/2014/main" id="{D9A3F498-F626-385B-4D4A-F13F74877C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0200" y="2296886"/>
            <a:ext cx="228600" cy="228600"/>
          </a:xfrm>
          <a:prstGeom prst="rect">
            <a:avLst/>
          </a:prstGeom>
        </p:spPr>
      </p:pic>
      <p:sp>
        <p:nvSpPr>
          <p:cNvPr id="43" name="Text 16">
            <a:extLst>
              <a:ext uri="{FF2B5EF4-FFF2-40B4-BE49-F238E27FC236}">
                <a16:creationId xmlns:a16="http://schemas.microsoft.com/office/drawing/2014/main" id="{046C9E97-5EC2-AEC2-7C9B-BF34272B2F0E}"/>
              </a:ext>
            </a:extLst>
          </p:cNvPr>
          <p:cNvSpPr txBox="1"/>
          <p:nvPr/>
        </p:nvSpPr>
        <p:spPr>
          <a:xfrm>
            <a:off x="685800" y="2226129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Currents</a:t>
            </a:r>
            <a:endParaRPr lang="en-US" sz="110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CAB29A02-4E3A-4418-B503-CB15DC9C0A05}"/>
              </a:ext>
            </a:extLst>
          </p:cNvPr>
          <p:cNvSpPr txBox="1"/>
          <p:nvPr/>
        </p:nvSpPr>
        <p:spPr>
          <a:xfrm>
            <a:off x="685800" y="2429329"/>
            <a:ext cx="279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Copernicus Marine Service · surface currents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5A7ED847-D8E3-EC95-3FCB-40D27491729B}"/>
              </a:ext>
            </a:extLst>
          </p:cNvPr>
          <p:cNvSpPr txBox="1"/>
          <p:nvPr/>
        </p:nvSpPr>
        <p:spPr>
          <a:xfrm>
            <a:off x="3352800" y="2137229"/>
            <a:ext cx="1676400" cy="54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data.marine.copernicus.eu</a:t>
            </a:r>
            <a:endParaRPr lang="en-US" sz="900" dirty="0"/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4AA5C90C-7A68-CD18-0869-AE615AB2A70D}"/>
              </a:ext>
            </a:extLst>
          </p:cNvPr>
          <p:cNvSpPr/>
          <p:nvPr/>
        </p:nvSpPr>
        <p:spPr>
          <a:xfrm>
            <a:off x="304800" y="2685143"/>
            <a:ext cx="4724400" cy="0"/>
          </a:xfrm>
          <a:prstGeom prst="line">
            <a:avLst/>
          </a:prstGeom>
          <a:noFill/>
          <a:ln w="9525">
            <a:solidFill>
              <a:srgbClr val="C9D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Image 4" descr="C:\Users\Samrat S K\AppData\Local\Temp\pg/f_ship_2B61E0.svg">
            <a:extLst>
              <a:ext uri="{FF2B5EF4-FFF2-40B4-BE49-F238E27FC236}">
                <a16:creationId xmlns:a16="http://schemas.microsoft.com/office/drawing/2014/main" id="{A40E3011-2676-73F2-C486-502AE3036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0200" y="2844800"/>
            <a:ext cx="228600" cy="228600"/>
          </a:xfrm>
          <a:prstGeom prst="rect">
            <a:avLst/>
          </a:prstGeom>
        </p:spPr>
      </p:pic>
      <p:sp>
        <p:nvSpPr>
          <p:cNvPr id="53" name="Text 20">
            <a:extLst>
              <a:ext uri="{FF2B5EF4-FFF2-40B4-BE49-F238E27FC236}">
                <a16:creationId xmlns:a16="http://schemas.microsoft.com/office/drawing/2014/main" id="{313C355D-01DF-203E-EF46-B7BA1B438424}"/>
              </a:ext>
            </a:extLst>
          </p:cNvPr>
          <p:cNvSpPr txBox="1"/>
          <p:nvPr/>
        </p:nvSpPr>
        <p:spPr>
          <a:xfrm>
            <a:off x="685800" y="2774043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/ AIS Tracks</a:t>
            </a:r>
            <a:endParaRPr lang="en-US" sz="1100" dirty="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3F05BF7A-ADAE-BE6D-D51F-0E1FECC9E395}"/>
              </a:ext>
            </a:extLst>
          </p:cNvPr>
          <p:cNvSpPr txBox="1"/>
          <p:nvPr/>
        </p:nvSpPr>
        <p:spPr>
          <a:xfrm>
            <a:off x="685800" y="2977243"/>
            <a:ext cx="279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Fishing Watch + NOAA MarineCadastre</a:t>
            </a:r>
            <a:endParaRPr lang="en-US" sz="900" dirty="0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C55F9123-ED2F-D32B-31EB-C83508C084EB}"/>
              </a:ext>
            </a:extLst>
          </p:cNvPr>
          <p:cNvSpPr txBox="1"/>
          <p:nvPr/>
        </p:nvSpPr>
        <p:spPr>
          <a:xfrm>
            <a:off x="3352800" y="2685143"/>
            <a:ext cx="1676400" cy="54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globalfishingwatch.org</a:t>
            </a:r>
            <a:endParaRPr lang="en-US" sz="900" dirty="0"/>
          </a:p>
        </p:txBody>
      </p:sp>
      <p:sp>
        <p:nvSpPr>
          <p:cNvPr id="59" name="Shape 23">
            <a:extLst>
              <a:ext uri="{FF2B5EF4-FFF2-40B4-BE49-F238E27FC236}">
                <a16:creationId xmlns:a16="http://schemas.microsoft.com/office/drawing/2014/main" id="{FC299245-AC73-A812-ADEC-D7D323EEC8CC}"/>
              </a:ext>
            </a:extLst>
          </p:cNvPr>
          <p:cNvSpPr/>
          <p:nvPr/>
        </p:nvSpPr>
        <p:spPr>
          <a:xfrm>
            <a:off x="304800" y="3233057"/>
            <a:ext cx="4724400" cy="0"/>
          </a:xfrm>
          <a:prstGeom prst="line">
            <a:avLst/>
          </a:prstGeom>
          <a:noFill/>
          <a:ln w="9525">
            <a:solidFill>
              <a:srgbClr val="C9D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1" name="Image 5" descr="C:\Users\Samrat S K\AppData\Local\Temp\pg/f_mount_2B61E0.svg">
            <a:extLst>
              <a:ext uri="{FF2B5EF4-FFF2-40B4-BE49-F238E27FC236}">
                <a16:creationId xmlns:a16="http://schemas.microsoft.com/office/drawing/2014/main" id="{8906515B-AB0D-A2BA-8259-382393548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0200" y="3392714"/>
            <a:ext cx="228600" cy="228600"/>
          </a:xfrm>
          <a:prstGeom prst="rect">
            <a:avLst/>
          </a:prstGeom>
        </p:spPr>
      </p:pic>
      <p:sp>
        <p:nvSpPr>
          <p:cNvPr id="63" name="Text 24">
            <a:extLst>
              <a:ext uri="{FF2B5EF4-FFF2-40B4-BE49-F238E27FC236}">
                <a16:creationId xmlns:a16="http://schemas.microsoft.com/office/drawing/2014/main" id="{E67A369D-9159-684C-613A-BB218754FD75}"/>
              </a:ext>
            </a:extLst>
          </p:cNvPr>
          <p:cNvSpPr txBox="1"/>
          <p:nvPr/>
        </p:nvSpPr>
        <p:spPr>
          <a:xfrm>
            <a:off x="685800" y="3321957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Bathymetry</a:t>
            </a:r>
            <a:endParaRPr lang="en-US" sz="1100" dirty="0"/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D36D7714-7C12-02F9-DE62-A019224DF604}"/>
              </a:ext>
            </a:extLst>
          </p:cNvPr>
          <p:cNvSpPr txBox="1"/>
          <p:nvPr/>
        </p:nvSpPr>
        <p:spPr>
          <a:xfrm>
            <a:off x="685800" y="3525157"/>
            <a:ext cx="279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GEBCO gridded ocean depth</a:t>
            </a:r>
            <a:endParaRPr lang="en-US" sz="900" dirty="0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CB018D2C-C4A2-198E-8E6B-215A962A35D9}"/>
              </a:ext>
            </a:extLst>
          </p:cNvPr>
          <p:cNvSpPr txBox="1"/>
          <p:nvPr/>
        </p:nvSpPr>
        <p:spPr>
          <a:xfrm>
            <a:off x="3352800" y="3233057"/>
            <a:ext cx="1676400" cy="54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gebco.net</a:t>
            </a:r>
            <a:endParaRPr lang="en-US" sz="900" dirty="0"/>
          </a:p>
        </p:txBody>
      </p:sp>
      <p:sp>
        <p:nvSpPr>
          <p:cNvPr id="69" name="Shape 27">
            <a:extLst>
              <a:ext uri="{FF2B5EF4-FFF2-40B4-BE49-F238E27FC236}">
                <a16:creationId xmlns:a16="http://schemas.microsoft.com/office/drawing/2014/main" id="{516F8652-9C7C-A209-A75E-51DC65A7CEEF}"/>
              </a:ext>
            </a:extLst>
          </p:cNvPr>
          <p:cNvSpPr/>
          <p:nvPr/>
        </p:nvSpPr>
        <p:spPr>
          <a:xfrm>
            <a:off x="304800" y="3780971"/>
            <a:ext cx="4724400" cy="0"/>
          </a:xfrm>
          <a:prstGeom prst="line">
            <a:avLst/>
          </a:prstGeom>
          <a:noFill/>
          <a:ln w="9525">
            <a:solidFill>
              <a:srgbClr val="C9D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1" name="Image 6" descr="C:\Users\Samrat S K\AppData\Local\Temp\pg/f_pin_2B61E0.svg">
            <a:extLst>
              <a:ext uri="{FF2B5EF4-FFF2-40B4-BE49-F238E27FC236}">
                <a16:creationId xmlns:a16="http://schemas.microsoft.com/office/drawing/2014/main" id="{ED9AE560-A633-8B5A-F1EA-9CAAF79724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0200" y="3940629"/>
            <a:ext cx="228600" cy="228600"/>
          </a:xfrm>
          <a:prstGeom prst="rect">
            <a:avLst/>
          </a:prstGeom>
        </p:spPr>
      </p:pic>
      <p:sp>
        <p:nvSpPr>
          <p:cNvPr id="73" name="Text 28">
            <a:extLst>
              <a:ext uri="{FF2B5EF4-FFF2-40B4-BE49-F238E27FC236}">
                <a16:creationId xmlns:a16="http://schemas.microsoft.com/office/drawing/2014/main" id="{C32A3A53-A932-F57A-E9AD-F53F5DFD59C3}"/>
              </a:ext>
            </a:extLst>
          </p:cNvPr>
          <p:cNvSpPr txBox="1"/>
          <p:nvPr/>
        </p:nvSpPr>
        <p:spPr>
          <a:xfrm>
            <a:off x="685800" y="3869871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Coastline &amp; Land</a:t>
            </a:r>
            <a:endParaRPr lang="en-US" sz="1100" dirty="0"/>
          </a:p>
        </p:txBody>
      </p:sp>
      <p:sp>
        <p:nvSpPr>
          <p:cNvPr id="75" name="Text 29">
            <a:extLst>
              <a:ext uri="{FF2B5EF4-FFF2-40B4-BE49-F238E27FC236}">
                <a16:creationId xmlns:a16="http://schemas.microsoft.com/office/drawing/2014/main" id="{2918CFC9-CFB6-6D2B-C63F-D29F80B394DC}"/>
              </a:ext>
            </a:extLst>
          </p:cNvPr>
          <p:cNvSpPr txBox="1"/>
          <p:nvPr/>
        </p:nvSpPr>
        <p:spPr>
          <a:xfrm>
            <a:off x="685800" y="4073071"/>
            <a:ext cx="279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land polygons</a:t>
            </a:r>
            <a:endParaRPr lang="en-US" sz="900" dirty="0"/>
          </a:p>
        </p:txBody>
      </p:sp>
      <p:sp>
        <p:nvSpPr>
          <p:cNvPr id="77" name="Text 30">
            <a:extLst>
              <a:ext uri="{FF2B5EF4-FFF2-40B4-BE49-F238E27FC236}">
                <a16:creationId xmlns:a16="http://schemas.microsoft.com/office/drawing/2014/main" id="{A312D3B5-9510-7F8C-D22C-F414F0B79929}"/>
              </a:ext>
            </a:extLst>
          </p:cNvPr>
          <p:cNvSpPr txBox="1"/>
          <p:nvPr/>
        </p:nvSpPr>
        <p:spPr>
          <a:xfrm>
            <a:off x="3352800" y="3780971"/>
            <a:ext cx="1676400" cy="54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osmdata.openstreetmap.de</a:t>
            </a:r>
            <a:endParaRPr lang="en-US" sz="900" dirty="0"/>
          </a:p>
        </p:txBody>
      </p:sp>
      <p:sp>
        <p:nvSpPr>
          <p:cNvPr id="79" name="Shape 31">
            <a:extLst>
              <a:ext uri="{FF2B5EF4-FFF2-40B4-BE49-F238E27FC236}">
                <a16:creationId xmlns:a16="http://schemas.microsoft.com/office/drawing/2014/main" id="{E8723834-16DA-8817-CEE8-05452B3133A6}"/>
              </a:ext>
            </a:extLst>
          </p:cNvPr>
          <p:cNvSpPr/>
          <p:nvPr/>
        </p:nvSpPr>
        <p:spPr>
          <a:xfrm>
            <a:off x="304800" y="4328886"/>
            <a:ext cx="4724400" cy="0"/>
          </a:xfrm>
          <a:prstGeom prst="line">
            <a:avLst/>
          </a:prstGeom>
          <a:noFill/>
          <a:ln w="9525">
            <a:solidFill>
              <a:srgbClr val="C9D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1" name="Image 7" descr="C:\Users\Samrat S K\AppData\Local\Temp\pg/f_leaf_2B61E0.svg">
            <a:extLst>
              <a:ext uri="{FF2B5EF4-FFF2-40B4-BE49-F238E27FC236}">
                <a16:creationId xmlns:a16="http://schemas.microsoft.com/office/drawing/2014/main" id="{A0B04133-06DA-4EB2-4269-F1F19AA719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0200" y="4488543"/>
            <a:ext cx="228600" cy="228600"/>
          </a:xfrm>
          <a:prstGeom prst="rect">
            <a:avLst/>
          </a:prstGeom>
        </p:spPr>
      </p:pic>
      <p:sp>
        <p:nvSpPr>
          <p:cNvPr id="83" name="Text 32">
            <a:extLst>
              <a:ext uri="{FF2B5EF4-FFF2-40B4-BE49-F238E27FC236}">
                <a16:creationId xmlns:a16="http://schemas.microsoft.com/office/drawing/2014/main" id="{B9D49539-661B-3D8E-120E-E0198B6B2E92}"/>
              </a:ext>
            </a:extLst>
          </p:cNvPr>
          <p:cNvSpPr txBox="1"/>
          <p:nvPr/>
        </p:nvSpPr>
        <p:spPr>
          <a:xfrm>
            <a:off x="685800" y="4417786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Layers</a:t>
            </a:r>
            <a:endParaRPr lang="en-US" sz="1100" dirty="0"/>
          </a:p>
        </p:txBody>
      </p:sp>
      <p:sp>
        <p:nvSpPr>
          <p:cNvPr id="85" name="Text 33">
            <a:extLst>
              <a:ext uri="{FF2B5EF4-FFF2-40B4-BE49-F238E27FC236}">
                <a16:creationId xmlns:a16="http://schemas.microsoft.com/office/drawing/2014/main" id="{BC843D09-5A42-EF40-06E3-BE3CDDF76DC8}"/>
              </a:ext>
            </a:extLst>
          </p:cNvPr>
          <p:cNvSpPr txBox="1"/>
          <p:nvPr/>
        </p:nvSpPr>
        <p:spPr>
          <a:xfrm>
            <a:off x="685800" y="4620986"/>
            <a:ext cx="279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Planet · coastal ecosystems</a:t>
            </a:r>
            <a:endParaRPr lang="en-US" sz="900" dirty="0"/>
          </a:p>
        </p:txBody>
      </p:sp>
      <p:sp>
        <p:nvSpPr>
          <p:cNvPr id="87" name="Text 34">
            <a:extLst>
              <a:ext uri="{FF2B5EF4-FFF2-40B4-BE49-F238E27FC236}">
                <a16:creationId xmlns:a16="http://schemas.microsoft.com/office/drawing/2014/main" id="{90FE17D9-7B5F-B9BE-9420-3521326FD5B1}"/>
              </a:ext>
            </a:extLst>
          </p:cNvPr>
          <p:cNvSpPr txBox="1"/>
          <p:nvPr/>
        </p:nvSpPr>
        <p:spPr>
          <a:xfrm>
            <a:off x="3352800" y="4328886"/>
            <a:ext cx="1676400" cy="54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protectedplanet.net</a:t>
            </a:r>
            <a:endParaRPr lang="en-US" sz="900" dirty="0"/>
          </a:p>
        </p:txBody>
      </p:sp>
      <p:pic>
        <p:nvPicPr>
          <p:cNvPr id="89" name="Image 8" descr="C:\Users\Samrat S K\AppData\Local\Temp\pg/f_book_2E1193.svg">
            <a:extLst>
              <a:ext uri="{FF2B5EF4-FFF2-40B4-BE49-F238E27FC236}">
                <a16:creationId xmlns:a16="http://schemas.microsoft.com/office/drawing/2014/main" id="{F6D4410A-B097-25BA-467D-03CEB7CEEC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08600" y="685800"/>
            <a:ext cx="203200" cy="203200"/>
          </a:xfrm>
          <a:prstGeom prst="rect">
            <a:avLst/>
          </a:prstGeom>
        </p:spPr>
      </p:pic>
      <p:sp>
        <p:nvSpPr>
          <p:cNvPr id="91" name="Text 35">
            <a:extLst>
              <a:ext uri="{FF2B5EF4-FFF2-40B4-BE49-F238E27FC236}">
                <a16:creationId xmlns:a16="http://schemas.microsoft.com/office/drawing/2014/main" id="{392379F7-82B7-816B-191A-0443370917F1}"/>
              </a:ext>
            </a:extLst>
          </p:cNvPr>
          <p:cNvSpPr txBox="1"/>
          <p:nvPr/>
        </p:nvSpPr>
        <p:spPr>
          <a:xfrm>
            <a:off x="5588000" y="647700"/>
            <a:ext cx="317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Research Papers</a:t>
            </a:r>
            <a:endParaRPr lang="en-US" sz="1600" dirty="0"/>
          </a:p>
        </p:txBody>
      </p:sp>
      <p:sp>
        <p:nvSpPr>
          <p:cNvPr id="93" name="Text 36">
            <a:extLst>
              <a:ext uri="{FF2B5EF4-FFF2-40B4-BE49-F238E27FC236}">
                <a16:creationId xmlns:a16="http://schemas.microsoft.com/office/drawing/2014/main" id="{F439DF7A-B0D7-61DC-49F0-106B4D0D65C9}"/>
              </a:ext>
            </a:extLst>
          </p:cNvPr>
          <p:cNvSpPr txBox="1"/>
          <p:nvPr/>
        </p:nvSpPr>
        <p:spPr>
          <a:xfrm>
            <a:off x="8483600" y="719756"/>
            <a:ext cx="3530600" cy="207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adopted in Guardians</a:t>
            </a:r>
            <a:endParaRPr lang="en-US" sz="900" dirty="0"/>
          </a:p>
        </p:txBody>
      </p:sp>
      <p:sp>
        <p:nvSpPr>
          <p:cNvPr id="95" name="Shape 37">
            <a:extLst>
              <a:ext uri="{FF2B5EF4-FFF2-40B4-BE49-F238E27FC236}">
                <a16:creationId xmlns:a16="http://schemas.microsoft.com/office/drawing/2014/main" id="{4B545376-5821-639B-36B9-BB5898C4C78D}"/>
              </a:ext>
            </a:extLst>
          </p:cNvPr>
          <p:cNvSpPr/>
          <p:nvPr/>
        </p:nvSpPr>
        <p:spPr>
          <a:xfrm>
            <a:off x="5308600" y="990600"/>
            <a:ext cx="6705600" cy="726440"/>
          </a:xfrm>
          <a:prstGeom prst="rect">
            <a:avLst/>
          </a:prstGeom>
          <a:solidFill>
            <a:srgbClr val="F1EBFC"/>
          </a:solidFill>
          <a:ln w="19050">
            <a:solidFill>
              <a:srgbClr val="2E11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371C8230-B61B-990B-E12C-11F2C8CBA0A3}"/>
              </a:ext>
            </a:extLst>
          </p:cNvPr>
          <p:cNvSpPr txBox="1"/>
          <p:nvPr/>
        </p:nvSpPr>
        <p:spPr>
          <a:xfrm>
            <a:off x="5765800" y="1144939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 oil spill detection and segmentation in SAR data with two‑step deep learning</a:t>
            </a:r>
            <a:endParaRPr lang="en-US" sz="1050" dirty="0"/>
          </a:p>
        </p:txBody>
      </p:sp>
      <p:sp>
        <p:nvSpPr>
          <p:cNvPr id="103" name="Text 41">
            <a:extLst>
              <a:ext uri="{FF2B5EF4-FFF2-40B4-BE49-F238E27FC236}">
                <a16:creationId xmlns:a16="http://schemas.microsoft.com/office/drawing/2014/main" id="{347A2EB0-2C3A-770C-BC33-BD604B18EEC9}"/>
              </a:ext>
            </a:extLst>
          </p:cNvPr>
          <p:cNvSpPr txBox="1"/>
          <p:nvPr/>
        </p:nvSpPr>
        <p:spPr>
          <a:xfrm>
            <a:off x="5765800" y="1501140"/>
            <a:ext cx="4191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 Pollution Bulletin, 2024 · SAR slick classification + U-Net segmentation</a:t>
            </a:r>
            <a:endParaRPr lang="en-US" sz="850" dirty="0"/>
          </a:p>
        </p:txBody>
      </p:sp>
      <p:sp>
        <p:nvSpPr>
          <p:cNvPr id="105" name="Text 42">
            <a:extLst>
              <a:ext uri="{FF2B5EF4-FFF2-40B4-BE49-F238E27FC236}">
                <a16:creationId xmlns:a16="http://schemas.microsoft.com/office/drawing/2014/main" id="{81A9EF54-34E6-E828-D7D5-7D4F3506ECF8}"/>
              </a:ext>
            </a:extLst>
          </p:cNvPr>
          <p:cNvSpPr txBox="1"/>
          <p:nvPr/>
        </p:nvSpPr>
        <p:spPr>
          <a:xfrm>
            <a:off x="10083800" y="1041400"/>
            <a:ext cx="1803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
</a:t>
            </a:r>
            <a:r>
              <a:rPr lang="en-US" sz="85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10.1016/j.marpolbul.2024.116549</a:t>
            </a:r>
            <a:endParaRPr lang="en-US" sz="850" dirty="0"/>
          </a:p>
        </p:txBody>
      </p:sp>
      <p:sp>
        <p:nvSpPr>
          <p:cNvPr id="107" name="Shape 43">
            <a:extLst>
              <a:ext uri="{FF2B5EF4-FFF2-40B4-BE49-F238E27FC236}">
                <a16:creationId xmlns:a16="http://schemas.microsoft.com/office/drawing/2014/main" id="{AA7C788A-0AD9-3835-DCD6-214E691FF96A}"/>
              </a:ext>
            </a:extLst>
          </p:cNvPr>
          <p:cNvSpPr/>
          <p:nvPr/>
        </p:nvSpPr>
        <p:spPr>
          <a:xfrm>
            <a:off x="5308600" y="1793240"/>
            <a:ext cx="6705600" cy="726440"/>
          </a:xfrm>
          <a:prstGeom prst="rect">
            <a:avLst/>
          </a:prstGeom>
          <a:solidFill>
            <a:srgbClr val="F1EBFC"/>
          </a:solidFill>
          <a:ln w="19050">
            <a:solidFill>
              <a:srgbClr val="2E11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46">
            <a:extLst>
              <a:ext uri="{FF2B5EF4-FFF2-40B4-BE49-F238E27FC236}">
                <a16:creationId xmlns:a16="http://schemas.microsoft.com/office/drawing/2014/main" id="{75204E67-CD1F-A8AE-F645-BE06697225D2}"/>
              </a:ext>
            </a:extLst>
          </p:cNvPr>
          <p:cNvSpPr txBox="1"/>
          <p:nvPr/>
        </p:nvSpPr>
        <p:spPr>
          <a:xfrm>
            <a:off x="5765800" y="1996021"/>
            <a:ext cx="4191000" cy="20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OpenDrift v1.0: a generic framework for trajectory modelling</a:t>
            </a:r>
            <a:endParaRPr lang="en-US" sz="1050" dirty="0"/>
          </a:p>
        </p:txBody>
      </p:sp>
      <p:sp>
        <p:nvSpPr>
          <p:cNvPr id="115" name="Text 47">
            <a:extLst>
              <a:ext uri="{FF2B5EF4-FFF2-40B4-BE49-F238E27FC236}">
                <a16:creationId xmlns:a16="http://schemas.microsoft.com/office/drawing/2014/main" id="{2962E607-5F75-80AB-CF4D-869D55110D26}"/>
              </a:ext>
            </a:extLst>
          </p:cNvPr>
          <p:cNvSpPr txBox="1"/>
          <p:nvPr/>
        </p:nvSpPr>
        <p:spPr>
          <a:xfrm>
            <a:off x="5765800" y="2201001"/>
            <a:ext cx="4191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Geosci. Model Dev., 2018 · Lagrangian drift engine for backtrack &amp; forecast</a:t>
            </a:r>
            <a:endParaRPr lang="en-US" sz="850" dirty="0"/>
          </a:p>
        </p:txBody>
      </p:sp>
      <p:sp>
        <p:nvSpPr>
          <p:cNvPr id="117" name="Text 48">
            <a:extLst>
              <a:ext uri="{FF2B5EF4-FFF2-40B4-BE49-F238E27FC236}">
                <a16:creationId xmlns:a16="http://schemas.microsoft.com/office/drawing/2014/main" id="{6F00317C-61A5-6A15-9514-3142EA06935E}"/>
              </a:ext>
            </a:extLst>
          </p:cNvPr>
          <p:cNvSpPr txBox="1"/>
          <p:nvPr/>
        </p:nvSpPr>
        <p:spPr>
          <a:xfrm>
            <a:off x="10083800" y="1844040"/>
            <a:ext cx="1803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
</a:t>
            </a:r>
            <a:r>
              <a:rPr lang="en-US" sz="85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10.5194/gmd-11-1405-2018</a:t>
            </a:r>
            <a:endParaRPr lang="en-US" sz="850" dirty="0"/>
          </a:p>
        </p:txBody>
      </p:sp>
      <p:sp>
        <p:nvSpPr>
          <p:cNvPr id="119" name="Shape 49">
            <a:extLst>
              <a:ext uri="{FF2B5EF4-FFF2-40B4-BE49-F238E27FC236}">
                <a16:creationId xmlns:a16="http://schemas.microsoft.com/office/drawing/2014/main" id="{259C8741-15C0-F785-9D64-BCE2F1BD3C32}"/>
              </a:ext>
            </a:extLst>
          </p:cNvPr>
          <p:cNvSpPr/>
          <p:nvPr/>
        </p:nvSpPr>
        <p:spPr>
          <a:xfrm>
            <a:off x="5308600" y="2595880"/>
            <a:ext cx="6705600" cy="726440"/>
          </a:xfrm>
          <a:prstGeom prst="rect">
            <a:avLst/>
          </a:prstGeom>
          <a:solidFill>
            <a:srgbClr val="F1EBFC"/>
          </a:solidFill>
          <a:ln w="19050">
            <a:solidFill>
              <a:srgbClr val="2E11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52">
            <a:extLst>
              <a:ext uri="{FF2B5EF4-FFF2-40B4-BE49-F238E27FC236}">
                <a16:creationId xmlns:a16="http://schemas.microsoft.com/office/drawing/2014/main" id="{48221FE2-84D9-AB9B-B553-085D7E054847}"/>
              </a:ext>
            </a:extLst>
          </p:cNvPr>
          <p:cNvSpPr txBox="1"/>
          <p:nvPr/>
        </p:nvSpPr>
        <p:spPr>
          <a:xfrm>
            <a:off x="5765800" y="2762331"/>
            <a:ext cx="4349750" cy="207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with Atrous Separable Convolution (DeepLabv3+)</a:t>
            </a:r>
            <a:endParaRPr lang="en-US" sz="1050" dirty="0"/>
          </a:p>
        </p:txBody>
      </p:sp>
      <p:sp>
        <p:nvSpPr>
          <p:cNvPr id="127" name="Text 53">
            <a:extLst>
              <a:ext uri="{FF2B5EF4-FFF2-40B4-BE49-F238E27FC236}">
                <a16:creationId xmlns:a16="http://schemas.microsoft.com/office/drawing/2014/main" id="{BA076AA4-6AA8-39B2-C653-E20F180E11FD}"/>
              </a:ext>
            </a:extLst>
          </p:cNvPr>
          <p:cNvSpPr txBox="1"/>
          <p:nvPr/>
        </p:nvSpPr>
        <p:spPr>
          <a:xfrm>
            <a:off x="5765800" y="2985304"/>
            <a:ext cx="4191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ECCV, 2018 · precise extraction of slick boundaries</a:t>
            </a:r>
            <a:endParaRPr lang="en-US" sz="850" dirty="0"/>
          </a:p>
        </p:txBody>
      </p:sp>
      <p:sp>
        <p:nvSpPr>
          <p:cNvPr id="129" name="Text 54">
            <a:extLst>
              <a:ext uri="{FF2B5EF4-FFF2-40B4-BE49-F238E27FC236}">
                <a16:creationId xmlns:a16="http://schemas.microsoft.com/office/drawing/2014/main" id="{E0389D79-CF31-D6A9-A606-E3458804318B}"/>
              </a:ext>
            </a:extLst>
          </p:cNvPr>
          <p:cNvSpPr txBox="1"/>
          <p:nvPr/>
        </p:nvSpPr>
        <p:spPr>
          <a:xfrm>
            <a:off x="10083800" y="2646680"/>
            <a:ext cx="1803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
</a:t>
            </a:r>
            <a:r>
              <a:rPr lang="en-US" sz="85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10.1007/978-3-030-01234-2_49</a:t>
            </a:r>
            <a:endParaRPr lang="en-US" sz="850" dirty="0"/>
          </a:p>
        </p:txBody>
      </p:sp>
      <p:sp>
        <p:nvSpPr>
          <p:cNvPr id="131" name="Shape 55">
            <a:extLst>
              <a:ext uri="{FF2B5EF4-FFF2-40B4-BE49-F238E27FC236}">
                <a16:creationId xmlns:a16="http://schemas.microsoft.com/office/drawing/2014/main" id="{7A413A32-6E59-468D-2DAB-C4165FE32070}"/>
              </a:ext>
            </a:extLst>
          </p:cNvPr>
          <p:cNvSpPr/>
          <p:nvPr/>
        </p:nvSpPr>
        <p:spPr>
          <a:xfrm>
            <a:off x="5308600" y="3398520"/>
            <a:ext cx="6705600" cy="726440"/>
          </a:xfrm>
          <a:prstGeom prst="rect">
            <a:avLst/>
          </a:prstGeom>
          <a:solidFill>
            <a:srgbClr val="F1EBFC"/>
          </a:solidFill>
          <a:ln w="19050">
            <a:solidFill>
              <a:srgbClr val="2E11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Text 58">
            <a:extLst>
              <a:ext uri="{FF2B5EF4-FFF2-40B4-BE49-F238E27FC236}">
                <a16:creationId xmlns:a16="http://schemas.microsoft.com/office/drawing/2014/main" id="{85997037-9BB3-971E-F636-14FC85E97E9C}"/>
              </a:ext>
            </a:extLst>
          </p:cNvPr>
          <p:cNvSpPr txBox="1"/>
          <p:nvPr/>
        </p:nvSpPr>
        <p:spPr>
          <a:xfrm>
            <a:off x="5765800" y="3577080"/>
            <a:ext cx="419100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Residual Learning for Image Recognition (ResNet)</a:t>
            </a:r>
            <a:endParaRPr lang="en-US" sz="1050" dirty="0"/>
          </a:p>
        </p:txBody>
      </p:sp>
      <p:sp>
        <p:nvSpPr>
          <p:cNvPr id="139" name="Text 59">
            <a:extLst>
              <a:ext uri="{FF2B5EF4-FFF2-40B4-BE49-F238E27FC236}">
                <a16:creationId xmlns:a16="http://schemas.microsoft.com/office/drawing/2014/main" id="{3A57F5CB-D176-A872-F625-838421F92D3F}"/>
              </a:ext>
            </a:extLst>
          </p:cNvPr>
          <p:cNvSpPr txBox="1"/>
          <p:nvPr/>
        </p:nvSpPr>
        <p:spPr>
          <a:xfrm>
            <a:off x="5765800" y="3769780"/>
            <a:ext cx="4191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CVPR, 2016 · ResNet-18 backbone for edge inference</a:t>
            </a:r>
            <a:endParaRPr lang="en-US" sz="850" dirty="0"/>
          </a:p>
        </p:txBody>
      </p:sp>
      <p:sp>
        <p:nvSpPr>
          <p:cNvPr id="141" name="Text 60">
            <a:extLst>
              <a:ext uri="{FF2B5EF4-FFF2-40B4-BE49-F238E27FC236}">
                <a16:creationId xmlns:a16="http://schemas.microsoft.com/office/drawing/2014/main" id="{239C4A4A-4F1E-11F4-A819-B325F839F62A}"/>
              </a:ext>
            </a:extLst>
          </p:cNvPr>
          <p:cNvSpPr txBox="1"/>
          <p:nvPr/>
        </p:nvSpPr>
        <p:spPr>
          <a:xfrm>
            <a:off x="10083800" y="3449320"/>
            <a:ext cx="1803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
</a:t>
            </a:r>
            <a:r>
              <a:rPr lang="en-US" sz="85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10.1109/CVPR.2016.90</a:t>
            </a:r>
            <a:endParaRPr lang="en-US" sz="850" dirty="0"/>
          </a:p>
        </p:txBody>
      </p:sp>
      <p:sp>
        <p:nvSpPr>
          <p:cNvPr id="143" name="Shape 61">
            <a:extLst>
              <a:ext uri="{FF2B5EF4-FFF2-40B4-BE49-F238E27FC236}">
                <a16:creationId xmlns:a16="http://schemas.microsoft.com/office/drawing/2014/main" id="{C08042A1-E3B4-3E77-7DE3-C43475C4F0D0}"/>
              </a:ext>
            </a:extLst>
          </p:cNvPr>
          <p:cNvSpPr/>
          <p:nvPr/>
        </p:nvSpPr>
        <p:spPr>
          <a:xfrm>
            <a:off x="5308600" y="4201160"/>
            <a:ext cx="6705600" cy="726440"/>
          </a:xfrm>
          <a:prstGeom prst="rect">
            <a:avLst/>
          </a:prstGeom>
          <a:solidFill>
            <a:srgbClr val="F1EBFC"/>
          </a:solidFill>
          <a:ln w="19050">
            <a:solidFill>
              <a:srgbClr val="2E11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Text 64">
            <a:extLst>
              <a:ext uri="{FF2B5EF4-FFF2-40B4-BE49-F238E27FC236}">
                <a16:creationId xmlns:a16="http://schemas.microsoft.com/office/drawing/2014/main" id="{E713EAE8-0EF4-5014-1C10-987C2D2CDF1C}"/>
              </a:ext>
            </a:extLst>
          </p:cNvPr>
          <p:cNvSpPr txBox="1"/>
          <p:nvPr/>
        </p:nvSpPr>
        <p:spPr>
          <a:xfrm>
            <a:off x="5765800" y="4331273"/>
            <a:ext cx="4587172" cy="22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TerraMind: Large-Scale Generative Multimodality for Earth Observation</a:t>
            </a:r>
            <a:endParaRPr lang="en-US" sz="1050" dirty="0"/>
          </a:p>
        </p:txBody>
      </p:sp>
      <p:sp>
        <p:nvSpPr>
          <p:cNvPr id="151" name="Text 65">
            <a:extLst>
              <a:ext uri="{FF2B5EF4-FFF2-40B4-BE49-F238E27FC236}">
                <a16:creationId xmlns:a16="http://schemas.microsoft.com/office/drawing/2014/main" id="{7A72208B-3C73-7B83-178B-DC962969EF9A}"/>
              </a:ext>
            </a:extLst>
          </p:cNvPr>
          <p:cNvSpPr txBox="1"/>
          <p:nvPr/>
        </p:nvSpPr>
        <p:spPr>
          <a:xfrm>
            <a:off x="5765800" y="4548195"/>
            <a:ext cx="4191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ICCV, 2025 · fusing complementary geospatial signals</a:t>
            </a:r>
            <a:endParaRPr lang="en-US" sz="850" dirty="0"/>
          </a:p>
        </p:txBody>
      </p:sp>
      <p:sp>
        <p:nvSpPr>
          <p:cNvPr id="153" name="Text 66">
            <a:extLst>
              <a:ext uri="{FF2B5EF4-FFF2-40B4-BE49-F238E27FC236}">
                <a16:creationId xmlns:a16="http://schemas.microsoft.com/office/drawing/2014/main" id="{D35ABF51-18D8-8E46-D78D-4DBD159CAB7D}"/>
              </a:ext>
            </a:extLst>
          </p:cNvPr>
          <p:cNvSpPr txBox="1"/>
          <p:nvPr/>
        </p:nvSpPr>
        <p:spPr>
          <a:xfrm>
            <a:off x="10083800" y="4251960"/>
            <a:ext cx="1803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
</a:t>
            </a:r>
            <a:r>
              <a:rPr lang="en-US" sz="85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10.1109/ICCV51701.2025.00693</a:t>
            </a:r>
            <a:endParaRPr lang="en-US" sz="850" dirty="0"/>
          </a:p>
        </p:txBody>
      </p:sp>
      <p:pic>
        <p:nvPicPr>
          <p:cNvPr id="155" name="Image 9" descr="C:\Users\Samrat S K\AppData\Local\Temp\pg/f_link_1B642B.svg">
            <a:extLst>
              <a:ext uri="{FF2B5EF4-FFF2-40B4-BE49-F238E27FC236}">
                <a16:creationId xmlns:a16="http://schemas.microsoft.com/office/drawing/2014/main" id="{20D43EE8-39BA-0888-5EC0-E9864209A1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77800" y="5130800"/>
            <a:ext cx="203200" cy="203200"/>
          </a:xfrm>
          <a:prstGeom prst="rect">
            <a:avLst/>
          </a:prstGeom>
        </p:spPr>
      </p:pic>
      <p:sp>
        <p:nvSpPr>
          <p:cNvPr id="157" name="Text 67">
            <a:extLst>
              <a:ext uri="{FF2B5EF4-FFF2-40B4-BE49-F238E27FC236}">
                <a16:creationId xmlns:a16="http://schemas.microsoft.com/office/drawing/2014/main" id="{7E06551B-EDEE-3A8F-3229-95ADDEDADC73}"/>
              </a:ext>
            </a:extLst>
          </p:cNvPr>
          <p:cNvSpPr txBox="1"/>
          <p:nvPr/>
        </p:nvSpPr>
        <p:spPr>
          <a:xfrm>
            <a:off x="457200" y="50927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6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&amp; Project Links</a:t>
            </a:r>
            <a:endParaRPr lang="en-US" sz="1600" dirty="0"/>
          </a:p>
        </p:txBody>
      </p:sp>
      <p:sp>
        <p:nvSpPr>
          <p:cNvPr id="159" name="Text 68">
            <a:extLst>
              <a:ext uri="{FF2B5EF4-FFF2-40B4-BE49-F238E27FC236}">
                <a16:creationId xmlns:a16="http://schemas.microsoft.com/office/drawing/2014/main" id="{D244911C-2073-3B40-394F-7C41B17077B2}"/>
              </a:ext>
            </a:extLst>
          </p:cNvPr>
          <p:cNvSpPr txBox="1"/>
          <p:nvPr/>
        </p:nvSpPr>
        <p:spPr>
          <a:xfrm>
            <a:off x="8204200" y="50927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explore our own work</a:t>
            </a:r>
            <a:endParaRPr lang="en-US" sz="900" dirty="0"/>
          </a:p>
        </p:txBody>
      </p:sp>
      <p:sp>
        <p:nvSpPr>
          <p:cNvPr id="161" name="Shape 69">
            <a:extLst>
              <a:ext uri="{FF2B5EF4-FFF2-40B4-BE49-F238E27FC236}">
                <a16:creationId xmlns:a16="http://schemas.microsoft.com/office/drawing/2014/main" id="{A6765F84-E2E6-F677-3950-0225DB4A7851}"/>
              </a:ext>
            </a:extLst>
          </p:cNvPr>
          <p:cNvSpPr/>
          <p:nvPr/>
        </p:nvSpPr>
        <p:spPr>
          <a:xfrm>
            <a:off x="177800" y="5435600"/>
            <a:ext cx="2863850" cy="1066800"/>
          </a:xfrm>
          <a:prstGeom prst="rect">
            <a:avLst/>
          </a:prstGeom>
          <a:solidFill>
            <a:srgbClr val="EFFDEF"/>
          </a:solidFill>
          <a:ln w="19050">
            <a:solidFill>
              <a:srgbClr val="1B64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3" name="Shape 70">
            <a:extLst>
              <a:ext uri="{FF2B5EF4-FFF2-40B4-BE49-F238E27FC236}">
                <a16:creationId xmlns:a16="http://schemas.microsoft.com/office/drawing/2014/main" id="{4DF988B6-76F7-5A0D-54E0-5BDD2E7A3E9D}"/>
              </a:ext>
            </a:extLst>
          </p:cNvPr>
          <p:cNvSpPr/>
          <p:nvPr/>
        </p:nvSpPr>
        <p:spPr>
          <a:xfrm>
            <a:off x="279400" y="5537200"/>
            <a:ext cx="8636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5" name="Text 71">
            <a:extLst>
              <a:ext uri="{FF2B5EF4-FFF2-40B4-BE49-F238E27FC236}">
                <a16:creationId xmlns:a16="http://schemas.microsoft.com/office/drawing/2014/main" id="{0C60135D-163C-846F-AF02-8F06FE7463E2}"/>
              </a:ext>
            </a:extLst>
          </p:cNvPr>
          <p:cNvSpPr txBox="1"/>
          <p:nvPr/>
        </p:nvSpPr>
        <p:spPr>
          <a:xfrm>
            <a:off x="279400" y="5537200"/>
            <a:ext cx="863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100" dirty="0"/>
          </a:p>
        </p:txBody>
      </p:sp>
      <p:pic>
        <p:nvPicPr>
          <p:cNvPr id="167" name="Image 10" descr="C:\Users\Samrat S K\AppData\Local\Temp\pg/f_globe_1B642B.svg">
            <a:extLst>
              <a:ext uri="{FF2B5EF4-FFF2-40B4-BE49-F238E27FC236}">
                <a16:creationId xmlns:a16="http://schemas.microsoft.com/office/drawing/2014/main" id="{11A0612D-01BD-518F-BB53-156C42C4E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70000" y="5588000"/>
            <a:ext cx="203200" cy="203200"/>
          </a:xfrm>
          <a:prstGeom prst="rect">
            <a:avLst/>
          </a:prstGeom>
        </p:spPr>
      </p:pic>
      <p:sp>
        <p:nvSpPr>
          <p:cNvPr id="169" name="Text 72">
            <a:extLst>
              <a:ext uri="{FF2B5EF4-FFF2-40B4-BE49-F238E27FC236}">
                <a16:creationId xmlns:a16="http://schemas.microsoft.com/office/drawing/2014/main" id="{E0029DBC-9D20-5A2D-2263-FA52F0DA44E6}"/>
              </a:ext>
            </a:extLst>
          </p:cNvPr>
          <p:cNvSpPr txBox="1"/>
          <p:nvPr/>
        </p:nvSpPr>
        <p:spPr>
          <a:xfrm>
            <a:off x="1270000" y="5842000"/>
            <a:ext cx="16954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Webpage</a:t>
            </a:r>
            <a:endParaRPr lang="en-US" sz="1100" dirty="0"/>
          </a:p>
        </p:txBody>
      </p:sp>
      <p:sp>
        <p:nvSpPr>
          <p:cNvPr id="171" name="Text 73">
            <a:extLst>
              <a:ext uri="{FF2B5EF4-FFF2-40B4-BE49-F238E27FC236}">
                <a16:creationId xmlns:a16="http://schemas.microsoft.com/office/drawing/2014/main" id="{CDEA176D-188F-FD3A-FF35-341C1568DE54}"/>
              </a:ext>
            </a:extLst>
          </p:cNvPr>
          <p:cNvSpPr txBox="1"/>
          <p:nvPr/>
        </p:nvSpPr>
        <p:spPr>
          <a:xfrm>
            <a:off x="1270000" y="6057900"/>
            <a:ext cx="1695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prototype</a:t>
            </a:r>
            <a:endParaRPr lang="en-US" sz="900" dirty="0"/>
          </a:p>
        </p:txBody>
      </p:sp>
      <p:sp>
        <p:nvSpPr>
          <p:cNvPr id="173" name="Text 74">
            <a:extLst>
              <a:ext uri="{FF2B5EF4-FFF2-40B4-BE49-F238E27FC236}">
                <a16:creationId xmlns:a16="http://schemas.microsoft.com/office/drawing/2014/main" id="{C8788117-D80E-13AE-C904-93B7C17D9402}"/>
              </a:ext>
            </a:extLst>
          </p:cNvPr>
          <p:cNvSpPr txBox="1"/>
          <p:nvPr/>
        </p:nvSpPr>
        <p:spPr>
          <a:xfrm>
            <a:off x="1270000" y="6235700"/>
            <a:ext cx="1695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link: ______________</a:t>
            </a:r>
            <a:endParaRPr lang="en-US" sz="850" dirty="0"/>
          </a:p>
        </p:txBody>
      </p:sp>
      <p:sp>
        <p:nvSpPr>
          <p:cNvPr id="175" name="Shape 75">
            <a:extLst>
              <a:ext uri="{FF2B5EF4-FFF2-40B4-BE49-F238E27FC236}">
                <a16:creationId xmlns:a16="http://schemas.microsoft.com/office/drawing/2014/main" id="{F8FEEB2C-9C5E-74D2-4CD4-5867F1FCC1AD}"/>
              </a:ext>
            </a:extLst>
          </p:cNvPr>
          <p:cNvSpPr/>
          <p:nvPr/>
        </p:nvSpPr>
        <p:spPr>
          <a:xfrm>
            <a:off x="3168650" y="5435600"/>
            <a:ext cx="2863850" cy="1066800"/>
          </a:xfrm>
          <a:prstGeom prst="rect">
            <a:avLst/>
          </a:prstGeom>
          <a:solidFill>
            <a:srgbClr val="EFFDEF"/>
          </a:solidFill>
          <a:ln w="19050">
            <a:solidFill>
              <a:srgbClr val="1B64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Shape 76">
            <a:extLst>
              <a:ext uri="{FF2B5EF4-FFF2-40B4-BE49-F238E27FC236}">
                <a16:creationId xmlns:a16="http://schemas.microsoft.com/office/drawing/2014/main" id="{F65F805B-B6D2-BCB1-C660-71E279578ADB}"/>
              </a:ext>
            </a:extLst>
          </p:cNvPr>
          <p:cNvSpPr/>
          <p:nvPr/>
        </p:nvSpPr>
        <p:spPr>
          <a:xfrm>
            <a:off x="3270250" y="5537200"/>
            <a:ext cx="8636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9" name="Text 77">
            <a:extLst>
              <a:ext uri="{FF2B5EF4-FFF2-40B4-BE49-F238E27FC236}">
                <a16:creationId xmlns:a16="http://schemas.microsoft.com/office/drawing/2014/main" id="{33DE085E-DFFF-80E9-DE7E-D609BC3F5C10}"/>
              </a:ext>
            </a:extLst>
          </p:cNvPr>
          <p:cNvSpPr txBox="1"/>
          <p:nvPr/>
        </p:nvSpPr>
        <p:spPr>
          <a:xfrm>
            <a:off x="3270250" y="5537200"/>
            <a:ext cx="863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100" dirty="0"/>
          </a:p>
        </p:txBody>
      </p:sp>
      <p:pic>
        <p:nvPicPr>
          <p:cNvPr id="181" name="Image 11" descr="C:\Users\Samrat S K\AppData\Local\Temp\pg/f_play_1B642B.svg">
            <a:extLst>
              <a:ext uri="{FF2B5EF4-FFF2-40B4-BE49-F238E27FC236}">
                <a16:creationId xmlns:a16="http://schemas.microsoft.com/office/drawing/2014/main" id="{8FEECF93-B06A-33BD-CC82-D056AA762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260850" y="5588000"/>
            <a:ext cx="203200" cy="203200"/>
          </a:xfrm>
          <a:prstGeom prst="rect">
            <a:avLst/>
          </a:prstGeom>
        </p:spPr>
      </p:pic>
      <p:sp>
        <p:nvSpPr>
          <p:cNvPr id="183" name="Text 78">
            <a:extLst>
              <a:ext uri="{FF2B5EF4-FFF2-40B4-BE49-F238E27FC236}">
                <a16:creationId xmlns:a16="http://schemas.microsoft.com/office/drawing/2014/main" id="{F946C216-A557-5D2A-B6A8-1821D116A3F3}"/>
              </a:ext>
            </a:extLst>
          </p:cNvPr>
          <p:cNvSpPr txBox="1"/>
          <p:nvPr/>
        </p:nvSpPr>
        <p:spPr>
          <a:xfrm>
            <a:off x="4260850" y="5842000"/>
            <a:ext cx="16954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Demo</a:t>
            </a:r>
            <a:endParaRPr lang="en-US" sz="1100" dirty="0"/>
          </a:p>
        </p:txBody>
      </p:sp>
      <p:sp>
        <p:nvSpPr>
          <p:cNvPr id="185" name="Text 79">
            <a:extLst>
              <a:ext uri="{FF2B5EF4-FFF2-40B4-BE49-F238E27FC236}">
                <a16:creationId xmlns:a16="http://schemas.microsoft.com/office/drawing/2014/main" id="{4A774AFC-E888-4DB5-49AD-EB870C907F78}"/>
              </a:ext>
            </a:extLst>
          </p:cNvPr>
          <p:cNvSpPr txBox="1"/>
          <p:nvPr/>
        </p:nvSpPr>
        <p:spPr>
          <a:xfrm>
            <a:off x="4260850" y="6057900"/>
            <a:ext cx="1695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video</a:t>
            </a:r>
            <a:endParaRPr lang="en-US" sz="900" dirty="0"/>
          </a:p>
        </p:txBody>
      </p:sp>
      <p:sp>
        <p:nvSpPr>
          <p:cNvPr id="187" name="Text 80">
            <a:extLst>
              <a:ext uri="{FF2B5EF4-FFF2-40B4-BE49-F238E27FC236}">
                <a16:creationId xmlns:a16="http://schemas.microsoft.com/office/drawing/2014/main" id="{A8A56831-FF35-2369-D56A-F4230E9C23AE}"/>
              </a:ext>
            </a:extLst>
          </p:cNvPr>
          <p:cNvSpPr txBox="1"/>
          <p:nvPr/>
        </p:nvSpPr>
        <p:spPr>
          <a:xfrm>
            <a:off x="4260850" y="6235700"/>
            <a:ext cx="1695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link: ______________</a:t>
            </a:r>
            <a:endParaRPr lang="en-US" sz="850" dirty="0"/>
          </a:p>
        </p:txBody>
      </p:sp>
      <p:sp>
        <p:nvSpPr>
          <p:cNvPr id="189" name="Shape 81">
            <a:extLst>
              <a:ext uri="{FF2B5EF4-FFF2-40B4-BE49-F238E27FC236}">
                <a16:creationId xmlns:a16="http://schemas.microsoft.com/office/drawing/2014/main" id="{31535F81-3F2F-255D-ABF1-32F68BDECA9D}"/>
              </a:ext>
            </a:extLst>
          </p:cNvPr>
          <p:cNvSpPr/>
          <p:nvPr/>
        </p:nvSpPr>
        <p:spPr>
          <a:xfrm>
            <a:off x="6159500" y="5435600"/>
            <a:ext cx="2863850" cy="1066800"/>
          </a:xfrm>
          <a:prstGeom prst="rect">
            <a:avLst/>
          </a:prstGeom>
          <a:solidFill>
            <a:srgbClr val="EFFDEF"/>
          </a:solidFill>
          <a:ln w="19050">
            <a:solidFill>
              <a:srgbClr val="1B64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1" name="Shape 82">
            <a:extLst>
              <a:ext uri="{FF2B5EF4-FFF2-40B4-BE49-F238E27FC236}">
                <a16:creationId xmlns:a16="http://schemas.microsoft.com/office/drawing/2014/main" id="{E413D6A5-F3C0-C21D-075D-D0F640FA723B}"/>
              </a:ext>
            </a:extLst>
          </p:cNvPr>
          <p:cNvSpPr/>
          <p:nvPr/>
        </p:nvSpPr>
        <p:spPr>
          <a:xfrm>
            <a:off x="6261100" y="5537200"/>
            <a:ext cx="8636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3" name="Text 83">
            <a:extLst>
              <a:ext uri="{FF2B5EF4-FFF2-40B4-BE49-F238E27FC236}">
                <a16:creationId xmlns:a16="http://schemas.microsoft.com/office/drawing/2014/main" id="{EC87546D-D0C5-10D4-049A-847BC36E0D04}"/>
              </a:ext>
            </a:extLst>
          </p:cNvPr>
          <p:cNvSpPr txBox="1"/>
          <p:nvPr/>
        </p:nvSpPr>
        <p:spPr>
          <a:xfrm>
            <a:off x="6261100" y="5537200"/>
            <a:ext cx="863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100" dirty="0"/>
          </a:p>
        </p:txBody>
      </p:sp>
      <p:pic>
        <p:nvPicPr>
          <p:cNvPr id="195" name="Image 12" descr="C:\Users\Samrat S K\AppData\Local\Temp\pg/f_code_1B642B.svg">
            <a:extLst>
              <a:ext uri="{FF2B5EF4-FFF2-40B4-BE49-F238E27FC236}">
                <a16:creationId xmlns:a16="http://schemas.microsoft.com/office/drawing/2014/main" id="{057D2A57-77F0-43B6-B46A-87C1F9E56F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251700" y="5588000"/>
            <a:ext cx="203200" cy="203200"/>
          </a:xfrm>
          <a:prstGeom prst="rect">
            <a:avLst/>
          </a:prstGeom>
        </p:spPr>
      </p:pic>
      <p:sp>
        <p:nvSpPr>
          <p:cNvPr id="197" name="Text 84">
            <a:extLst>
              <a:ext uri="{FF2B5EF4-FFF2-40B4-BE49-F238E27FC236}">
                <a16:creationId xmlns:a16="http://schemas.microsoft.com/office/drawing/2014/main" id="{F39DF4EF-1849-8BB0-5565-AEB823F4B63B}"/>
              </a:ext>
            </a:extLst>
          </p:cNvPr>
          <p:cNvSpPr txBox="1"/>
          <p:nvPr/>
        </p:nvSpPr>
        <p:spPr>
          <a:xfrm>
            <a:off x="7251700" y="5842000"/>
            <a:ext cx="16954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199" name="Text 85">
            <a:extLst>
              <a:ext uri="{FF2B5EF4-FFF2-40B4-BE49-F238E27FC236}">
                <a16:creationId xmlns:a16="http://schemas.microsoft.com/office/drawing/2014/main" id="{59367EE9-2114-C97F-1DEE-F2274A6B0006}"/>
              </a:ext>
            </a:extLst>
          </p:cNvPr>
          <p:cNvSpPr txBox="1"/>
          <p:nvPr/>
        </p:nvSpPr>
        <p:spPr>
          <a:xfrm>
            <a:off x="7251700" y="6057900"/>
            <a:ext cx="1695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&amp; docs</a:t>
            </a:r>
            <a:endParaRPr lang="en-US" sz="900" dirty="0"/>
          </a:p>
        </p:txBody>
      </p:sp>
      <p:sp>
        <p:nvSpPr>
          <p:cNvPr id="201" name="Text 86">
            <a:extLst>
              <a:ext uri="{FF2B5EF4-FFF2-40B4-BE49-F238E27FC236}">
                <a16:creationId xmlns:a16="http://schemas.microsoft.com/office/drawing/2014/main" id="{8DA03167-9130-A9F0-CFF2-84EB1E3E65B6}"/>
              </a:ext>
            </a:extLst>
          </p:cNvPr>
          <p:cNvSpPr txBox="1"/>
          <p:nvPr/>
        </p:nvSpPr>
        <p:spPr>
          <a:xfrm>
            <a:off x="7251700" y="6235700"/>
            <a:ext cx="1695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link: ______________</a:t>
            </a:r>
            <a:endParaRPr lang="en-US" sz="850" dirty="0"/>
          </a:p>
        </p:txBody>
      </p:sp>
      <p:sp>
        <p:nvSpPr>
          <p:cNvPr id="203" name="Shape 87">
            <a:extLst>
              <a:ext uri="{FF2B5EF4-FFF2-40B4-BE49-F238E27FC236}">
                <a16:creationId xmlns:a16="http://schemas.microsoft.com/office/drawing/2014/main" id="{2F646FD1-B144-B713-3FA4-FB160624DA48}"/>
              </a:ext>
            </a:extLst>
          </p:cNvPr>
          <p:cNvSpPr/>
          <p:nvPr/>
        </p:nvSpPr>
        <p:spPr>
          <a:xfrm>
            <a:off x="9150350" y="5435600"/>
            <a:ext cx="2863850" cy="1066800"/>
          </a:xfrm>
          <a:prstGeom prst="rect">
            <a:avLst/>
          </a:prstGeom>
          <a:solidFill>
            <a:srgbClr val="EFFDEF"/>
          </a:solidFill>
          <a:ln w="19050">
            <a:solidFill>
              <a:srgbClr val="1B64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Shape 88">
            <a:extLst>
              <a:ext uri="{FF2B5EF4-FFF2-40B4-BE49-F238E27FC236}">
                <a16:creationId xmlns:a16="http://schemas.microsoft.com/office/drawing/2014/main" id="{2B265332-63B0-0D4B-8F64-1C1F5F7851B8}"/>
              </a:ext>
            </a:extLst>
          </p:cNvPr>
          <p:cNvSpPr/>
          <p:nvPr/>
        </p:nvSpPr>
        <p:spPr>
          <a:xfrm>
            <a:off x="9251950" y="5537200"/>
            <a:ext cx="8636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7" name="Text 89">
            <a:extLst>
              <a:ext uri="{FF2B5EF4-FFF2-40B4-BE49-F238E27FC236}">
                <a16:creationId xmlns:a16="http://schemas.microsoft.com/office/drawing/2014/main" id="{484ED9B2-563B-B9C3-5400-A518B49345EC}"/>
              </a:ext>
            </a:extLst>
          </p:cNvPr>
          <p:cNvSpPr txBox="1"/>
          <p:nvPr/>
        </p:nvSpPr>
        <p:spPr>
          <a:xfrm>
            <a:off x="9251950" y="5537200"/>
            <a:ext cx="863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100" dirty="0"/>
          </a:p>
        </p:txBody>
      </p:sp>
      <p:pic>
        <p:nvPicPr>
          <p:cNvPr id="209" name="Image 13" descr="C:\Users\Samrat S K\AppData\Local\Temp\pg/f_atom_1B642B.svg">
            <a:extLst>
              <a:ext uri="{FF2B5EF4-FFF2-40B4-BE49-F238E27FC236}">
                <a16:creationId xmlns:a16="http://schemas.microsoft.com/office/drawing/2014/main" id="{99DDB203-9BDD-B8AF-1D2E-C08158DA63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242550" y="5588000"/>
            <a:ext cx="203200" cy="203200"/>
          </a:xfrm>
          <a:prstGeom prst="rect">
            <a:avLst/>
          </a:prstGeom>
        </p:spPr>
      </p:pic>
      <p:sp>
        <p:nvSpPr>
          <p:cNvPr id="211" name="Text 90">
            <a:extLst>
              <a:ext uri="{FF2B5EF4-FFF2-40B4-BE49-F238E27FC236}">
                <a16:creationId xmlns:a16="http://schemas.microsoft.com/office/drawing/2014/main" id="{F15D07B1-D87E-F391-8CE5-9B299220B92A}"/>
              </a:ext>
            </a:extLst>
          </p:cNvPr>
          <p:cNvSpPr txBox="1"/>
          <p:nvPr/>
        </p:nvSpPr>
        <p:spPr>
          <a:xfrm>
            <a:off x="10242550" y="5842000"/>
            <a:ext cx="16954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Simulation</a:t>
            </a:r>
            <a:endParaRPr lang="en-US" sz="1100" dirty="0"/>
          </a:p>
        </p:txBody>
      </p:sp>
      <p:sp>
        <p:nvSpPr>
          <p:cNvPr id="213" name="Text 91">
            <a:extLst>
              <a:ext uri="{FF2B5EF4-FFF2-40B4-BE49-F238E27FC236}">
                <a16:creationId xmlns:a16="http://schemas.microsoft.com/office/drawing/2014/main" id="{C457DC0F-45B3-9E92-F38E-FB4F9CFB241C}"/>
              </a:ext>
            </a:extLst>
          </p:cNvPr>
          <p:cNvSpPr txBox="1"/>
          <p:nvPr/>
        </p:nvSpPr>
        <p:spPr>
          <a:xfrm>
            <a:off x="10242550" y="6057900"/>
            <a:ext cx="1695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model demo</a:t>
            </a:r>
            <a:endParaRPr lang="en-US" sz="900" dirty="0"/>
          </a:p>
        </p:txBody>
      </p:sp>
      <p:sp>
        <p:nvSpPr>
          <p:cNvPr id="215" name="Text 92">
            <a:extLst>
              <a:ext uri="{FF2B5EF4-FFF2-40B4-BE49-F238E27FC236}">
                <a16:creationId xmlns:a16="http://schemas.microsoft.com/office/drawing/2014/main" id="{AFF668EF-EC91-F32E-5052-334A5330C20E}"/>
              </a:ext>
            </a:extLst>
          </p:cNvPr>
          <p:cNvSpPr txBox="1"/>
          <p:nvPr/>
        </p:nvSpPr>
        <p:spPr>
          <a:xfrm>
            <a:off x="10242550" y="6235700"/>
            <a:ext cx="1695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link: ______________</a:t>
            </a:r>
            <a:endParaRPr lang="en-US" sz="850" dirty="0"/>
          </a:p>
        </p:txBody>
      </p:sp>
      <p:sp>
        <p:nvSpPr>
          <p:cNvPr id="217" name="Shape 23">
            <a:extLst>
              <a:ext uri="{FF2B5EF4-FFF2-40B4-BE49-F238E27FC236}">
                <a16:creationId xmlns:a16="http://schemas.microsoft.com/office/drawing/2014/main" id="{5BDAF5CA-AC6C-3921-9832-10FB012AA628}"/>
              </a:ext>
            </a:extLst>
          </p:cNvPr>
          <p:cNvSpPr/>
          <p:nvPr/>
        </p:nvSpPr>
        <p:spPr>
          <a:xfrm>
            <a:off x="5410200" y="1188945"/>
            <a:ext cx="254000" cy="254000"/>
          </a:xfrm>
          <a:prstGeom prst="ellipse">
            <a:avLst/>
          </a:prstGeom>
          <a:solidFill>
            <a:srgbClr val="2E1193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IN" sz="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19" name="Shape 23">
            <a:extLst>
              <a:ext uri="{FF2B5EF4-FFF2-40B4-BE49-F238E27FC236}">
                <a16:creationId xmlns:a16="http://schemas.microsoft.com/office/drawing/2014/main" id="{0DE65062-4A66-A4AC-5F97-B75A359A7B7A}"/>
              </a:ext>
            </a:extLst>
          </p:cNvPr>
          <p:cNvSpPr/>
          <p:nvPr/>
        </p:nvSpPr>
        <p:spPr>
          <a:xfrm>
            <a:off x="5410200" y="2031142"/>
            <a:ext cx="254000" cy="254000"/>
          </a:xfrm>
          <a:prstGeom prst="ellipse">
            <a:avLst/>
          </a:prstGeom>
          <a:solidFill>
            <a:srgbClr val="2E1193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IN" sz="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220" name="Shape 23">
            <a:extLst>
              <a:ext uri="{FF2B5EF4-FFF2-40B4-BE49-F238E27FC236}">
                <a16:creationId xmlns:a16="http://schemas.microsoft.com/office/drawing/2014/main" id="{56E8FE41-8162-0B83-B081-C10A74E46E6A}"/>
              </a:ext>
            </a:extLst>
          </p:cNvPr>
          <p:cNvSpPr/>
          <p:nvPr/>
        </p:nvSpPr>
        <p:spPr>
          <a:xfrm>
            <a:off x="5410200" y="2813916"/>
            <a:ext cx="254000" cy="254000"/>
          </a:xfrm>
          <a:prstGeom prst="ellipse">
            <a:avLst/>
          </a:prstGeom>
          <a:solidFill>
            <a:srgbClr val="2E1193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IN" sz="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21" name="Shape 23">
            <a:extLst>
              <a:ext uri="{FF2B5EF4-FFF2-40B4-BE49-F238E27FC236}">
                <a16:creationId xmlns:a16="http://schemas.microsoft.com/office/drawing/2014/main" id="{8497C0C9-D510-CBFF-DCCB-799D7B3791CD}"/>
              </a:ext>
            </a:extLst>
          </p:cNvPr>
          <p:cNvSpPr/>
          <p:nvPr/>
        </p:nvSpPr>
        <p:spPr>
          <a:xfrm>
            <a:off x="5410200" y="3630116"/>
            <a:ext cx="254000" cy="254000"/>
          </a:xfrm>
          <a:prstGeom prst="ellipse">
            <a:avLst/>
          </a:prstGeom>
          <a:solidFill>
            <a:srgbClr val="2E1193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IN" sz="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22" name="Shape 23">
            <a:extLst>
              <a:ext uri="{FF2B5EF4-FFF2-40B4-BE49-F238E27FC236}">
                <a16:creationId xmlns:a16="http://schemas.microsoft.com/office/drawing/2014/main" id="{D1FA7671-34B9-DFB7-0BF0-C1C34FC7A2FE}"/>
              </a:ext>
            </a:extLst>
          </p:cNvPr>
          <p:cNvSpPr/>
          <p:nvPr/>
        </p:nvSpPr>
        <p:spPr>
          <a:xfrm>
            <a:off x="5410200" y="4375331"/>
            <a:ext cx="254000" cy="254000"/>
          </a:xfrm>
          <a:prstGeom prst="ellipse">
            <a:avLst/>
          </a:prstGeom>
          <a:solidFill>
            <a:srgbClr val="2E1193"/>
          </a:solidFill>
          <a:ln/>
        </p:spPr>
        <p:txBody>
          <a:bodyPr lIns="0" tIns="0" rIns="0" bIns="0" anchor="ctr" anchorCtr="0"/>
          <a:lstStyle/>
          <a:p>
            <a:pPr algn="ctr"/>
            <a:r>
              <a:rPr lang="en-IN" sz="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8872</TotalTime>
  <Words>1078</Words>
  <Application>Microsoft Office PowerPoint</Application>
  <PresentationFormat>Widescreen</PresentationFormat>
  <Paragraphs>285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samratskcosmic12@gmail.com</cp:lastModifiedBy>
  <cp:revision>199</cp:revision>
  <dcterms:created xsi:type="dcterms:W3CDTF">2013-12-12T18:46:50Z</dcterms:created>
  <dcterms:modified xsi:type="dcterms:W3CDTF">2026-09-29T12:15:35Z</dcterms:modified>
  <cp:category/>
</cp:coreProperties>
</file>