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9FD"/>
    <a:srgbClr val="7845FA"/>
    <a:srgbClr val="E0612B"/>
    <a:srgbClr val="DB5D28"/>
    <a:srgbClr val="FBEFDC"/>
    <a:srgbClr val="FBF4F4"/>
    <a:srgbClr val="FDF6F5"/>
    <a:srgbClr val="CB2B2D"/>
    <a:srgbClr val="E7474E"/>
    <a:srgbClr val="FD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26" autoAdjust="0"/>
  </p:normalViewPr>
  <p:slideViewPr>
    <p:cSldViewPr snapToGrid="0" snapToObjects="1">
      <p:cViewPr varScale="1">
        <p:scale>
          <a:sx n="105" d="100"/>
          <a:sy n="105" d="100"/>
        </p:scale>
        <p:origin x="232" y="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051C-CF0C-8E50-285E-639B26A3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0C702EE0-DB8B-2EC9-0578-71E7DB715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E425729-CD84-0422-0928-44CF5874D3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942A4C9-72C3-A4E9-D88D-936BF5924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42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5.png"/><Relationship Id="rId21" Type="http://schemas.openxmlformats.org/officeDocument/2006/relationships/image" Target="../media/image32.png"/><Relationship Id="rId34" Type="http://schemas.openxmlformats.org/officeDocument/2006/relationships/image" Target="../media/image45.sv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svg"/><Relationship Id="rId5" Type="http://schemas.openxmlformats.org/officeDocument/2006/relationships/image" Target="../media/image16.sv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sv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svg"/><Relationship Id="rId8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marine.copernicus.eu/" TargetMode="External"/><Relationship Id="rId13" Type="http://schemas.openxmlformats.org/officeDocument/2006/relationships/hyperlink" Target="https://www.protectedplanet.net/en/thematic-areas/wdpa" TargetMode="External"/><Relationship Id="rId18" Type="http://schemas.openxmlformats.org/officeDocument/2006/relationships/hyperlink" Target="https://response.restoration.noaa.gov/esi" TargetMode="External"/><Relationship Id="rId26" Type="http://schemas.openxmlformats.org/officeDocument/2006/relationships/hyperlink" Target="https://github.com/OpenDrift/opendrift?utm_source=chatgpt.com" TargetMode="External"/><Relationship Id="rId3" Type="http://schemas.openxmlformats.org/officeDocument/2006/relationships/hyperlink" Target="https://dataspace.copernicus.eu/data-collections/copernicus-sentinel-missions/sentinel-1?utm_source=chatgpt.com" TargetMode="External"/><Relationship Id="rId21" Type="http://schemas.openxmlformats.org/officeDocument/2006/relationships/hyperlink" Target="https://pubmed.ncbi.nlm.nih.gov/38850755/?utm_source=chatgpt.com" TargetMode="External"/><Relationship Id="rId7" Type="http://schemas.openxmlformats.org/officeDocument/2006/relationships/hyperlink" Target="https://cds.climate.copernicus.eu/datasets/" TargetMode="External"/><Relationship Id="rId12" Type="http://schemas.openxmlformats.org/officeDocument/2006/relationships/hyperlink" Target="https://globalfishingwatch.org/our-apis/" TargetMode="External"/><Relationship Id="rId17" Type="http://schemas.openxmlformats.org/officeDocument/2006/relationships/hyperlink" Target="https://www.naturalearthdata.com/downloads/10m-physical-vectors/10m-coastline/?utm_source=chatgpt.com" TargetMode="External"/><Relationship Id="rId25" Type="http://schemas.openxmlformats.org/officeDocument/2006/relationships/hyperlink" Target="https://opendrift.github.io/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ww.naturalearthdata.com/downloads/10m-physical-vectors/" TargetMode="External"/><Relationship Id="rId20" Type="http://schemas.openxmlformats.org/officeDocument/2006/relationships/hyperlink" Target="https://www.sciencedirect.com/science/article/pii/S0025326X24005265" TargetMode="External"/><Relationship Id="rId29" Type="http://schemas.openxmlformats.org/officeDocument/2006/relationships/hyperlink" Target="https://zenodo.org/records/349713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enodo.org/records/8346860" TargetMode="External"/><Relationship Id="rId11" Type="http://schemas.openxmlformats.org/officeDocument/2006/relationships/hyperlink" Target="https://www.fisheries.noaa.gov/inport/item/79504" TargetMode="External"/><Relationship Id="rId24" Type="http://schemas.openxmlformats.org/officeDocument/2006/relationships/hyperlink" Target="https://arxiv.org/abs/2504.11171" TargetMode="External"/><Relationship Id="rId32" Type="http://schemas.openxmlformats.org/officeDocument/2006/relationships/image" Target="../media/image2.png"/><Relationship Id="rId5" Type="http://schemas.openxmlformats.org/officeDocument/2006/relationships/hyperlink" Target="https://sentinels.copernicus.eu/sentinel-data-access?utm_source=chatgpt.com" TargetMode="External"/><Relationship Id="rId15" Type="http://schemas.openxmlformats.org/officeDocument/2006/relationships/hyperlink" Target="https://resources.unep-wcmc.org/products/aaa46cd3d3d640b2916b8f0a0ffe07cb" TargetMode="External"/><Relationship Id="rId23" Type="http://schemas.openxmlformats.org/officeDocument/2006/relationships/hyperlink" Target="https://openaccess.thecvf.com/content/ICCV2025/html/Jakubik_TerraMind_Large-Scale_Generative_Multimodality_for_Earth_Observation_ICCV_2025_paper.html" TargetMode="External"/><Relationship Id="rId28" Type="http://schemas.openxmlformats.org/officeDocument/2006/relationships/hyperlink" Target="https://essd.copernicus.org/articles/17/6807/2025/?utm_source=chatgpt.com" TargetMode="External"/><Relationship Id="rId10" Type="http://schemas.openxmlformats.org/officeDocument/2006/relationships/hyperlink" Target="https://ocmgeodatastor1.blob.core.windows.net/marinecadastre/ais/aistrack/index-aistrack.html?utm_source=chatgpt.com" TargetMode="External"/><Relationship Id="rId19" Type="http://schemas.openxmlformats.org/officeDocument/2006/relationships/hyperlink" Target="https://www.fisheries.noaa.gov/inport/item/40881?utm_source=chatgpt.com" TargetMode="External"/><Relationship Id="rId31" Type="http://schemas.openxmlformats.org/officeDocument/2006/relationships/hyperlink" Target="https://zenodo.org/records/2541694?utm_source=chatgpt.com" TargetMode="External"/><Relationship Id="rId4" Type="http://schemas.openxmlformats.org/officeDocument/2006/relationships/hyperlink" Target="https://dataspace.copernicus.eu/" TargetMode="External"/><Relationship Id="rId9" Type="http://schemas.openxmlformats.org/officeDocument/2006/relationships/hyperlink" Target="https://www.incois.gov.in/" TargetMode="External"/><Relationship Id="rId14" Type="http://schemas.openxmlformats.org/officeDocument/2006/relationships/hyperlink" Target="https://allencoralatlas.org/resources/?utm_source=chatgpt.com" TargetMode="External"/><Relationship Id="rId22" Type="http://schemas.openxmlformats.org/officeDocument/2006/relationships/hyperlink" Target="https://openaccess.thecvf.com/content_ECCV_2018/html/Liang-Chieh_Chen_Encoder-Decoder_with_Atrous_ECCV_2018_paper.html" TargetMode="External"/><Relationship Id="rId27" Type="http://schemas.openxmlformats.org/officeDocument/2006/relationships/hyperlink" Target="https://www.itu.int/rec/R-REC-M.1371" TargetMode="External"/><Relationship Id="rId30" Type="http://schemas.openxmlformats.org/officeDocument/2006/relationships/hyperlink" Target="https://doi.org/10.3390/rs1115176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71172" y="2391481"/>
            <a:ext cx="2549865" cy="27271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393" y="2090746"/>
            <a:ext cx="5595607" cy="4022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26143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000000"/>
                </a:solidFill>
                <a:latin typeface="Arial" panose="020B0604020202020204"/>
              </a:rPr>
              <a:t>Leveraging satellite imagery to determine oil spills at sea along with AIS data correlations to identify the vessel responsible for the spill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Disaster Management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BMS/SIH2026/124</a:t>
            </a:r>
          </a:p>
          <a:p>
            <a:pPr marL="285750" indent="-285750" algn="just">
              <a:lnSpc>
                <a:spcPct val="114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Who Spilled it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01678-71DC-3904-4348-7BDF2AAFF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932" y="295229"/>
            <a:ext cx="1715813" cy="83410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97B6738-57AF-E0CC-617D-A196678FD3E2}"/>
              </a:ext>
            </a:extLst>
          </p:cNvPr>
          <p:cNvGrpSpPr/>
          <p:nvPr/>
        </p:nvGrpSpPr>
        <p:grpSpPr>
          <a:xfrm>
            <a:off x="4540523" y="1040675"/>
            <a:ext cx="2956303" cy="698760"/>
            <a:chOff x="4540523" y="1040675"/>
            <a:chExt cx="2956303" cy="69876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AF31BA-CC7F-2EAE-A794-ED1587003AB0}"/>
                </a:ext>
              </a:extLst>
            </p:cNvPr>
            <p:cNvSpPr txBox="1"/>
            <p:nvPr/>
          </p:nvSpPr>
          <p:spPr>
            <a:xfrm>
              <a:off x="4540523" y="1040675"/>
              <a:ext cx="2956303" cy="4924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eaLnBrk="0" hangingPunct="0">
                <a:spcBef>
                  <a:spcPct val="20000"/>
                </a:spcBef>
              </a:pPr>
              <a:r>
                <a:rPr lang="en-IN" sz="3200" b="1" dirty="0"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GUARDIANS</a:t>
              </a:r>
              <a:endParaRPr sz="3200" b="1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5992E5-DB65-949A-5723-DB2D631EA6C9}"/>
                </a:ext>
              </a:extLst>
            </p:cNvPr>
            <p:cNvSpPr txBox="1"/>
            <p:nvPr/>
          </p:nvSpPr>
          <p:spPr>
            <a:xfrm>
              <a:off x="4747228" y="1585547"/>
              <a:ext cx="2549865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00" b="1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SEE  |  TRACE  |  PROTECT OUR OCEANS</a:t>
              </a:r>
            </a:p>
          </p:txBody>
        </p:sp>
      </p:grpSp>
      <p:sp>
        <p:nvSpPr>
          <p:cNvPr id="19" name="Title 7">
            <a:extLst>
              <a:ext uri="{FF2B5EF4-FFF2-40B4-BE49-F238E27FC236}">
                <a16:creationId xmlns:a16="http://schemas.microsoft.com/office/drawing/2014/main" id="{10FDBD77-80F7-97C2-6C74-C52831B2F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1"/>
            <a:ext cx="10363200" cy="120288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030DE-C088-84B6-8B6C-4A8D44C3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Picture 398">
            <a:extLst>
              <a:ext uri="{FF2B5EF4-FFF2-40B4-BE49-F238E27FC236}">
                <a16:creationId xmlns:a16="http://schemas.microsoft.com/office/drawing/2014/main" id="{B398108D-BD69-AAC3-3199-A775731C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758"/>
          <a:stretch>
            <a:fillRect/>
          </a:stretch>
        </p:blipFill>
        <p:spPr>
          <a:xfrm>
            <a:off x="3429909" y="-57205"/>
            <a:ext cx="3928874" cy="6634224"/>
          </a:xfrm>
          <a:custGeom>
            <a:avLst/>
            <a:gdLst>
              <a:gd name="csX0" fmla="*/ 0 w 3928874"/>
              <a:gd name="csY0" fmla="*/ 0 h 7782786"/>
              <a:gd name="csX1" fmla="*/ 3928874 w 3928874"/>
              <a:gd name="csY1" fmla="*/ 0 h 7782786"/>
              <a:gd name="csX2" fmla="*/ 3928874 w 3928874"/>
              <a:gd name="csY2" fmla="*/ 7782786 h 7782786"/>
              <a:gd name="csX3" fmla="*/ 0 w 3928874"/>
              <a:gd name="csY3" fmla="*/ 7782786 h 77827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8874" h="7782786">
                <a:moveTo>
                  <a:pt x="0" y="0"/>
                </a:moveTo>
                <a:lnTo>
                  <a:pt x="3928874" y="0"/>
                </a:lnTo>
                <a:lnTo>
                  <a:pt x="3928874" y="7782786"/>
                </a:lnTo>
                <a:lnTo>
                  <a:pt x="0" y="7782786"/>
                </a:lnTo>
                <a:close/>
              </a:path>
            </a:pathLst>
          </a:custGeom>
        </p:spPr>
      </p:pic>
      <p:sp>
        <p:nvSpPr>
          <p:cNvPr id="406" name="Freeform: Shape 405">
            <a:extLst>
              <a:ext uri="{FF2B5EF4-FFF2-40B4-BE49-F238E27FC236}">
                <a16:creationId xmlns:a16="http://schemas.microsoft.com/office/drawing/2014/main" id="{078AAC3C-4ACA-FF5F-47C5-BC0BDA4CF563}"/>
              </a:ext>
            </a:extLst>
          </p:cNvPr>
          <p:cNvSpPr/>
          <p:nvPr/>
        </p:nvSpPr>
        <p:spPr>
          <a:xfrm>
            <a:off x="184353" y="735783"/>
            <a:ext cx="4036406" cy="2542933"/>
          </a:xfrm>
          <a:custGeom>
            <a:avLst/>
            <a:gdLst>
              <a:gd name="csX0" fmla="*/ 0 w 4036406"/>
              <a:gd name="csY0" fmla="*/ 0 h 2542933"/>
              <a:gd name="csX1" fmla="*/ 3981762 w 4036406"/>
              <a:gd name="csY1" fmla="*/ 0 h 2542933"/>
              <a:gd name="csX2" fmla="*/ 3992311 w 4036406"/>
              <a:gd name="csY2" fmla="*/ 49229 h 2542933"/>
              <a:gd name="csX3" fmla="*/ 3983492 w 4036406"/>
              <a:gd name="csY3" fmla="*/ 115372 h 2542933"/>
              <a:gd name="csX4" fmla="*/ 3974673 w 4036406"/>
              <a:gd name="csY4" fmla="*/ 225610 h 2542933"/>
              <a:gd name="csX5" fmla="*/ 4005540 w 4036406"/>
              <a:gd name="csY5" fmla="*/ 384352 h 2542933"/>
              <a:gd name="csX6" fmla="*/ 4036406 w 4036406"/>
              <a:gd name="csY6" fmla="*/ 498999 h 2542933"/>
              <a:gd name="csX7" fmla="*/ 4014359 w 4036406"/>
              <a:gd name="csY7" fmla="*/ 556323 h 2542933"/>
              <a:gd name="csX8" fmla="*/ 3957035 w 4036406"/>
              <a:gd name="csY8" fmla="*/ 587190 h 2542933"/>
              <a:gd name="csX9" fmla="*/ 3864435 w 4036406"/>
              <a:gd name="csY9" fmla="*/ 596009 h 2542933"/>
              <a:gd name="csX10" fmla="*/ 3705693 w 4036406"/>
              <a:gd name="csY10" fmla="*/ 573961 h 2542933"/>
              <a:gd name="csX11" fmla="*/ 3542541 w 4036406"/>
              <a:gd name="csY11" fmla="*/ 551914 h 2542933"/>
              <a:gd name="csX12" fmla="*/ 3436713 w 4036406"/>
              <a:gd name="csY12" fmla="*/ 569552 h 2542933"/>
              <a:gd name="csX13" fmla="*/ 3374980 w 4036406"/>
              <a:gd name="csY13" fmla="*/ 604828 h 2542933"/>
              <a:gd name="csX14" fmla="*/ 3339703 w 4036406"/>
              <a:gd name="csY14" fmla="*/ 666561 h 2542933"/>
              <a:gd name="csX15" fmla="*/ 3326475 w 4036406"/>
              <a:gd name="csY15" fmla="*/ 785618 h 2542933"/>
              <a:gd name="csX16" fmla="*/ 3388208 w 4036406"/>
              <a:gd name="csY16" fmla="*/ 961998 h 2542933"/>
              <a:gd name="csX17" fmla="*/ 3449941 w 4036406"/>
              <a:gd name="csY17" fmla="*/ 1142788 h 2542933"/>
              <a:gd name="csX18" fmla="*/ 3467579 w 4036406"/>
              <a:gd name="csY18" fmla="*/ 1266254 h 2542933"/>
              <a:gd name="csX19" fmla="*/ 3520493 w 4036406"/>
              <a:gd name="csY19" fmla="*/ 1341216 h 2542933"/>
              <a:gd name="csX20" fmla="*/ 3679236 w 4036406"/>
              <a:gd name="csY20" fmla="*/ 1380902 h 2542933"/>
              <a:gd name="csX21" fmla="*/ 3824750 w 4036406"/>
              <a:gd name="csY21" fmla="*/ 1402949 h 2542933"/>
              <a:gd name="csX22" fmla="*/ 3860026 w 4036406"/>
              <a:gd name="csY22" fmla="*/ 1429406 h 2542933"/>
              <a:gd name="csX23" fmla="*/ 3864435 w 4036406"/>
              <a:gd name="csY23" fmla="*/ 1473501 h 2542933"/>
              <a:gd name="csX24" fmla="*/ 3776245 w 4036406"/>
              <a:gd name="csY24" fmla="*/ 1605787 h 2542933"/>
              <a:gd name="csX25" fmla="*/ 3661598 w 4036406"/>
              <a:gd name="csY25" fmla="*/ 1773348 h 2542933"/>
              <a:gd name="csX26" fmla="*/ 3621912 w 4036406"/>
              <a:gd name="csY26" fmla="*/ 1887995 h 2542933"/>
              <a:gd name="csX27" fmla="*/ 3613093 w 4036406"/>
              <a:gd name="csY27" fmla="*/ 1998233 h 2542933"/>
              <a:gd name="csX28" fmla="*/ 3630731 w 4036406"/>
              <a:gd name="csY28" fmla="*/ 2134928 h 2542933"/>
              <a:gd name="csX29" fmla="*/ 3674826 w 4036406"/>
              <a:gd name="csY29" fmla="*/ 2267213 h 2542933"/>
              <a:gd name="csX30" fmla="*/ 3701283 w 4036406"/>
              <a:gd name="csY30" fmla="*/ 2350994 h 2542933"/>
              <a:gd name="csX31" fmla="*/ 3688055 w 4036406"/>
              <a:gd name="csY31" fmla="*/ 2399499 h 2542933"/>
              <a:gd name="csX32" fmla="*/ 3621912 w 4036406"/>
              <a:gd name="csY32" fmla="*/ 2470051 h 2542933"/>
              <a:gd name="csX33" fmla="*/ 3577817 w 4036406"/>
              <a:gd name="csY33" fmla="*/ 2520760 h 2542933"/>
              <a:gd name="csX34" fmla="*/ 3567174 w 4036406"/>
              <a:gd name="csY34" fmla="*/ 2542933 h 2542933"/>
              <a:gd name="csX35" fmla="*/ 0 w 4036406"/>
              <a:gd name="csY35" fmla="*/ 2542933 h 2542933"/>
              <a:gd name="csX36" fmla="*/ 0 w 4036406"/>
              <a:gd name="csY36" fmla="*/ 0 h 2542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4036406" h="2542933">
                <a:moveTo>
                  <a:pt x="0" y="0"/>
                </a:moveTo>
                <a:lnTo>
                  <a:pt x="3981762" y="0"/>
                </a:lnTo>
                <a:lnTo>
                  <a:pt x="3992311" y="49229"/>
                </a:lnTo>
                <a:cubicBezTo>
                  <a:pt x="3992311" y="72747"/>
                  <a:pt x="3989371" y="94794"/>
                  <a:pt x="3983492" y="115372"/>
                </a:cubicBezTo>
                <a:cubicBezTo>
                  <a:pt x="3977613" y="135950"/>
                  <a:pt x="3974673" y="172696"/>
                  <a:pt x="3974673" y="225610"/>
                </a:cubicBezTo>
                <a:cubicBezTo>
                  <a:pt x="3974673" y="278524"/>
                  <a:pt x="3984962" y="331438"/>
                  <a:pt x="4005540" y="384352"/>
                </a:cubicBezTo>
                <a:cubicBezTo>
                  <a:pt x="4026117" y="437266"/>
                  <a:pt x="4036406" y="475482"/>
                  <a:pt x="4036406" y="498999"/>
                </a:cubicBezTo>
                <a:cubicBezTo>
                  <a:pt x="4036406" y="522517"/>
                  <a:pt x="4029057" y="541625"/>
                  <a:pt x="4014359" y="556323"/>
                </a:cubicBezTo>
                <a:cubicBezTo>
                  <a:pt x="3999660" y="571022"/>
                  <a:pt x="3980552" y="581310"/>
                  <a:pt x="3957035" y="587190"/>
                </a:cubicBezTo>
                <a:cubicBezTo>
                  <a:pt x="3933518" y="593069"/>
                  <a:pt x="3902651" y="596009"/>
                  <a:pt x="3864435" y="596009"/>
                </a:cubicBezTo>
                <a:cubicBezTo>
                  <a:pt x="3826219" y="596009"/>
                  <a:pt x="3773305" y="588660"/>
                  <a:pt x="3705693" y="573961"/>
                </a:cubicBezTo>
                <a:cubicBezTo>
                  <a:pt x="3638080" y="559263"/>
                  <a:pt x="3583696" y="551914"/>
                  <a:pt x="3542541" y="551914"/>
                </a:cubicBezTo>
                <a:cubicBezTo>
                  <a:pt x="3501385" y="551914"/>
                  <a:pt x="3466109" y="557793"/>
                  <a:pt x="3436713" y="569552"/>
                </a:cubicBezTo>
                <a:cubicBezTo>
                  <a:pt x="3407316" y="581310"/>
                  <a:pt x="3386738" y="593069"/>
                  <a:pt x="3374980" y="604828"/>
                </a:cubicBezTo>
                <a:cubicBezTo>
                  <a:pt x="3363221" y="616586"/>
                  <a:pt x="3351462" y="637164"/>
                  <a:pt x="3339703" y="666561"/>
                </a:cubicBezTo>
                <a:cubicBezTo>
                  <a:pt x="3327945" y="695958"/>
                  <a:pt x="3323535" y="735643"/>
                  <a:pt x="3326475" y="785618"/>
                </a:cubicBezTo>
                <a:cubicBezTo>
                  <a:pt x="3329415" y="835592"/>
                  <a:pt x="3349992" y="894386"/>
                  <a:pt x="3388208" y="961998"/>
                </a:cubicBezTo>
                <a:cubicBezTo>
                  <a:pt x="3426424" y="1029611"/>
                  <a:pt x="3447002" y="1089874"/>
                  <a:pt x="3449941" y="1142788"/>
                </a:cubicBezTo>
                <a:cubicBezTo>
                  <a:pt x="3452881" y="1195702"/>
                  <a:pt x="3458760" y="1236858"/>
                  <a:pt x="3467579" y="1266254"/>
                </a:cubicBezTo>
                <a:cubicBezTo>
                  <a:pt x="3476398" y="1295651"/>
                  <a:pt x="3494036" y="1320638"/>
                  <a:pt x="3520493" y="1341216"/>
                </a:cubicBezTo>
                <a:cubicBezTo>
                  <a:pt x="3546950" y="1361794"/>
                  <a:pt x="3599865" y="1375022"/>
                  <a:pt x="3679236" y="1380902"/>
                </a:cubicBezTo>
                <a:cubicBezTo>
                  <a:pt x="3758607" y="1386781"/>
                  <a:pt x="3807112" y="1394130"/>
                  <a:pt x="3824750" y="1402949"/>
                </a:cubicBezTo>
                <a:cubicBezTo>
                  <a:pt x="3842388" y="1411768"/>
                  <a:pt x="3854146" y="1420587"/>
                  <a:pt x="3860026" y="1429406"/>
                </a:cubicBezTo>
                <a:cubicBezTo>
                  <a:pt x="3865905" y="1438225"/>
                  <a:pt x="3867375" y="1452924"/>
                  <a:pt x="3864435" y="1473501"/>
                </a:cubicBezTo>
                <a:cubicBezTo>
                  <a:pt x="3861496" y="1494079"/>
                  <a:pt x="3832099" y="1538174"/>
                  <a:pt x="3776245" y="1605787"/>
                </a:cubicBezTo>
                <a:cubicBezTo>
                  <a:pt x="3720391" y="1673399"/>
                  <a:pt x="3682175" y="1729253"/>
                  <a:pt x="3661598" y="1773348"/>
                </a:cubicBezTo>
                <a:cubicBezTo>
                  <a:pt x="3641020" y="1817443"/>
                  <a:pt x="3627792" y="1855659"/>
                  <a:pt x="3621912" y="1887995"/>
                </a:cubicBezTo>
                <a:cubicBezTo>
                  <a:pt x="3616033" y="1920332"/>
                  <a:pt x="3613093" y="1957078"/>
                  <a:pt x="3613093" y="1998233"/>
                </a:cubicBezTo>
                <a:cubicBezTo>
                  <a:pt x="3613093" y="2039388"/>
                  <a:pt x="3618972" y="2084954"/>
                  <a:pt x="3630731" y="2134928"/>
                </a:cubicBezTo>
                <a:cubicBezTo>
                  <a:pt x="3642490" y="2184902"/>
                  <a:pt x="3657188" y="2228997"/>
                  <a:pt x="3674826" y="2267213"/>
                </a:cubicBezTo>
                <a:cubicBezTo>
                  <a:pt x="3692464" y="2305429"/>
                  <a:pt x="3701283" y="2333356"/>
                  <a:pt x="3701283" y="2350994"/>
                </a:cubicBezTo>
                <a:cubicBezTo>
                  <a:pt x="3701283" y="2368632"/>
                  <a:pt x="3696874" y="2384800"/>
                  <a:pt x="3688055" y="2399499"/>
                </a:cubicBezTo>
                <a:cubicBezTo>
                  <a:pt x="3679236" y="2414197"/>
                  <a:pt x="3657188" y="2437714"/>
                  <a:pt x="3621912" y="2470051"/>
                </a:cubicBezTo>
                <a:cubicBezTo>
                  <a:pt x="3604274" y="2486219"/>
                  <a:pt x="3589576" y="2503122"/>
                  <a:pt x="3577817" y="2520760"/>
                </a:cubicBezTo>
                <a:lnTo>
                  <a:pt x="3567174" y="2542933"/>
                </a:lnTo>
                <a:lnTo>
                  <a:pt x="0" y="2542933"/>
                </a:lnTo>
                <a:lnTo>
                  <a:pt x="0" y="0"/>
                </a:lnTo>
                <a:close/>
              </a:path>
            </a:pathLst>
          </a:custGeom>
          <a:solidFill>
            <a:srgbClr val="FBF4F4"/>
          </a:solidFill>
          <a:ln w="17618" cap="flat">
            <a:solidFill>
              <a:srgbClr val="CB2B2D"/>
            </a:solidFill>
            <a:prstDash val="solid"/>
            <a:round/>
          </a:ln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424" name="Freeform: Shape 423">
            <a:extLst>
              <a:ext uri="{FF2B5EF4-FFF2-40B4-BE49-F238E27FC236}">
                <a16:creationId xmlns:a16="http://schemas.microsoft.com/office/drawing/2014/main" id="{D1A4727B-1971-43F8-BCB4-4B086E4EC56B}"/>
              </a:ext>
            </a:extLst>
          </p:cNvPr>
          <p:cNvSpPr/>
          <p:nvPr/>
        </p:nvSpPr>
        <p:spPr>
          <a:xfrm>
            <a:off x="7301799" y="4102521"/>
            <a:ext cx="4763915" cy="2319836"/>
          </a:xfrm>
          <a:custGeom>
            <a:avLst/>
            <a:gdLst>
              <a:gd name="csX0" fmla="*/ 0 w 4763915"/>
              <a:gd name="csY0" fmla="*/ 0 h 2319836"/>
              <a:gd name="csX1" fmla="*/ 4763915 w 4763915"/>
              <a:gd name="csY1" fmla="*/ 0 h 2319836"/>
              <a:gd name="csX2" fmla="*/ 4763915 w 4763915"/>
              <a:gd name="csY2" fmla="*/ 2319836 h 2319836"/>
              <a:gd name="csX3" fmla="*/ 88190 w 4763915"/>
              <a:gd name="csY3" fmla="*/ 2319836 h 2319836"/>
              <a:gd name="csX4" fmla="*/ 98219 w 4763915"/>
              <a:gd name="csY4" fmla="*/ 2225245 h 2319836"/>
              <a:gd name="csX5" fmla="*/ 120266 w 4763915"/>
              <a:gd name="csY5" fmla="*/ 1841618 h 2319836"/>
              <a:gd name="csX6" fmla="*/ 107038 w 4763915"/>
              <a:gd name="csY6" fmla="*/ 1568228 h 2319836"/>
              <a:gd name="csX7" fmla="*/ 49714 w 4763915"/>
              <a:gd name="csY7" fmla="*/ 1325705 h 2319836"/>
              <a:gd name="csX8" fmla="*/ 1209 w 4763915"/>
              <a:gd name="csY8" fmla="*/ 1096411 h 2319836"/>
              <a:gd name="csX9" fmla="*/ 45304 w 4763915"/>
              <a:gd name="csY9" fmla="*/ 765697 h 2319836"/>
              <a:gd name="csX10" fmla="*/ 93809 w 4763915"/>
              <a:gd name="csY10" fmla="*/ 417346 h 2319836"/>
              <a:gd name="csX11" fmla="*/ 76171 w 4763915"/>
              <a:gd name="csY11" fmla="*/ 205690 h 2319836"/>
              <a:gd name="csX12" fmla="*/ 18847 w 4763915"/>
              <a:gd name="csY12" fmla="*/ 38128 h 2319836"/>
              <a:gd name="csX13" fmla="*/ 0 w 4763915"/>
              <a:gd name="csY13" fmla="*/ 0 h 23198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4763915" h="2319836">
                <a:moveTo>
                  <a:pt x="0" y="0"/>
                </a:moveTo>
                <a:lnTo>
                  <a:pt x="4763915" y="0"/>
                </a:lnTo>
                <a:lnTo>
                  <a:pt x="4763915" y="2319836"/>
                </a:lnTo>
                <a:lnTo>
                  <a:pt x="88190" y="2319836"/>
                </a:lnTo>
                <a:lnTo>
                  <a:pt x="98219" y="2225245"/>
                </a:lnTo>
                <a:cubicBezTo>
                  <a:pt x="112917" y="2063564"/>
                  <a:pt x="120266" y="1935688"/>
                  <a:pt x="120266" y="1841618"/>
                </a:cubicBezTo>
                <a:cubicBezTo>
                  <a:pt x="120266" y="1747548"/>
                  <a:pt x="115857" y="1656419"/>
                  <a:pt x="107038" y="1568228"/>
                </a:cubicBezTo>
                <a:cubicBezTo>
                  <a:pt x="98219" y="1480038"/>
                  <a:pt x="79111" y="1399197"/>
                  <a:pt x="49714" y="1325705"/>
                </a:cubicBezTo>
                <a:cubicBezTo>
                  <a:pt x="20317" y="1252214"/>
                  <a:pt x="4149" y="1175782"/>
                  <a:pt x="1209" y="1096411"/>
                </a:cubicBezTo>
                <a:cubicBezTo>
                  <a:pt x="-1730" y="1017039"/>
                  <a:pt x="12968" y="906802"/>
                  <a:pt x="45304" y="765697"/>
                </a:cubicBezTo>
                <a:cubicBezTo>
                  <a:pt x="77641" y="624593"/>
                  <a:pt x="93809" y="508476"/>
                  <a:pt x="93809" y="417346"/>
                </a:cubicBezTo>
                <a:cubicBezTo>
                  <a:pt x="93809" y="326216"/>
                  <a:pt x="87930" y="255664"/>
                  <a:pt x="76171" y="205690"/>
                </a:cubicBezTo>
                <a:cubicBezTo>
                  <a:pt x="64412" y="155715"/>
                  <a:pt x="45304" y="99861"/>
                  <a:pt x="18847" y="38128"/>
                </a:cubicBezTo>
                <a:lnTo>
                  <a:pt x="0" y="0"/>
                </a:lnTo>
                <a:close/>
              </a:path>
            </a:pathLst>
          </a:custGeom>
          <a:solidFill>
            <a:srgbClr val="F1EBFC"/>
          </a:solidFill>
          <a:ln w="19050">
            <a:solidFill>
              <a:srgbClr val="2E1193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IN" sz="1600" b="1">
              <a:solidFill>
                <a:srgbClr val="CB2B2D"/>
              </a:solidFill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1B70D862-9C88-731D-9E41-A18B878130C9}"/>
              </a:ext>
            </a:extLst>
          </p:cNvPr>
          <p:cNvSpPr txBox="1"/>
          <p:nvPr/>
        </p:nvSpPr>
        <p:spPr>
          <a:xfrm>
            <a:off x="7520873" y="4193539"/>
            <a:ext cx="3425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E11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Uniqueness and Innovation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24FE869-FE56-8A6E-A86B-A8035BDC39FE}"/>
              </a:ext>
            </a:extLst>
          </p:cNvPr>
          <p:cNvSpPr txBox="1"/>
          <p:nvPr/>
        </p:nvSpPr>
        <p:spPr>
          <a:xfrm>
            <a:off x="7422182" y="4531464"/>
            <a:ext cx="4573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Realistic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physics model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with both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past and future forecast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4C8E63E7-946E-2C7D-7043-BB1E9AC6D53D}"/>
              </a:ext>
            </a:extLst>
          </p:cNvPr>
          <p:cNvSpPr txBox="1"/>
          <p:nvPr/>
        </p:nvSpPr>
        <p:spPr>
          <a:xfrm>
            <a:off x="7396782" y="4840078"/>
            <a:ext cx="45736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Reproducible forecast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uncertainty-aware conclusions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and a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traceable evidence chain.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0045CC40-5FF9-7E4A-A8D8-468CDB8BA1DF}"/>
              </a:ext>
            </a:extLst>
          </p:cNvPr>
          <p:cNvSpPr txBox="1"/>
          <p:nvPr/>
        </p:nvSpPr>
        <p:spPr>
          <a:xfrm>
            <a:off x="7422182" y="5348747"/>
            <a:ext cx="45736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Lightweight ResNet-18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enables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efficient inference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edge-device deployment. 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E91BA7B6-1FBE-110E-7E70-C80330EA6116}"/>
              </a:ext>
            </a:extLst>
          </p:cNvPr>
          <p:cNvSpPr txBox="1"/>
          <p:nvPr/>
        </p:nvSpPr>
        <p:spPr>
          <a:xfrm>
            <a:off x="7422182" y="5857417"/>
            <a:ext cx="45736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Modular architecture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enables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 independent, parallel execution 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of analysis modules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21" name="Picture 420">
            <a:extLst>
              <a:ext uri="{FF2B5EF4-FFF2-40B4-BE49-F238E27FC236}">
                <a16:creationId xmlns:a16="http://schemas.microsoft.com/office/drawing/2014/main" id="{DF3AB6AF-F378-DC55-36CC-27116BFCAE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65735" y="4218874"/>
            <a:ext cx="287884" cy="28788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6905A1-466C-AB21-A58F-94FFE6372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9446"/>
            <a:ext cx="12191999" cy="33855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01132-0E1C-56A2-5523-B1313EFD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577019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C83787-6BC6-BAED-F33D-B8DD4B4497AA}"/>
              </a:ext>
            </a:extLst>
          </p:cNvPr>
          <p:cNvSpPr txBox="1"/>
          <p:nvPr/>
        </p:nvSpPr>
        <p:spPr>
          <a:xfrm>
            <a:off x="597144" y="780459"/>
            <a:ext cx="22476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CB2B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World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943DED-9BD8-AA00-0CC0-6548483548F0}"/>
              </a:ext>
            </a:extLst>
          </p:cNvPr>
          <p:cNvSpPr txBox="1"/>
          <p:nvPr/>
        </p:nvSpPr>
        <p:spPr>
          <a:xfrm>
            <a:off x="889278" y="1141144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Hard to detect oil early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Easily confused with look-alikes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C978EB-23E9-8F23-A6FF-1E166B0AB5B0}"/>
              </a:ext>
            </a:extLst>
          </p:cNvPr>
          <p:cNvSpPr txBox="1"/>
          <p:nvPr/>
        </p:nvSpPr>
        <p:spPr>
          <a:xfrm>
            <a:off x="889278" y="1678879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Hard to find the source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Current and winds move oil.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01C99D-FFC4-B2E5-54EF-2E18A6078B3F}"/>
              </a:ext>
            </a:extLst>
          </p:cNvPr>
          <p:cNvSpPr txBox="1"/>
          <p:nvPr/>
        </p:nvSpPr>
        <p:spPr>
          <a:xfrm>
            <a:off x="889278" y="2216614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Delay increases damage</a:t>
            </a:r>
          </a:p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Current and winds move oil.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908D6E-8657-F3C4-7CBE-C79F0BE67324}"/>
              </a:ext>
            </a:extLst>
          </p:cNvPr>
          <p:cNvSpPr txBox="1"/>
          <p:nvPr/>
        </p:nvSpPr>
        <p:spPr>
          <a:xfrm>
            <a:off x="889278" y="2755779"/>
            <a:ext cx="3549372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Need source accountability</a:t>
            </a:r>
          </a:p>
          <a:p>
            <a:r>
              <a:rPr lang="en-IN" sz="1250" dirty="0">
                <a:latin typeface="Arial" panose="020B0604020202020204" pitchFamily="34" charset="0"/>
                <a:cs typeface="Arial" panose="020B0604020202020204" pitchFamily="34" charset="0"/>
              </a:rPr>
              <a:t>Enables faster response, accountability</a:t>
            </a:r>
          </a:p>
        </p:txBody>
      </p:sp>
      <p:pic>
        <p:nvPicPr>
          <p:cNvPr id="241" name="Picture 240">
            <a:extLst>
              <a:ext uri="{FF2B5EF4-FFF2-40B4-BE49-F238E27FC236}">
                <a16:creationId xmlns:a16="http://schemas.microsoft.com/office/drawing/2014/main" id="{17C84153-5BF3-20AD-CFBC-FECF53DF8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92" y="805794"/>
            <a:ext cx="287884" cy="287884"/>
          </a:xfrm>
          <a:prstGeom prst="rect">
            <a:avLst/>
          </a:prstGeom>
        </p:spPr>
      </p:pic>
      <p:pic>
        <p:nvPicPr>
          <p:cNvPr id="245" name="Picture 244">
            <a:extLst>
              <a:ext uri="{FF2B5EF4-FFF2-40B4-BE49-F238E27FC236}">
                <a16:creationId xmlns:a16="http://schemas.microsoft.com/office/drawing/2014/main" id="{BCC20B99-43AF-29CD-7216-9A50912FB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835" y="2321477"/>
            <a:ext cx="282717" cy="282717"/>
          </a:xfrm>
          <a:prstGeom prst="rect">
            <a:avLst/>
          </a:prstGeom>
        </p:spPr>
      </p:pic>
      <p:pic>
        <p:nvPicPr>
          <p:cNvPr id="249" name="Picture 248">
            <a:extLst>
              <a:ext uri="{FF2B5EF4-FFF2-40B4-BE49-F238E27FC236}">
                <a16:creationId xmlns:a16="http://schemas.microsoft.com/office/drawing/2014/main" id="{03EE244E-4997-1934-CD3B-F0E562E637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835" y="1246007"/>
            <a:ext cx="282717" cy="282717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3069CA30-F2F6-C363-665D-6AB9E5616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835" y="2856795"/>
            <a:ext cx="282717" cy="282717"/>
          </a:xfrm>
          <a:prstGeom prst="rect">
            <a:avLst/>
          </a:prstGeom>
        </p:spPr>
      </p:pic>
      <p:pic>
        <p:nvPicPr>
          <p:cNvPr id="259" name="Picture 258">
            <a:extLst>
              <a:ext uri="{FF2B5EF4-FFF2-40B4-BE49-F238E27FC236}">
                <a16:creationId xmlns:a16="http://schemas.microsoft.com/office/drawing/2014/main" id="{B4EA0461-54E0-2B9D-4DEF-1F5E9CAFB1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835" y="1783742"/>
            <a:ext cx="282717" cy="282717"/>
          </a:xfrm>
          <a:prstGeom prst="rect">
            <a:avLst/>
          </a:prstGeom>
        </p:spPr>
      </p:pic>
      <p:sp>
        <p:nvSpPr>
          <p:cNvPr id="409" name="Freeform: Shape 408">
            <a:extLst>
              <a:ext uri="{FF2B5EF4-FFF2-40B4-BE49-F238E27FC236}">
                <a16:creationId xmlns:a16="http://schemas.microsoft.com/office/drawing/2014/main" id="{C7301B58-5CBA-D35D-9605-ECD4FA27562E}"/>
              </a:ext>
            </a:extLst>
          </p:cNvPr>
          <p:cNvSpPr/>
          <p:nvPr/>
        </p:nvSpPr>
        <p:spPr>
          <a:xfrm>
            <a:off x="184354" y="3369257"/>
            <a:ext cx="4281635" cy="3053100"/>
          </a:xfrm>
          <a:custGeom>
            <a:avLst/>
            <a:gdLst>
              <a:gd name="csX0" fmla="*/ 0 w 4281635"/>
              <a:gd name="csY0" fmla="*/ 0 h 3053100"/>
              <a:gd name="csX1" fmla="*/ 3540888 w 4281635"/>
              <a:gd name="csY1" fmla="*/ 0 h 3053100"/>
              <a:gd name="csX2" fmla="*/ 3540336 w 4281635"/>
              <a:gd name="csY2" fmla="*/ 3035 h 3053100"/>
              <a:gd name="csX3" fmla="*/ 3542541 w 4281635"/>
              <a:gd name="csY3" fmla="*/ 70280 h 3053100"/>
              <a:gd name="csX4" fmla="*/ 3586636 w 4281635"/>
              <a:gd name="csY4" fmla="*/ 198156 h 3053100"/>
              <a:gd name="csX5" fmla="*/ 3639550 w 4281635"/>
              <a:gd name="csY5" fmla="*/ 299574 h 3053100"/>
              <a:gd name="csX6" fmla="*/ 3661598 w 4281635"/>
              <a:gd name="csY6" fmla="*/ 440679 h 3053100"/>
              <a:gd name="csX7" fmla="*/ 3683645 w 4281635"/>
              <a:gd name="csY7" fmla="*/ 581783 h 3053100"/>
              <a:gd name="csX8" fmla="*/ 3732150 w 4281635"/>
              <a:gd name="csY8" fmla="*/ 647926 h 3053100"/>
              <a:gd name="csX9" fmla="*/ 3811521 w 4281635"/>
              <a:gd name="csY9" fmla="*/ 678792 h 3053100"/>
              <a:gd name="csX10" fmla="*/ 4254264 w 4281635"/>
              <a:gd name="csY10" fmla="*/ 687473 h 3053100"/>
              <a:gd name="csX11" fmla="*/ 4281635 w 4281635"/>
              <a:gd name="csY11" fmla="*/ 687504 h 3053100"/>
              <a:gd name="csX12" fmla="*/ 4281635 w 4281635"/>
              <a:gd name="csY12" fmla="*/ 1667141 h 3053100"/>
              <a:gd name="csX13" fmla="*/ 4195149 w 4281635"/>
              <a:gd name="csY13" fmla="*/ 1737075 h 3053100"/>
              <a:gd name="csX14" fmla="*/ 3899711 w 4281635"/>
              <a:gd name="csY14" fmla="*/ 1984008 h 3053100"/>
              <a:gd name="csX15" fmla="*/ 3798293 w 4281635"/>
              <a:gd name="csY15" fmla="*/ 2133931 h 3053100"/>
              <a:gd name="csX16" fmla="*/ 3749788 w 4281635"/>
              <a:gd name="csY16" fmla="*/ 2323540 h 3053100"/>
              <a:gd name="csX17" fmla="*/ 3754197 w 4281635"/>
              <a:gd name="csY17" fmla="*/ 2469054 h 3053100"/>
              <a:gd name="csX18" fmla="*/ 3820340 w 4281635"/>
              <a:gd name="csY18" fmla="*/ 2632206 h 3053100"/>
              <a:gd name="csX19" fmla="*/ 3957035 w 4281635"/>
              <a:gd name="csY19" fmla="*/ 2883548 h 3053100"/>
              <a:gd name="csX20" fmla="*/ 4056249 w 4281635"/>
              <a:gd name="csY20" fmla="*/ 3039810 h 3053100"/>
              <a:gd name="csX21" fmla="*/ 4065915 w 4281635"/>
              <a:gd name="csY21" fmla="*/ 3053100 h 3053100"/>
              <a:gd name="csX22" fmla="*/ 0 w 4281635"/>
              <a:gd name="csY22" fmla="*/ 3053100 h 3053100"/>
              <a:gd name="csX23" fmla="*/ 0 w 4281635"/>
              <a:gd name="csY23" fmla="*/ 0 h 3053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81635" h="3053100">
                <a:moveTo>
                  <a:pt x="0" y="0"/>
                </a:moveTo>
                <a:lnTo>
                  <a:pt x="3540888" y="0"/>
                </a:lnTo>
                <a:lnTo>
                  <a:pt x="3540336" y="3035"/>
                </a:lnTo>
                <a:cubicBezTo>
                  <a:pt x="3538867" y="24348"/>
                  <a:pt x="3539602" y="46763"/>
                  <a:pt x="3542541" y="70280"/>
                </a:cubicBezTo>
                <a:cubicBezTo>
                  <a:pt x="3548420" y="117315"/>
                  <a:pt x="3563119" y="159940"/>
                  <a:pt x="3586636" y="198156"/>
                </a:cubicBezTo>
                <a:cubicBezTo>
                  <a:pt x="3610153" y="236371"/>
                  <a:pt x="3627792" y="270178"/>
                  <a:pt x="3639550" y="299574"/>
                </a:cubicBezTo>
                <a:cubicBezTo>
                  <a:pt x="3651309" y="328971"/>
                  <a:pt x="3658658" y="376006"/>
                  <a:pt x="3661598" y="440679"/>
                </a:cubicBezTo>
                <a:cubicBezTo>
                  <a:pt x="3664537" y="505352"/>
                  <a:pt x="3671887" y="552386"/>
                  <a:pt x="3683645" y="581783"/>
                </a:cubicBezTo>
                <a:cubicBezTo>
                  <a:pt x="3695404" y="611180"/>
                  <a:pt x="3711572" y="633227"/>
                  <a:pt x="3732150" y="647926"/>
                </a:cubicBezTo>
                <a:cubicBezTo>
                  <a:pt x="3752728" y="662624"/>
                  <a:pt x="3779185" y="672913"/>
                  <a:pt x="3811521" y="678792"/>
                </a:cubicBezTo>
                <a:cubicBezTo>
                  <a:pt x="3839816" y="683937"/>
                  <a:pt x="3987397" y="686830"/>
                  <a:pt x="4254264" y="687473"/>
                </a:cubicBezTo>
                <a:lnTo>
                  <a:pt x="4281635" y="687504"/>
                </a:lnTo>
                <a:lnTo>
                  <a:pt x="4281635" y="1667141"/>
                </a:lnTo>
                <a:lnTo>
                  <a:pt x="4195149" y="1737075"/>
                </a:lnTo>
                <a:cubicBezTo>
                  <a:pt x="4036406" y="1860541"/>
                  <a:pt x="3937927" y="1942852"/>
                  <a:pt x="3899711" y="1984008"/>
                </a:cubicBezTo>
                <a:cubicBezTo>
                  <a:pt x="3861496" y="2025163"/>
                  <a:pt x="3827689" y="2075137"/>
                  <a:pt x="3798293" y="2133931"/>
                </a:cubicBezTo>
                <a:cubicBezTo>
                  <a:pt x="3768896" y="2192725"/>
                  <a:pt x="3752728" y="2255927"/>
                  <a:pt x="3749788" y="2323540"/>
                </a:cubicBezTo>
                <a:cubicBezTo>
                  <a:pt x="3746848" y="2391153"/>
                  <a:pt x="3748318" y="2439657"/>
                  <a:pt x="3754197" y="2469054"/>
                </a:cubicBezTo>
                <a:cubicBezTo>
                  <a:pt x="3760077" y="2498450"/>
                  <a:pt x="3782124" y="2552834"/>
                  <a:pt x="3820340" y="2632206"/>
                </a:cubicBezTo>
                <a:cubicBezTo>
                  <a:pt x="3858556" y="2711577"/>
                  <a:pt x="3904121" y="2795357"/>
                  <a:pt x="3957035" y="2883548"/>
                </a:cubicBezTo>
                <a:cubicBezTo>
                  <a:pt x="3996721" y="2949691"/>
                  <a:pt x="4029792" y="3001778"/>
                  <a:pt x="4056249" y="3039810"/>
                </a:cubicBezTo>
                <a:lnTo>
                  <a:pt x="4065915" y="3053100"/>
                </a:lnTo>
                <a:lnTo>
                  <a:pt x="0" y="3053100"/>
                </a:lnTo>
                <a:lnTo>
                  <a:pt x="0" y="0"/>
                </a:lnTo>
                <a:close/>
              </a:path>
            </a:pathLst>
          </a:custGeom>
          <a:solidFill>
            <a:srgbClr val="EFFDEF"/>
          </a:solidFill>
          <a:ln w="19050">
            <a:solidFill>
              <a:srgbClr val="2B641B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endParaRPr lang="en-IN" sz="1600" b="1">
              <a:solidFill>
                <a:srgbClr val="CB2B2D"/>
              </a:solidFill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2E8087B-8FA0-D743-3AA8-5BA30797ABBD}"/>
              </a:ext>
            </a:extLst>
          </p:cNvPr>
          <p:cNvSpPr txBox="1"/>
          <p:nvPr/>
        </p:nvSpPr>
        <p:spPr>
          <a:xfrm>
            <a:off x="597144" y="3460275"/>
            <a:ext cx="30287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F6A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Solution – ‘Guardians’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6BF320BA-1391-24D7-3ED9-BBFC9600CAFF}"/>
              </a:ext>
            </a:extLst>
          </p:cNvPr>
          <p:cNvSpPr txBox="1"/>
          <p:nvPr/>
        </p:nvSpPr>
        <p:spPr>
          <a:xfrm>
            <a:off x="889278" y="3820960"/>
            <a:ext cx="35493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Detects &amp; validates oil spills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Distinguishes potential spills from look-alikes.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E84D991-0AC2-E750-126E-5D0A9C64C6F8}"/>
              </a:ext>
            </a:extLst>
          </p:cNvPr>
          <p:cNvSpPr txBox="1"/>
          <p:nvPr/>
        </p:nvSpPr>
        <p:spPr>
          <a:xfrm>
            <a:off x="889278" y="4356338"/>
            <a:ext cx="354937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Backtracks spill movement</a:t>
            </a:r>
          </a:p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Estimates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50" b="1" dirty="0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 it originated using ocean currents, wind, etc.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1E5CDDE8-F640-E1C3-49BB-31D67F8881DF}"/>
              </a:ext>
            </a:extLst>
          </p:cNvPr>
          <p:cNvSpPr txBox="1"/>
          <p:nvPr/>
        </p:nvSpPr>
        <p:spPr>
          <a:xfrm>
            <a:off x="889278" y="5091770"/>
            <a:ext cx="3627346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Identifies potential source vessels</a:t>
            </a:r>
          </a:p>
          <a:p>
            <a:r>
              <a:rPr lang="en-US" sz="1250" dirty="0">
                <a:latin typeface="Arial" panose="020B0604020202020204" pitchFamily="34" charset="0"/>
                <a:cs typeface="Arial" panose="020B0604020202020204" pitchFamily="34" charset="0"/>
              </a:rPr>
              <a:t>Matches historic AIS tracks to source.</a:t>
            </a:r>
            <a:endParaRPr lang="en-IN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E249E4F4-A3AA-C0C1-5586-FE6442436FEC}"/>
              </a:ext>
            </a:extLst>
          </p:cNvPr>
          <p:cNvSpPr txBox="1"/>
          <p:nvPr/>
        </p:nvSpPr>
        <p:spPr>
          <a:xfrm>
            <a:off x="889278" y="5619453"/>
            <a:ext cx="354937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Forecasts future spill movement</a:t>
            </a:r>
          </a:p>
          <a:p>
            <a:r>
              <a:rPr lang="en-IN" sz="1250" dirty="0"/>
              <a:t>Predicts </a:t>
            </a:r>
            <a:r>
              <a:rPr lang="en-IN" sz="1250" b="1" dirty="0"/>
              <a:t>WHERE </a:t>
            </a:r>
            <a:r>
              <a:rPr lang="en-IN" sz="1250" dirty="0"/>
              <a:t>the spill may go next </a:t>
            </a:r>
            <a:r>
              <a:rPr lang="en-US" sz="1250" dirty="0"/>
              <a:t>to </a:t>
            </a:r>
          </a:p>
          <a:p>
            <a:r>
              <a:rPr lang="en-US" sz="1250" dirty="0"/>
              <a:t>support </a:t>
            </a:r>
            <a:r>
              <a:rPr lang="en-US" sz="1250" b="1" dirty="0"/>
              <a:t>faster response and cleanup planning</a:t>
            </a:r>
            <a:endParaRPr lang="en-IN" sz="1250" b="1" dirty="0"/>
          </a:p>
        </p:txBody>
      </p:sp>
      <p:pic>
        <p:nvPicPr>
          <p:cNvPr id="345" name="Picture 344">
            <a:extLst>
              <a:ext uri="{FF2B5EF4-FFF2-40B4-BE49-F238E27FC236}">
                <a16:creationId xmlns:a16="http://schemas.microsoft.com/office/drawing/2014/main" id="{12BC66EB-EEC4-56BD-2404-292CF74476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8892" y="3485610"/>
            <a:ext cx="287884" cy="287884"/>
          </a:xfrm>
          <a:prstGeom prst="rect">
            <a:avLst/>
          </a:prstGeom>
        </p:spPr>
      </p:pic>
      <p:pic>
        <p:nvPicPr>
          <p:cNvPr id="347" name="Picture 346">
            <a:extLst>
              <a:ext uri="{FF2B5EF4-FFF2-40B4-BE49-F238E27FC236}">
                <a16:creationId xmlns:a16="http://schemas.microsoft.com/office/drawing/2014/main" id="{58EA6A7B-69A9-F37C-E623-3C2AEE10E72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2835" y="5192786"/>
            <a:ext cx="282717" cy="282717"/>
          </a:xfrm>
          <a:prstGeom prst="rect">
            <a:avLst/>
          </a:prstGeom>
        </p:spPr>
      </p:pic>
      <p:pic>
        <p:nvPicPr>
          <p:cNvPr id="349" name="Picture 348">
            <a:extLst>
              <a:ext uri="{FF2B5EF4-FFF2-40B4-BE49-F238E27FC236}">
                <a16:creationId xmlns:a16="http://schemas.microsoft.com/office/drawing/2014/main" id="{7429445C-14B2-7685-5F5B-C3805B17A52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2835" y="3926123"/>
            <a:ext cx="282717" cy="282116"/>
          </a:xfrm>
          <a:prstGeom prst="rect">
            <a:avLst/>
          </a:prstGeom>
        </p:spPr>
      </p:pic>
      <p:pic>
        <p:nvPicPr>
          <p:cNvPr id="351" name="Picture 350">
            <a:extLst>
              <a:ext uri="{FF2B5EF4-FFF2-40B4-BE49-F238E27FC236}">
                <a16:creationId xmlns:a16="http://schemas.microsoft.com/office/drawing/2014/main" id="{780FABDD-559D-C4C7-0C5E-6BE10A8E14D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2835" y="5816649"/>
            <a:ext cx="282717" cy="282717"/>
          </a:xfrm>
          <a:prstGeom prst="rect">
            <a:avLst/>
          </a:prstGeom>
        </p:spPr>
      </p:pic>
      <p:pic>
        <p:nvPicPr>
          <p:cNvPr id="353" name="Picture 352">
            <a:extLst>
              <a:ext uri="{FF2B5EF4-FFF2-40B4-BE49-F238E27FC236}">
                <a16:creationId xmlns:a16="http://schemas.microsoft.com/office/drawing/2014/main" id="{73F01FFE-4534-B4BC-EEE6-38573EADD1B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62835" y="4561228"/>
            <a:ext cx="282717" cy="282717"/>
          </a:xfrm>
          <a:prstGeom prst="rect">
            <a:avLst/>
          </a:prstGeom>
        </p:spPr>
      </p:pic>
      <p:grpSp>
        <p:nvGrpSpPr>
          <p:cNvPr id="380" name="Group 379">
            <a:extLst>
              <a:ext uri="{FF2B5EF4-FFF2-40B4-BE49-F238E27FC236}">
                <a16:creationId xmlns:a16="http://schemas.microsoft.com/office/drawing/2014/main" id="{F40D0979-78F9-BF4C-35BB-AAD957BE4F79}"/>
              </a:ext>
            </a:extLst>
          </p:cNvPr>
          <p:cNvGrpSpPr/>
          <p:nvPr/>
        </p:nvGrpSpPr>
        <p:grpSpPr>
          <a:xfrm>
            <a:off x="171833" y="62216"/>
            <a:ext cx="11838106" cy="680115"/>
            <a:chOff x="171833" y="62216"/>
            <a:chExt cx="11838106" cy="680115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23B1CA3-9428-AF79-9600-397429A9C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CAFAF12-9A11-AE39-85B4-CAFFF2067F7E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48" name="Title 1">
              <a:extLst>
                <a:ext uri="{FF2B5EF4-FFF2-40B4-BE49-F238E27FC236}">
                  <a16:creationId xmlns:a16="http://schemas.microsoft.com/office/drawing/2014/main" id="{324206CA-5EA1-3337-9F1B-9872B3F4EB7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541315" y="62216"/>
              <a:ext cx="4281635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algn="l" eaLnBrk="1" hangingPunct="1"/>
              <a:r>
                <a:rPr lang="en-IN" sz="2400" b="1" dirty="0">
                  <a:solidFill>
                    <a:srgbClr val="1F4E79"/>
                  </a:solidFill>
                </a:rPr>
                <a:t>Proposed Solution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  <p:sp>
          <p:nvSpPr>
            <p:cNvPr id="379" name="Title 1">
              <a:extLst>
                <a:ext uri="{FF2B5EF4-FFF2-40B4-BE49-F238E27FC236}">
                  <a16:creationId xmlns:a16="http://schemas.microsoft.com/office/drawing/2014/main" id="{EF721CAB-F7BD-51C3-310D-DC2319DEEDD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324226" y="62216"/>
              <a:ext cx="2069115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Guardians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pic>
        <p:nvPicPr>
          <p:cNvPr id="599" name="Graphic 598">
            <a:extLst>
              <a:ext uri="{FF2B5EF4-FFF2-40B4-BE49-F238E27FC236}">
                <a16:creationId xmlns:a16="http://schemas.microsoft.com/office/drawing/2014/main" id="{373730F4-D6CA-3BF4-6001-322575E8F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09353" y="644032"/>
            <a:ext cx="5965220" cy="3400175"/>
          </a:xfrm>
          <a:prstGeom prst="rect">
            <a:avLst/>
          </a:prstGeom>
        </p:spPr>
      </p:pic>
      <p:sp>
        <p:nvSpPr>
          <p:cNvPr id="601" name="TextBox 600">
            <a:extLst>
              <a:ext uri="{FF2B5EF4-FFF2-40B4-BE49-F238E27FC236}">
                <a16:creationId xmlns:a16="http://schemas.microsoft.com/office/drawing/2014/main" id="{E685B346-5CFB-C99A-5DDA-451F2E7812F7}"/>
              </a:ext>
            </a:extLst>
          </p:cNvPr>
          <p:cNvSpPr txBox="1"/>
          <p:nvPr/>
        </p:nvSpPr>
        <p:spPr>
          <a:xfrm>
            <a:off x="6761390" y="658670"/>
            <a:ext cx="5111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rgbClr val="E06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25484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90535" y="6423819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21" name="Picture 8" descr="C:\Users\User\Downloads\sihppt\fullflow.png">
            <a:extLst>
              <a:ext uri="{FF2B5EF4-FFF2-40B4-BE49-F238E27FC236}">
                <a16:creationId xmlns:a16="http://schemas.microsoft.com/office/drawing/2014/main" id="{3544FF1C-D91E-0559-27CE-E203F840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908" y="742331"/>
            <a:ext cx="8736474" cy="4946587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11FEEE-FA83-15E1-6C03-07EF4E66704D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8C2D9A-DC32-C7C2-0A25-C84FE74E5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2D10815-5C74-6C6F-7F49-DFAFD39F2CD5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2FA441A6-DED5-A1DF-8E30-B0E5756FA50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US" sz="2400" b="1" dirty="0">
                  <a:solidFill>
                    <a:srgbClr val="1F4E79"/>
                  </a:solidFill>
                </a:rPr>
                <a:t>Technical  Approach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596BC42-819B-DA99-EFF5-FAB7AF80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9536"/>
            <a:ext cx="12191999" cy="248464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BDEC27-1E1F-28A4-EACD-A99E4CCC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058" y="6577019"/>
            <a:ext cx="2844800" cy="211924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35" name="Shape 0">
            <a:extLst>
              <a:ext uri="{FF2B5EF4-FFF2-40B4-BE49-F238E27FC236}">
                <a16:creationId xmlns:a16="http://schemas.microsoft.com/office/drawing/2014/main" id="{0071D9D2-070B-0CBC-9CB3-230F97D70D51}"/>
              </a:ext>
            </a:extLst>
          </p:cNvPr>
          <p:cNvSpPr/>
          <p:nvPr/>
        </p:nvSpPr>
        <p:spPr>
          <a:xfrm>
            <a:off x="8890000" y="787400"/>
            <a:ext cx="3124200" cy="4806950"/>
          </a:xfrm>
          <a:prstGeom prst="rect">
            <a:avLst/>
          </a:prstGeom>
          <a:solidFill>
            <a:srgbClr val="FFFFFF"/>
          </a:solidFill>
          <a:ln w="15875">
            <a:solidFill>
              <a:srgbClr val="2B61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7" name="Image 0" descr="C:\Users\Samrat S K\AppData\Local\Temp\pg/h_DataSources_2B61E0.svg">
            <a:extLst>
              <a:ext uri="{FF2B5EF4-FFF2-40B4-BE49-F238E27FC236}">
                <a16:creationId xmlns:a16="http://schemas.microsoft.com/office/drawing/2014/main" id="{A30FBE70-55F2-19E7-E797-155DB6CAA0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67800" y="939800"/>
            <a:ext cx="177800" cy="177800"/>
          </a:xfrm>
          <a:prstGeom prst="rect">
            <a:avLst/>
          </a:prstGeom>
        </p:spPr>
      </p:pic>
      <p:sp>
        <p:nvSpPr>
          <p:cNvPr id="339" name="Text 1">
            <a:extLst>
              <a:ext uri="{FF2B5EF4-FFF2-40B4-BE49-F238E27FC236}">
                <a16:creationId xmlns:a16="http://schemas.microsoft.com/office/drawing/2014/main" id="{AF457276-DE52-2552-351E-C71C19788AFB}"/>
              </a:ext>
            </a:extLst>
          </p:cNvPr>
          <p:cNvSpPr txBox="1"/>
          <p:nvPr/>
        </p:nvSpPr>
        <p:spPr>
          <a:xfrm>
            <a:off x="9321800" y="914400"/>
            <a:ext cx="261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250" dirty="0"/>
          </a:p>
        </p:txBody>
      </p:sp>
      <p:pic>
        <p:nvPicPr>
          <p:cNvPr id="341" name="Image 1" descr="C:/Users/Samrat S K/Downloads/diagrams/data icons/esa_sentinel.png">
            <a:extLst>
              <a:ext uri="{FF2B5EF4-FFF2-40B4-BE49-F238E27FC236}">
                <a16:creationId xmlns:a16="http://schemas.microsoft.com/office/drawing/2014/main" id="{644C8F9F-C82B-9C82-AEAF-82A7A522B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700" y="1291732"/>
            <a:ext cx="514350" cy="286735"/>
          </a:xfrm>
          <a:prstGeom prst="rect">
            <a:avLst/>
          </a:prstGeom>
        </p:spPr>
      </p:pic>
      <p:sp>
        <p:nvSpPr>
          <p:cNvPr id="343" name="Text 2">
            <a:extLst>
              <a:ext uri="{FF2B5EF4-FFF2-40B4-BE49-F238E27FC236}">
                <a16:creationId xmlns:a16="http://schemas.microsoft.com/office/drawing/2014/main" id="{48697487-ED18-F6EE-FEBD-22722F01715A}"/>
              </a:ext>
            </a:extLst>
          </p:cNvPr>
          <p:cNvSpPr txBox="1"/>
          <p:nvPr/>
        </p:nvSpPr>
        <p:spPr>
          <a:xfrm>
            <a:off x="9067800" y="1625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Imagery</a:t>
            </a:r>
            <a:endParaRPr lang="en-US" sz="650" dirty="0"/>
          </a:p>
        </p:txBody>
      </p:sp>
      <p:pic>
        <p:nvPicPr>
          <p:cNvPr id="345" name="Image 2" descr="C:/Users/Samrat S K/Downloads/diagrams/data icons/eumetsat.png">
            <a:extLst>
              <a:ext uri="{FF2B5EF4-FFF2-40B4-BE49-F238E27FC236}">
                <a16:creationId xmlns:a16="http://schemas.microsoft.com/office/drawing/2014/main" id="{7E3E8B05-A562-3E5D-1959-B21B98FE30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7681" y="1263650"/>
            <a:ext cx="456687" cy="342900"/>
          </a:xfrm>
          <a:prstGeom prst="rect">
            <a:avLst/>
          </a:prstGeom>
        </p:spPr>
      </p:pic>
      <p:sp>
        <p:nvSpPr>
          <p:cNvPr id="347" name="Text 3">
            <a:extLst>
              <a:ext uri="{FF2B5EF4-FFF2-40B4-BE49-F238E27FC236}">
                <a16:creationId xmlns:a16="http://schemas.microsoft.com/office/drawing/2014/main" id="{5B9CA374-6A42-1666-6C3D-9BC3E15236EA}"/>
              </a:ext>
            </a:extLst>
          </p:cNvPr>
          <p:cNvSpPr txBox="1"/>
          <p:nvPr/>
        </p:nvSpPr>
        <p:spPr>
          <a:xfrm>
            <a:off x="9759950" y="1625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650" dirty="0"/>
          </a:p>
        </p:txBody>
      </p:sp>
      <p:pic>
        <p:nvPicPr>
          <p:cNvPr id="349" name="Image 3" descr="C:/Users/Samrat S K/Downloads/diagrams/data icons/noaa.png">
            <a:extLst>
              <a:ext uri="{FF2B5EF4-FFF2-40B4-BE49-F238E27FC236}">
                <a16:creationId xmlns:a16="http://schemas.microsoft.com/office/drawing/2014/main" id="{778AD0D4-98A8-6D6A-AC19-2BEEBC193F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8080" y="1263650"/>
            <a:ext cx="340189" cy="342900"/>
          </a:xfrm>
          <a:prstGeom prst="rect">
            <a:avLst/>
          </a:prstGeom>
        </p:spPr>
      </p:pic>
      <p:sp>
        <p:nvSpPr>
          <p:cNvPr id="351" name="Text 4">
            <a:extLst>
              <a:ext uri="{FF2B5EF4-FFF2-40B4-BE49-F238E27FC236}">
                <a16:creationId xmlns:a16="http://schemas.microsoft.com/office/drawing/2014/main" id="{F0815B80-3D91-3DDB-3611-32021CB1BC53}"/>
              </a:ext>
            </a:extLst>
          </p:cNvPr>
          <p:cNvSpPr txBox="1"/>
          <p:nvPr/>
        </p:nvSpPr>
        <p:spPr>
          <a:xfrm>
            <a:off x="10452100" y="1625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Currents</a:t>
            </a:r>
            <a:endParaRPr lang="en-US" sz="650" dirty="0"/>
          </a:p>
        </p:txBody>
      </p:sp>
      <p:pic>
        <p:nvPicPr>
          <p:cNvPr id="353" name="Image 4" descr="C:/Users/Samrat S K/Downloads/diagrams/data icons/nasa.png">
            <a:extLst>
              <a:ext uri="{FF2B5EF4-FFF2-40B4-BE49-F238E27FC236}">
                <a16:creationId xmlns:a16="http://schemas.microsoft.com/office/drawing/2014/main" id="{E38342C8-5B52-D931-588A-370EB1644D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81603" y="1263650"/>
            <a:ext cx="417443" cy="342900"/>
          </a:xfrm>
          <a:prstGeom prst="rect">
            <a:avLst/>
          </a:prstGeom>
        </p:spPr>
      </p:pic>
      <p:sp>
        <p:nvSpPr>
          <p:cNvPr id="355" name="Text 5">
            <a:extLst>
              <a:ext uri="{FF2B5EF4-FFF2-40B4-BE49-F238E27FC236}">
                <a16:creationId xmlns:a16="http://schemas.microsoft.com/office/drawing/2014/main" id="{B356438E-11AD-D9B5-F272-07565226D7FE}"/>
              </a:ext>
            </a:extLst>
          </p:cNvPr>
          <p:cNvSpPr txBox="1"/>
          <p:nvPr/>
        </p:nvSpPr>
        <p:spPr>
          <a:xfrm>
            <a:off x="11144250" y="1625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650" dirty="0"/>
          </a:p>
        </p:txBody>
      </p:sp>
      <p:pic>
        <p:nvPicPr>
          <p:cNvPr id="357" name="Image 5" descr="C:/Users/Samrat S K/Downloads/diagrams/data icons/marinetraffic.png">
            <a:extLst>
              <a:ext uri="{FF2B5EF4-FFF2-40B4-BE49-F238E27FC236}">
                <a16:creationId xmlns:a16="http://schemas.microsoft.com/office/drawing/2014/main" id="{90B1E4FE-547F-5BDB-0A23-BAE08FA1B9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5070" y="1898650"/>
            <a:ext cx="477611" cy="342900"/>
          </a:xfrm>
          <a:prstGeom prst="rect">
            <a:avLst/>
          </a:prstGeom>
        </p:spPr>
      </p:pic>
      <p:sp>
        <p:nvSpPr>
          <p:cNvPr id="359" name="Text 6">
            <a:extLst>
              <a:ext uri="{FF2B5EF4-FFF2-40B4-BE49-F238E27FC236}">
                <a16:creationId xmlns:a16="http://schemas.microsoft.com/office/drawing/2014/main" id="{696FC037-7131-4B92-9ABD-6D13BC84933C}"/>
              </a:ext>
            </a:extLst>
          </p:cNvPr>
          <p:cNvSpPr txBox="1"/>
          <p:nvPr/>
        </p:nvSpPr>
        <p:spPr>
          <a:xfrm>
            <a:off x="9067800" y="2260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Tracks</a:t>
            </a:r>
            <a:endParaRPr lang="en-US" sz="650" dirty="0"/>
          </a:p>
        </p:txBody>
      </p:sp>
      <p:pic>
        <p:nvPicPr>
          <p:cNvPr id="361" name="Image 6" descr="C:/Users/Samrat S K/Downloads/diagrams/data icons/copernicus.png">
            <a:extLst>
              <a:ext uri="{FF2B5EF4-FFF2-40B4-BE49-F238E27FC236}">
                <a16:creationId xmlns:a16="http://schemas.microsoft.com/office/drawing/2014/main" id="{29D80F26-794C-C0D4-6845-099550DBE5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8850" y="1961561"/>
            <a:ext cx="514350" cy="217078"/>
          </a:xfrm>
          <a:prstGeom prst="rect">
            <a:avLst/>
          </a:prstGeom>
        </p:spPr>
      </p:pic>
      <p:sp>
        <p:nvSpPr>
          <p:cNvPr id="363" name="Text 7">
            <a:extLst>
              <a:ext uri="{FF2B5EF4-FFF2-40B4-BE49-F238E27FC236}">
                <a16:creationId xmlns:a16="http://schemas.microsoft.com/office/drawing/2014/main" id="{079769D8-471A-5ABC-D1DD-CF20DFBAAA67}"/>
              </a:ext>
            </a:extLst>
          </p:cNvPr>
          <p:cNvSpPr txBox="1"/>
          <p:nvPr/>
        </p:nvSpPr>
        <p:spPr>
          <a:xfrm>
            <a:off x="9759950" y="2260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&amp; Land</a:t>
            </a:r>
            <a:endParaRPr lang="en-US" sz="650" dirty="0"/>
          </a:p>
        </p:txBody>
      </p:sp>
      <p:pic>
        <p:nvPicPr>
          <p:cNvPr id="365" name="Image 7" descr="C:/Users/Samrat S K/Downloads/diagrams/data icons/gebco.png">
            <a:extLst>
              <a:ext uri="{FF2B5EF4-FFF2-40B4-BE49-F238E27FC236}">
                <a16:creationId xmlns:a16="http://schemas.microsoft.com/office/drawing/2014/main" id="{B7A7C7D0-6CC4-BBEA-9163-D80022E845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6725" y="1898650"/>
            <a:ext cx="342900" cy="342900"/>
          </a:xfrm>
          <a:prstGeom prst="rect">
            <a:avLst/>
          </a:prstGeom>
        </p:spPr>
      </p:pic>
      <p:sp>
        <p:nvSpPr>
          <p:cNvPr id="367" name="Text 8">
            <a:extLst>
              <a:ext uri="{FF2B5EF4-FFF2-40B4-BE49-F238E27FC236}">
                <a16:creationId xmlns:a16="http://schemas.microsoft.com/office/drawing/2014/main" id="{EEE92988-C3F9-F61F-312A-935F222693A2}"/>
              </a:ext>
            </a:extLst>
          </p:cNvPr>
          <p:cNvSpPr txBox="1"/>
          <p:nvPr/>
        </p:nvSpPr>
        <p:spPr>
          <a:xfrm>
            <a:off x="10452100" y="2260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Bathymetry</a:t>
            </a:r>
            <a:endParaRPr lang="en-US" sz="650" dirty="0"/>
          </a:p>
        </p:txBody>
      </p:sp>
      <p:pic>
        <p:nvPicPr>
          <p:cNvPr id="369" name="Image 8" descr="C:/Users/Samrat S K/Downloads/diagrams/data icons/openstreetmap.png">
            <a:extLst>
              <a:ext uri="{FF2B5EF4-FFF2-40B4-BE49-F238E27FC236}">
                <a16:creationId xmlns:a16="http://schemas.microsoft.com/office/drawing/2014/main" id="{DD80323C-AF2E-1083-711F-844395DC92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88971" y="1898650"/>
            <a:ext cx="402708" cy="342900"/>
          </a:xfrm>
          <a:prstGeom prst="rect">
            <a:avLst/>
          </a:prstGeom>
        </p:spPr>
      </p:pic>
      <p:sp>
        <p:nvSpPr>
          <p:cNvPr id="371" name="Text 9">
            <a:extLst>
              <a:ext uri="{FF2B5EF4-FFF2-40B4-BE49-F238E27FC236}">
                <a16:creationId xmlns:a16="http://schemas.microsoft.com/office/drawing/2014/main" id="{BD54410C-6547-01A2-34D5-BC4E8ED8E2CF}"/>
              </a:ext>
            </a:extLst>
          </p:cNvPr>
          <p:cNvSpPr txBox="1"/>
          <p:nvPr/>
        </p:nvSpPr>
        <p:spPr>
          <a:xfrm>
            <a:off x="11144250" y="2260600"/>
            <a:ext cx="6921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</a:t>
            </a:r>
            <a:endParaRPr lang="en-US" sz="650" dirty="0"/>
          </a:p>
        </p:txBody>
      </p:sp>
      <p:sp>
        <p:nvSpPr>
          <p:cNvPr id="373" name="Shape 10">
            <a:extLst>
              <a:ext uri="{FF2B5EF4-FFF2-40B4-BE49-F238E27FC236}">
                <a16:creationId xmlns:a16="http://schemas.microsoft.com/office/drawing/2014/main" id="{3F0396F7-4522-1519-C2E3-2916614F88B7}"/>
              </a:ext>
            </a:extLst>
          </p:cNvPr>
          <p:cNvSpPr/>
          <p:nvPr/>
        </p:nvSpPr>
        <p:spPr>
          <a:xfrm>
            <a:off x="9067800" y="2489200"/>
            <a:ext cx="276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5" name="Image 9" descr="C:\Users\Samrat S K\AppData\Local\Temp\pg/h_TechStack_0F766E.svg">
            <a:extLst>
              <a:ext uri="{FF2B5EF4-FFF2-40B4-BE49-F238E27FC236}">
                <a16:creationId xmlns:a16="http://schemas.microsoft.com/office/drawing/2014/main" id="{A755A4D9-1C7A-A2CB-E38D-D4973CAEF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67800" y="2727960"/>
            <a:ext cx="177800" cy="177800"/>
          </a:xfrm>
          <a:prstGeom prst="rect">
            <a:avLst/>
          </a:prstGeom>
        </p:spPr>
      </p:pic>
      <p:sp>
        <p:nvSpPr>
          <p:cNvPr id="377" name="Text 11">
            <a:extLst>
              <a:ext uri="{FF2B5EF4-FFF2-40B4-BE49-F238E27FC236}">
                <a16:creationId xmlns:a16="http://schemas.microsoft.com/office/drawing/2014/main" id="{9638E3B2-48FE-A384-2A09-549397EFC01B}"/>
              </a:ext>
            </a:extLst>
          </p:cNvPr>
          <p:cNvSpPr txBox="1"/>
          <p:nvPr/>
        </p:nvSpPr>
        <p:spPr>
          <a:xfrm>
            <a:off x="9321800" y="2702560"/>
            <a:ext cx="261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79" name="Text 12">
            <a:extLst>
              <a:ext uri="{FF2B5EF4-FFF2-40B4-BE49-F238E27FC236}">
                <a16:creationId xmlns:a16="http://schemas.microsoft.com/office/drawing/2014/main" id="{A99E59C4-5473-9EF2-4A32-0863F8852667}"/>
              </a:ext>
            </a:extLst>
          </p:cNvPr>
          <p:cNvSpPr txBox="1"/>
          <p:nvPr/>
        </p:nvSpPr>
        <p:spPr>
          <a:xfrm>
            <a:off x="9067800" y="2921000"/>
            <a:ext cx="736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00" dirty="0"/>
          </a:p>
        </p:txBody>
      </p:sp>
      <p:pic>
        <p:nvPicPr>
          <p:cNvPr id="381" name="Image 10" descr="C:/Users/Samrat S K/Downloads/diagrams/ts/tech icons/react.png">
            <a:extLst>
              <a:ext uri="{FF2B5EF4-FFF2-40B4-BE49-F238E27FC236}">
                <a16:creationId xmlns:a16="http://schemas.microsoft.com/office/drawing/2014/main" id="{F375B951-7745-E126-B0D5-0BDE93E3CD9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93300" y="3038488"/>
            <a:ext cx="330200" cy="298423"/>
          </a:xfrm>
          <a:prstGeom prst="rect">
            <a:avLst/>
          </a:prstGeom>
        </p:spPr>
      </p:pic>
      <p:sp>
        <p:nvSpPr>
          <p:cNvPr id="383" name="Text 13">
            <a:extLst>
              <a:ext uri="{FF2B5EF4-FFF2-40B4-BE49-F238E27FC236}">
                <a16:creationId xmlns:a16="http://schemas.microsoft.com/office/drawing/2014/main" id="{3F7E29B3-5E70-767C-4E2B-BEDD55EFEB4A}"/>
              </a:ext>
            </a:extLst>
          </p:cNvPr>
          <p:cNvSpPr txBox="1"/>
          <p:nvPr/>
        </p:nvSpPr>
        <p:spPr>
          <a:xfrm>
            <a:off x="9804400" y="336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600" dirty="0"/>
          </a:p>
        </p:txBody>
      </p:sp>
      <p:pic>
        <p:nvPicPr>
          <p:cNvPr id="385" name="Image 11" descr="C:/Users/Samrat S K/Downloads/diagrams/ts/tech icons/typescript.png">
            <a:extLst>
              <a:ext uri="{FF2B5EF4-FFF2-40B4-BE49-F238E27FC236}">
                <a16:creationId xmlns:a16="http://schemas.microsoft.com/office/drawing/2014/main" id="{D99EACFB-F4E8-F570-E9BE-84F4DB6A394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08417" y="3028950"/>
            <a:ext cx="315966" cy="317500"/>
          </a:xfrm>
          <a:prstGeom prst="rect">
            <a:avLst/>
          </a:prstGeom>
        </p:spPr>
      </p:pic>
      <p:sp>
        <p:nvSpPr>
          <p:cNvPr id="387" name="Text 14">
            <a:extLst>
              <a:ext uri="{FF2B5EF4-FFF2-40B4-BE49-F238E27FC236}">
                <a16:creationId xmlns:a16="http://schemas.microsoft.com/office/drawing/2014/main" id="{5DF92BDD-DFBB-793A-F270-74A12B883ACE}"/>
              </a:ext>
            </a:extLst>
          </p:cNvPr>
          <p:cNvSpPr txBox="1"/>
          <p:nvPr/>
        </p:nvSpPr>
        <p:spPr>
          <a:xfrm>
            <a:off x="10312400" y="336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600" dirty="0"/>
          </a:p>
        </p:txBody>
      </p:sp>
      <p:pic>
        <p:nvPicPr>
          <p:cNvPr id="389" name="Image 12" descr="C:/Users/Samrat S K/Downloads/diagrams/ts/tech icons/vite.png">
            <a:extLst>
              <a:ext uri="{FF2B5EF4-FFF2-40B4-BE49-F238E27FC236}">
                <a16:creationId xmlns:a16="http://schemas.microsoft.com/office/drawing/2014/main" id="{F7D883AB-9AD1-B216-7FCF-3A6A0553826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14226" y="3028950"/>
            <a:ext cx="320348" cy="317500"/>
          </a:xfrm>
          <a:prstGeom prst="rect">
            <a:avLst/>
          </a:prstGeom>
        </p:spPr>
      </p:pic>
      <p:sp>
        <p:nvSpPr>
          <p:cNvPr id="391" name="Text 15">
            <a:extLst>
              <a:ext uri="{FF2B5EF4-FFF2-40B4-BE49-F238E27FC236}">
                <a16:creationId xmlns:a16="http://schemas.microsoft.com/office/drawing/2014/main" id="{2582BA57-A84B-87E7-D4F7-D86F9D81E711}"/>
              </a:ext>
            </a:extLst>
          </p:cNvPr>
          <p:cNvSpPr txBox="1"/>
          <p:nvPr/>
        </p:nvSpPr>
        <p:spPr>
          <a:xfrm>
            <a:off x="10820400" y="336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600" dirty="0"/>
          </a:p>
        </p:txBody>
      </p:sp>
      <p:pic>
        <p:nvPicPr>
          <p:cNvPr id="393" name="Image 13" descr="C:/Users/Samrat S K/Downloads/diagrams/ts/tech icons/zustand.png">
            <a:extLst>
              <a:ext uri="{FF2B5EF4-FFF2-40B4-BE49-F238E27FC236}">
                <a16:creationId xmlns:a16="http://schemas.microsoft.com/office/drawing/2014/main" id="{52725BA9-00E3-5BB5-EDE1-E6F0705DC13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7797" y="3028950"/>
            <a:ext cx="329205" cy="317500"/>
          </a:xfrm>
          <a:prstGeom prst="rect">
            <a:avLst/>
          </a:prstGeom>
        </p:spPr>
      </p:pic>
      <p:sp>
        <p:nvSpPr>
          <p:cNvPr id="395" name="Text 16">
            <a:extLst>
              <a:ext uri="{FF2B5EF4-FFF2-40B4-BE49-F238E27FC236}">
                <a16:creationId xmlns:a16="http://schemas.microsoft.com/office/drawing/2014/main" id="{90119E73-D500-6764-04AF-0A219B96D197}"/>
              </a:ext>
            </a:extLst>
          </p:cNvPr>
          <p:cNvSpPr txBox="1"/>
          <p:nvPr/>
        </p:nvSpPr>
        <p:spPr>
          <a:xfrm>
            <a:off x="11328400" y="336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600" dirty="0"/>
          </a:p>
        </p:txBody>
      </p:sp>
      <p:sp>
        <p:nvSpPr>
          <p:cNvPr id="397" name="Shape 17">
            <a:extLst>
              <a:ext uri="{FF2B5EF4-FFF2-40B4-BE49-F238E27FC236}">
                <a16:creationId xmlns:a16="http://schemas.microsoft.com/office/drawing/2014/main" id="{81A2605E-C953-ACB5-18DE-0E63DC8F1F6A}"/>
              </a:ext>
            </a:extLst>
          </p:cNvPr>
          <p:cNvSpPr/>
          <p:nvPr/>
        </p:nvSpPr>
        <p:spPr>
          <a:xfrm>
            <a:off x="9067800" y="3556000"/>
            <a:ext cx="276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9" name="Text 18">
            <a:extLst>
              <a:ext uri="{FF2B5EF4-FFF2-40B4-BE49-F238E27FC236}">
                <a16:creationId xmlns:a16="http://schemas.microsoft.com/office/drawing/2014/main" id="{D02286E3-5B9A-5D4E-6D5A-CCCB458F885C}"/>
              </a:ext>
            </a:extLst>
          </p:cNvPr>
          <p:cNvSpPr txBox="1"/>
          <p:nvPr/>
        </p:nvSpPr>
        <p:spPr>
          <a:xfrm>
            <a:off x="9067800" y="3556000"/>
            <a:ext cx="736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</a:t>
            </a:r>
            <a:endParaRPr lang="en-US" sz="800" dirty="0"/>
          </a:p>
        </p:txBody>
      </p:sp>
      <p:pic>
        <p:nvPicPr>
          <p:cNvPr id="401" name="Image 14" descr="C:/Users/Samrat S K/Downloads/diagrams/ts/tech icons/cesium.png">
            <a:extLst>
              <a:ext uri="{FF2B5EF4-FFF2-40B4-BE49-F238E27FC236}">
                <a16:creationId xmlns:a16="http://schemas.microsoft.com/office/drawing/2014/main" id="{3E139401-7F2C-9337-E03B-0F347D1D93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99650" y="3663950"/>
            <a:ext cx="317500" cy="317500"/>
          </a:xfrm>
          <a:prstGeom prst="rect">
            <a:avLst/>
          </a:prstGeom>
        </p:spPr>
      </p:pic>
      <p:sp>
        <p:nvSpPr>
          <p:cNvPr id="403" name="Text 19">
            <a:extLst>
              <a:ext uri="{FF2B5EF4-FFF2-40B4-BE49-F238E27FC236}">
                <a16:creationId xmlns:a16="http://schemas.microsoft.com/office/drawing/2014/main" id="{F16225EA-C45E-310F-23AF-47F7F9C22D7B}"/>
              </a:ext>
            </a:extLst>
          </p:cNvPr>
          <p:cNvSpPr txBox="1"/>
          <p:nvPr/>
        </p:nvSpPr>
        <p:spPr>
          <a:xfrm>
            <a:off x="9804400" y="400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CesiumJS</a:t>
            </a:r>
            <a:endParaRPr lang="en-US" sz="600" dirty="0"/>
          </a:p>
        </p:txBody>
      </p:sp>
      <p:pic>
        <p:nvPicPr>
          <p:cNvPr id="405" name="Image 15" descr="C:/Users/Samrat S K/Downloads/diagrams/ts/tech icons/postgis.png">
            <a:extLst>
              <a:ext uri="{FF2B5EF4-FFF2-40B4-BE49-F238E27FC236}">
                <a16:creationId xmlns:a16="http://schemas.microsoft.com/office/drawing/2014/main" id="{EF7B6D59-6879-D76A-BC9D-CD0223C0B4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01300" y="3664060"/>
            <a:ext cx="330200" cy="317279"/>
          </a:xfrm>
          <a:prstGeom prst="rect">
            <a:avLst/>
          </a:prstGeom>
        </p:spPr>
      </p:pic>
      <p:sp>
        <p:nvSpPr>
          <p:cNvPr id="407" name="Text 20">
            <a:extLst>
              <a:ext uri="{FF2B5EF4-FFF2-40B4-BE49-F238E27FC236}">
                <a16:creationId xmlns:a16="http://schemas.microsoft.com/office/drawing/2014/main" id="{53C84B83-E286-A82B-8F19-D80894D71107}"/>
              </a:ext>
            </a:extLst>
          </p:cNvPr>
          <p:cNvSpPr txBox="1"/>
          <p:nvPr/>
        </p:nvSpPr>
        <p:spPr>
          <a:xfrm>
            <a:off x="10312400" y="400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</a:t>
            </a:r>
            <a:endParaRPr lang="en-US" sz="600" dirty="0"/>
          </a:p>
        </p:txBody>
      </p:sp>
      <p:pic>
        <p:nvPicPr>
          <p:cNvPr id="409" name="Image 16" descr="C:/Users/Samrat S K/Downloads/diagrams/ts/tech icons/gdal.png">
            <a:extLst>
              <a:ext uri="{FF2B5EF4-FFF2-40B4-BE49-F238E27FC236}">
                <a16:creationId xmlns:a16="http://schemas.microsoft.com/office/drawing/2014/main" id="{2CB434D4-96E2-A766-E061-EE4FEEF6851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17043" y="3663950"/>
            <a:ext cx="314715" cy="317500"/>
          </a:xfrm>
          <a:prstGeom prst="rect">
            <a:avLst/>
          </a:prstGeom>
        </p:spPr>
      </p:pic>
      <p:sp>
        <p:nvSpPr>
          <p:cNvPr id="411" name="Text 21">
            <a:extLst>
              <a:ext uri="{FF2B5EF4-FFF2-40B4-BE49-F238E27FC236}">
                <a16:creationId xmlns:a16="http://schemas.microsoft.com/office/drawing/2014/main" id="{7AAAEA0F-692D-BAC9-A57E-B456C6E9C3BE}"/>
              </a:ext>
            </a:extLst>
          </p:cNvPr>
          <p:cNvSpPr txBox="1"/>
          <p:nvPr/>
        </p:nvSpPr>
        <p:spPr>
          <a:xfrm>
            <a:off x="10820400" y="400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GDAL</a:t>
            </a:r>
            <a:endParaRPr lang="en-US" sz="600" dirty="0"/>
          </a:p>
        </p:txBody>
      </p:sp>
      <p:pic>
        <p:nvPicPr>
          <p:cNvPr id="413" name="Image 17" descr="C:/Users/Samrat S K/Downloads/diagrams/ts/tech icons/geopandas.png">
            <a:extLst>
              <a:ext uri="{FF2B5EF4-FFF2-40B4-BE49-F238E27FC236}">
                <a16:creationId xmlns:a16="http://schemas.microsoft.com/office/drawing/2014/main" id="{E570366A-BF2E-783C-B700-53A78E04A6F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32721" y="3663950"/>
            <a:ext cx="299357" cy="317500"/>
          </a:xfrm>
          <a:prstGeom prst="rect">
            <a:avLst/>
          </a:prstGeom>
        </p:spPr>
      </p:pic>
      <p:sp>
        <p:nvSpPr>
          <p:cNvPr id="415" name="Text 22">
            <a:extLst>
              <a:ext uri="{FF2B5EF4-FFF2-40B4-BE49-F238E27FC236}">
                <a16:creationId xmlns:a16="http://schemas.microsoft.com/office/drawing/2014/main" id="{25C2E499-5DD1-784C-609F-FD0827F79A71}"/>
              </a:ext>
            </a:extLst>
          </p:cNvPr>
          <p:cNvSpPr txBox="1"/>
          <p:nvPr/>
        </p:nvSpPr>
        <p:spPr>
          <a:xfrm>
            <a:off x="11328400" y="400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GeoPandas</a:t>
            </a:r>
            <a:endParaRPr lang="en-US" sz="600" dirty="0"/>
          </a:p>
        </p:txBody>
      </p:sp>
      <p:sp>
        <p:nvSpPr>
          <p:cNvPr id="417" name="Shape 23">
            <a:extLst>
              <a:ext uri="{FF2B5EF4-FFF2-40B4-BE49-F238E27FC236}">
                <a16:creationId xmlns:a16="http://schemas.microsoft.com/office/drawing/2014/main" id="{50CCB03E-7C52-016D-A53B-07A5DBBFBA6A}"/>
              </a:ext>
            </a:extLst>
          </p:cNvPr>
          <p:cNvSpPr/>
          <p:nvPr/>
        </p:nvSpPr>
        <p:spPr>
          <a:xfrm>
            <a:off x="9067800" y="4191000"/>
            <a:ext cx="276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9" name="Text 24">
            <a:extLst>
              <a:ext uri="{FF2B5EF4-FFF2-40B4-BE49-F238E27FC236}">
                <a16:creationId xmlns:a16="http://schemas.microsoft.com/office/drawing/2014/main" id="{F69A9066-3D4E-9518-B305-92B2664CA92D}"/>
              </a:ext>
            </a:extLst>
          </p:cNvPr>
          <p:cNvSpPr txBox="1"/>
          <p:nvPr/>
        </p:nvSpPr>
        <p:spPr>
          <a:xfrm>
            <a:off x="9067800" y="4191000"/>
            <a:ext cx="736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Backend</a:t>
            </a:r>
            <a:endParaRPr lang="en-US" sz="800" dirty="0"/>
          </a:p>
        </p:txBody>
      </p:sp>
      <p:pic>
        <p:nvPicPr>
          <p:cNvPr id="421" name="Image 18" descr="C:/Users/Samrat S K/Downloads/diagrams/ts/tech icons/python.png">
            <a:extLst>
              <a:ext uri="{FF2B5EF4-FFF2-40B4-BE49-F238E27FC236}">
                <a16:creationId xmlns:a16="http://schemas.microsoft.com/office/drawing/2014/main" id="{2DCC011D-3095-06F6-CD23-B55B8C92AF2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93300" y="4300244"/>
            <a:ext cx="330200" cy="314913"/>
          </a:xfrm>
          <a:prstGeom prst="rect">
            <a:avLst/>
          </a:prstGeom>
        </p:spPr>
      </p:pic>
      <p:sp>
        <p:nvSpPr>
          <p:cNvPr id="423" name="Text 25">
            <a:extLst>
              <a:ext uri="{FF2B5EF4-FFF2-40B4-BE49-F238E27FC236}">
                <a16:creationId xmlns:a16="http://schemas.microsoft.com/office/drawing/2014/main" id="{01AFAF52-B177-A54E-43B5-238201B6A816}"/>
              </a:ext>
            </a:extLst>
          </p:cNvPr>
          <p:cNvSpPr txBox="1"/>
          <p:nvPr/>
        </p:nvSpPr>
        <p:spPr>
          <a:xfrm>
            <a:off x="9804400" y="463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600" dirty="0"/>
          </a:p>
        </p:txBody>
      </p:sp>
      <p:pic>
        <p:nvPicPr>
          <p:cNvPr id="425" name="Image 19" descr="C:/Users/Samrat S K/Downloads/diagrams/ts/tech icons/pytorch.png">
            <a:extLst>
              <a:ext uri="{FF2B5EF4-FFF2-40B4-BE49-F238E27FC236}">
                <a16:creationId xmlns:a16="http://schemas.microsoft.com/office/drawing/2014/main" id="{AD8414A5-D160-445C-B8FC-61997FBA72B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28869" y="4298950"/>
            <a:ext cx="275062" cy="317500"/>
          </a:xfrm>
          <a:prstGeom prst="rect">
            <a:avLst/>
          </a:prstGeom>
        </p:spPr>
      </p:pic>
      <p:sp>
        <p:nvSpPr>
          <p:cNvPr id="427" name="Text 26">
            <a:extLst>
              <a:ext uri="{FF2B5EF4-FFF2-40B4-BE49-F238E27FC236}">
                <a16:creationId xmlns:a16="http://schemas.microsoft.com/office/drawing/2014/main" id="{8AD1E26C-8F18-DEF5-6BC0-A12929C9819E}"/>
              </a:ext>
            </a:extLst>
          </p:cNvPr>
          <p:cNvSpPr txBox="1"/>
          <p:nvPr/>
        </p:nvSpPr>
        <p:spPr>
          <a:xfrm>
            <a:off x="10312400" y="463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600" dirty="0"/>
          </a:p>
        </p:txBody>
      </p:sp>
      <p:pic>
        <p:nvPicPr>
          <p:cNvPr id="429" name="Image 20" descr="C:/Users/Samrat S K/Downloads/diagrams/ts/tech icons/fastapi.png">
            <a:extLst>
              <a:ext uri="{FF2B5EF4-FFF2-40B4-BE49-F238E27FC236}">
                <a16:creationId xmlns:a16="http://schemas.microsoft.com/office/drawing/2014/main" id="{60D09C2B-D23F-AFA5-3027-924600A6AF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15650" y="4298950"/>
            <a:ext cx="317500" cy="317500"/>
          </a:xfrm>
          <a:prstGeom prst="rect">
            <a:avLst/>
          </a:prstGeom>
        </p:spPr>
      </p:pic>
      <p:sp>
        <p:nvSpPr>
          <p:cNvPr id="431" name="Text 27">
            <a:extLst>
              <a:ext uri="{FF2B5EF4-FFF2-40B4-BE49-F238E27FC236}">
                <a16:creationId xmlns:a16="http://schemas.microsoft.com/office/drawing/2014/main" id="{9DAB0E5A-93E9-D1D2-1180-6E7006ED5F2D}"/>
              </a:ext>
            </a:extLst>
          </p:cNvPr>
          <p:cNvSpPr txBox="1"/>
          <p:nvPr/>
        </p:nvSpPr>
        <p:spPr>
          <a:xfrm>
            <a:off x="10820400" y="463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600" dirty="0"/>
          </a:p>
        </p:txBody>
      </p:sp>
      <p:pic>
        <p:nvPicPr>
          <p:cNvPr id="433" name="Image 21" descr="C:/Users/Samrat S K/Downloads/diagrams/ts/tech icons/nodejs.png">
            <a:extLst>
              <a:ext uri="{FF2B5EF4-FFF2-40B4-BE49-F238E27FC236}">
                <a16:creationId xmlns:a16="http://schemas.microsoft.com/office/drawing/2014/main" id="{DDA59EF4-4AC0-1C9E-2CC8-A177499A10C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440072" y="4298950"/>
            <a:ext cx="284655" cy="317500"/>
          </a:xfrm>
          <a:prstGeom prst="rect">
            <a:avLst/>
          </a:prstGeom>
        </p:spPr>
      </p:pic>
      <p:sp>
        <p:nvSpPr>
          <p:cNvPr id="435" name="Text 28">
            <a:extLst>
              <a:ext uri="{FF2B5EF4-FFF2-40B4-BE49-F238E27FC236}">
                <a16:creationId xmlns:a16="http://schemas.microsoft.com/office/drawing/2014/main" id="{5F1D831C-427E-B3FF-2100-7308A2826AD2}"/>
              </a:ext>
            </a:extLst>
          </p:cNvPr>
          <p:cNvSpPr txBox="1"/>
          <p:nvPr/>
        </p:nvSpPr>
        <p:spPr>
          <a:xfrm>
            <a:off x="11328400" y="4635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600" dirty="0"/>
          </a:p>
        </p:txBody>
      </p:sp>
      <p:sp>
        <p:nvSpPr>
          <p:cNvPr id="437" name="Shape 29">
            <a:extLst>
              <a:ext uri="{FF2B5EF4-FFF2-40B4-BE49-F238E27FC236}">
                <a16:creationId xmlns:a16="http://schemas.microsoft.com/office/drawing/2014/main" id="{09D3AB37-E95D-72FE-894C-1BFB70BF8B2D}"/>
              </a:ext>
            </a:extLst>
          </p:cNvPr>
          <p:cNvSpPr/>
          <p:nvPr/>
        </p:nvSpPr>
        <p:spPr>
          <a:xfrm>
            <a:off x="9067800" y="4826000"/>
            <a:ext cx="2768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9" name="Text 30">
            <a:extLst>
              <a:ext uri="{FF2B5EF4-FFF2-40B4-BE49-F238E27FC236}">
                <a16:creationId xmlns:a16="http://schemas.microsoft.com/office/drawing/2014/main" id="{61F77EA5-A06A-D533-FDC5-ADCE55C016D7}"/>
              </a:ext>
            </a:extLst>
          </p:cNvPr>
          <p:cNvSpPr txBox="1"/>
          <p:nvPr/>
        </p:nvSpPr>
        <p:spPr>
          <a:xfrm>
            <a:off x="9067800" y="4826000"/>
            <a:ext cx="736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Storage</a:t>
            </a:r>
            <a:endParaRPr lang="en-US" sz="800" dirty="0"/>
          </a:p>
        </p:txBody>
      </p:sp>
      <p:pic>
        <p:nvPicPr>
          <p:cNvPr id="441" name="Image 22" descr="C:/Users/Samrat S K/Downloads/diagrams/ts/tech icons/postgresql.png">
            <a:extLst>
              <a:ext uri="{FF2B5EF4-FFF2-40B4-BE49-F238E27FC236}">
                <a16:creationId xmlns:a16="http://schemas.microsoft.com/office/drawing/2014/main" id="{153B0411-63DC-0FFC-20CE-51E6C467B4C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95641" y="4933950"/>
            <a:ext cx="325518" cy="317500"/>
          </a:xfrm>
          <a:prstGeom prst="rect">
            <a:avLst/>
          </a:prstGeom>
        </p:spPr>
      </p:pic>
      <p:sp>
        <p:nvSpPr>
          <p:cNvPr id="443" name="Text 31">
            <a:extLst>
              <a:ext uri="{FF2B5EF4-FFF2-40B4-BE49-F238E27FC236}">
                <a16:creationId xmlns:a16="http://schemas.microsoft.com/office/drawing/2014/main" id="{D64FDBA2-1608-4FF1-4CBE-D3C7A14C98B4}"/>
              </a:ext>
            </a:extLst>
          </p:cNvPr>
          <p:cNvSpPr txBox="1"/>
          <p:nvPr/>
        </p:nvSpPr>
        <p:spPr>
          <a:xfrm>
            <a:off x="9804400" y="527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600" dirty="0"/>
          </a:p>
        </p:txBody>
      </p:sp>
      <p:pic>
        <p:nvPicPr>
          <p:cNvPr id="445" name="Image 23" descr="C:/Users/Samrat S K/Downloads/diagrams/ts/tech icons/numpy.png">
            <a:extLst>
              <a:ext uri="{FF2B5EF4-FFF2-40B4-BE49-F238E27FC236}">
                <a16:creationId xmlns:a16="http://schemas.microsoft.com/office/drawing/2014/main" id="{2AA3E4AE-DB31-738F-0A69-67A23272A50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17320" y="4933950"/>
            <a:ext cx="298160" cy="317500"/>
          </a:xfrm>
          <a:prstGeom prst="rect">
            <a:avLst/>
          </a:prstGeom>
        </p:spPr>
      </p:pic>
      <p:sp>
        <p:nvSpPr>
          <p:cNvPr id="447" name="Text 32">
            <a:extLst>
              <a:ext uri="{FF2B5EF4-FFF2-40B4-BE49-F238E27FC236}">
                <a16:creationId xmlns:a16="http://schemas.microsoft.com/office/drawing/2014/main" id="{A0E2B5CB-C7B9-3963-C9A2-7A39D6586D3A}"/>
              </a:ext>
            </a:extLst>
          </p:cNvPr>
          <p:cNvSpPr txBox="1"/>
          <p:nvPr/>
        </p:nvSpPr>
        <p:spPr>
          <a:xfrm>
            <a:off x="10312400" y="527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600" dirty="0"/>
          </a:p>
        </p:txBody>
      </p:sp>
      <p:pic>
        <p:nvPicPr>
          <p:cNvPr id="449" name="Image 24" descr="C:/Users/Samrat S K/Downloads/diagrams/ts/tech icons/pandas.png">
            <a:extLst>
              <a:ext uri="{FF2B5EF4-FFF2-40B4-BE49-F238E27FC236}">
                <a16:creationId xmlns:a16="http://schemas.microsoft.com/office/drawing/2014/main" id="{E43AB63D-6D96-62C2-9D94-8C7D10BF72F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969124" y="4933950"/>
            <a:ext cx="210553" cy="317500"/>
          </a:xfrm>
          <a:prstGeom prst="rect">
            <a:avLst/>
          </a:prstGeom>
        </p:spPr>
      </p:pic>
      <p:sp>
        <p:nvSpPr>
          <p:cNvPr id="451" name="Text 33">
            <a:extLst>
              <a:ext uri="{FF2B5EF4-FFF2-40B4-BE49-F238E27FC236}">
                <a16:creationId xmlns:a16="http://schemas.microsoft.com/office/drawing/2014/main" id="{88A657E1-8835-2D05-8F52-EAB8B6239989}"/>
              </a:ext>
            </a:extLst>
          </p:cNvPr>
          <p:cNvSpPr txBox="1"/>
          <p:nvPr/>
        </p:nvSpPr>
        <p:spPr>
          <a:xfrm>
            <a:off x="10820400" y="527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600" dirty="0"/>
          </a:p>
        </p:txBody>
      </p:sp>
      <p:pic>
        <p:nvPicPr>
          <p:cNvPr id="453" name="Image 25" descr="C:/Users/Samrat S K/Downloads/diagrams/ts/tech icons/zarr.png">
            <a:extLst>
              <a:ext uri="{FF2B5EF4-FFF2-40B4-BE49-F238E27FC236}">
                <a16:creationId xmlns:a16="http://schemas.microsoft.com/office/drawing/2014/main" id="{960C4E7B-7C2E-07B7-9A4B-EEDF4327A29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417300" y="4938225"/>
            <a:ext cx="330200" cy="308950"/>
          </a:xfrm>
          <a:prstGeom prst="rect">
            <a:avLst/>
          </a:prstGeom>
        </p:spPr>
      </p:pic>
      <p:sp>
        <p:nvSpPr>
          <p:cNvPr id="455" name="Text 34">
            <a:extLst>
              <a:ext uri="{FF2B5EF4-FFF2-40B4-BE49-F238E27FC236}">
                <a16:creationId xmlns:a16="http://schemas.microsoft.com/office/drawing/2014/main" id="{1BE23FA9-C703-980B-65C6-ABAC15AED191}"/>
              </a:ext>
            </a:extLst>
          </p:cNvPr>
          <p:cNvSpPr txBox="1"/>
          <p:nvPr/>
        </p:nvSpPr>
        <p:spPr>
          <a:xfrm>
            <a:off x="11328400" y="5270500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Zarr</a:t>
            </a:r>
            <a:endParaRPr lang="en-US" sz="600" dirty="0"/>
          </a:p>
        </p:txBody>
      </p:sp>
      <p:sp>
        <p:nvSpPr>
          <p:cNvPr id="457" name="Shape 0">
            <a:extLst>
              <a:ext uri="{FF2B5EF4-FFF2-40B4-BE49-F238E27FC236}">
                <a16:creationId xmlns:a16="http://schemas.microsoft.com/office/drawing/2014/main" id="{48B35E67-622E-45DE-9A82-59DA7EE05CB5}"/>
              </a:ext>
            </a:extLst>
          </p:cNvPr>
          <p:cNvSpPr/>
          <p:nvPr/>
        </p:nvSpPr>
        <p:spPr>
          <a:xfrm>
            <a:off x="171832" y="5676310"/>
            <a:ext cx="11842367" cy="86416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B96B47BF-EDE2-3EAF-A888-4C1D32F75067}"/>
              </a:ext>
            </a:extLst>
          </p:cNvPr>
          <p:cNvSpPr txBox="1"/>
          <p:nvPr/>
        </p:nvSpPr>
        <p:spPr>
          <a:xfrm>
            <a:off x="482600" y="5773991"/>
            <a:ext cx="2000250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3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Deployed Prototype</a:t>
            </a:r>
          </a:p>
        </p:txBody>
      </p:sp>
      <p:pic>
        <p:nvPicPr>
          <p:cNvPr id="461" name="Image 26" descr="C:\Users\Samrat S K\AppData\Local\Temp\pg/b_rank_2F5597.svg">
            <a:extLst>
              <a:ext uri="{FF2B5EF4-FFF2-40B4-BE49-F238E27FC236}">
                <a16:creationId xmlns:a16="http://schemas.microsoft.com/office/drawing/2014/main" id="{7D637705-BA57-C9B7-8267-FF5EFD699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30200" y="5831285"/>
            <a:ext cx="177800" cy="177800"/>
          </a:xfrm>
          <a:prstGeom prst="rect">
            <a:avLst/>
          </a:prstGeom>
        </p:spPr>
      </p:pic>
      <p:sp>
        <p:nvSpPr>
          <p:cNvPr id="462" name="TextBox 461">
            <a:extLst>
              <a:ext uri="{FF2B5EF4-FFF2-40B4-BE49-F238E27FC236}">
                <a16:creationId xmlns:a16="http://schemas.microsoft.com/office/drawing/2014/main" id="{9581D786-3503-30C2-109F-648D8B87A101}"/>
              </a:ext>
            </a:extLst>
          </p:cNvPr>
          <p:cNvSpPr txBox="1"/>
          <p:nvPr/>
        </p:nvSpPr>
        <p:spPr>
          <a:xfrm>
            <a:off x="243840" y="6010688"/>
            <a:ext cx="175768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3D analysis of </a:t>
            </a:r>
          </a:p>
          <a:p>
            <a:r>
              <a:rPr lang="en-IN" sz="10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SAR, ocean &amp; AIS data</a:t>
            </a:r>
          </a:p>
        </p:txBody>
      </p:sp>
      <p:sp>
        <p:nvSpPr>
          <p:cNvPr id="466" name="Shape 38">
            <a:extLst>
              <a:ext uri="{FF2B5EF4-FFF2-40B4-BE49-F238E27FC236}">
                <a16:creationId xmlns:a16="http://schemas.microsoft.com/office/drawing/2014/main" id="{92DE0636-074A-0D35-54AD-DD5DDE2D85B3}"/>
              </a:ext>
            </a:extLst>
          </p:cNvPr>
          <p:cNvSpPr/>
          <p:nvPr/>
        </p:nvSpPr>
        <p:spPr>
          <a:xfrm>
            <a:off x="2328335" y="5854394"/>
            <a:ext cx="0" cy="508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8" name="Image 27" descr="C:\Users\Samrat S K\AppData\Local\Temp\pg/s_eye_E11D48.svg">
            <a:extLst>
              <a:ext uri="{FF2B5EF4-FFF2-40B4-BE49-F238E27FC236}">
                <a16:creationId xmlns:a16="http://schemas.microsoft.com/office/drawing/2014/main" id="{57D49986-A916-78B2-2A7A-D88187A277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464012" y="5811242"/>
            <a:ext cx="228600" cy="228600"/>
          </a:xfrm>
          <a:prstGeom prst="rect">
            <a:avLst/>
          </a:prstGeom>
        </p:spPr>
      </p:pic>
      <p:sp>
        <p:nvSpPr>
          <p:cNvPr id="470" name="Text 39">
            <a:extLst>
              <a:ext uri="{FF2B5EF4-FFF2-40B4-BE49-F238E27FC236}">
                <a16:creationId xmlns:a16="http://schemas.microsoft.com/office/drawing/2014/main" id="{1B4662C9-F5FB-1344-9819-8006F0FA35EE}"/>
              </a:ext>
            </a:extLst>
          </p:cNvPr>
          <p:cNvSpPr txBox="1"/>
          <p:nvPr/>
        </p:nvSpPr>
        <p:spPr>
          <a:xfrm>
            <a:off x="2747435" y="5811242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13,739</a:t>
            </a:r>
            <a:endParaRPr lang="en-US" sz="1600" dirty="0"/>
          </a:p>
        </p:txBody>
      </p:sp>
      <p:sp>
        <p:nvSpPr>
          <p:cNvPr id="474" name="Shape 41">
            <a:extLst>
              <a:ext uri="{FF2B5EF4-FFF2-40B4-BE49-F238E27FC236}">
                <a16:creationId xmlns:a16="http://schemas.microsoft.com/office/drawing/2014/main" id="{286F34F7-C3CD-CCB3-873B-67F31365BA66}"/>
              </a:ext>
            </a:extLst>
          </p:cNvPr>
          <p:cNvSpPr/>
          <p:nvPr/>
        </p:nvSpPr>
        <p:spPr>
          <a:xfrm>
            <a:off x="3699935" y="5854394"/>
            <a:ext cx="0" cy="508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76" name="Image 28" descr="C:\Users\Samrat S K\AppData\Local\Temp\pg/s_map_0D9488.svg">
            <a:extLst>
              <a:ext uri="{FF2B5EF4-FFF2-40B4-BE49-F238E27FC236}">
                <a16:creationId xmlns:a16="http://schemas.microsoft.com/office/drawing/2014/main" id="{6F3B5E51-2E59-1961-8236-4EE3DD859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795397" y="5807075"/>
            <a:ext cx="228600" cy="228600"/>
          </a:xfrm>
          <a:prstGeom prst="rect">
            <a:avLst/>
          </a:prstGeom>
        </p:spPr>
      </p:pic>
      <p:sp>
        <p:nvSpPr>
          <p:cNvPr id="478" name="Text 42">
            <a:extLst>
              <a:ext uri="{FF2B5EF4-FFF2-40B4-BE49-F238E27FC236}">
                <a16:creationId xmlns:a16="http://schemas.microsoft.com/office/drawing/2014/main" id="{5A5C8C29-AA03-BC17-B98A-A2D2C7C9D8E1}"/>
              </a:ext>
            </a:extLst>
          </p:cNvPr>
          <p:cNvSpPr txBox="1"/>
          <p:nvPr/>
        </p:nvSpPr>
        <p:spPr>
          <a:xfrm>
            <a:off x="4093635" y="5816600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18,770 km²</a:t>
            </a:r>
            <a:endParaRPr lang="en-US" sz="1600" dirty="0"/>
          </a:p>
        </p:txBody>
      </p:sp>
      <p:sp>
        <p:nvSpPr>
          <p:cNvPr id="480" name="Text 43">
            <a:extLst>
              <a:ext uri="{FF2B5EF4-FFF2-40B4-BE49-F238E27FC236}">
                <a16:creationId xmlns:a16="http://schemas.microsoft.com/office/drawing/2014/main" id="{C067A3DB-89AB-AFD9-689F-FC5670CC4C0B}"/>
              </a:ext>
            </a:extLst>
          </p:cNvPr>
          <p:cNvSpPr txBox="1"/>
          <p:nvPr/>
        </p:nvSpPr>
        <p:spPr>
          <a:xfrm>
            <a:off x="4093635" y="6057900"/>
            <a:ext cx="95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Slick area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700" dirty="0"/>
          </a:p>
        </p:txBody>
      </p:sp>
      <p:sp>
        <p:nvSpPr>
          <p:cNvPr id="482" name="Shape 44">
            <a:extLst>
              <a:ext uri="{FF2B5EF4-FFF2-40B4-BE49-F238E27FC236}">
                <a16:creationId xmlns:a16="http://schemas.microsoft.com/office/drawing/2014/main" id="{127F9BEB-0361-697D-9C01-42F5185B0BF3}"/>
              </a:ext>
            </a:extLst>
          </p:cNvPr>
          <p:cNvSpPr/>
          <p:nvPr/>
        </p:nvSpPr>
        <p:spPr>
          <a:xfrm>
            <a:off x="5071535" y="5854394"/>
            <a:ext cx="0" cy="508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4" name="Image 29" descr="C:\Users\Samrat S K\AppData\Local\Temp\pg/s_ship_D97706.svg">
            <a:extLst>
              <a:ext uri="{FF2B5EF4-FFF2-40B4-BE49-F238E27FC236}">
                <a16:creationId xmlns:a16="http://schemas.microsoft.com/office/drawing/2014/main" id="{366F431A-D62A-1319-0F92-1C854D612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73135" y="5969000"/>
            <a:ext cx="228600" cy="228600"/>
          </a:xfrm>
          <a:prstGeom prst="rect">
            <a:avLst/>
          </a:prstGeom>
        </p:spPr>
      </p:pic>
      <p:sp>
        <p:nvSpPr>
          <p:cNvPr id="486" name="Text 45">
            <a:extLst>
              <a:ext uri="{FF2B5EF4-FFF2-40B4-BE49-F238E27FC236}">
                <a16:creationId xmlns:a16="http://schemas.microsoft.com/office/drawing/2014/main" id="{759C22BA-9249-37EF-6003-8AE701DECF02}"/>
              </a:ext>
            </a:extLst>
          </p:cNvPr>
          <p:cNvSpPr txBox="1"/>
          <p:nvPr/>
        </p:nvSpPr>
        <p:spPr>
          <a:xfrm>
            <a:off x="5465235" y="5816600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643</a:t>
            </a:r>
            <a:endParaRPr lang="en-US" sz="1600" dirty="0"/>
          </a:p>
        </p:txBody>
      </p:sp>
      <p:sp>
        <p:nvSpPr>
          <p:cNvPr id="488" name="Text 46">
            <a:extLst>
              <a:ext uri="{FF2B5EF4-FFF2-40B4-BE49-F238E27FC236}">
                <a16:creationId xmlns:a16="http://schemas.microsoft.com/office/drawing/2014/main" id="{03FB3236-193A-0D26-8B7A-42525873E250}"/>
              </a:ext>
            </a:extLst>
          </p:cNvPr>
          <p:cNvSpPr txBox="1"/>
          <p:nvPr/>
        </p:nvSpPr>
        <p:spPr>
          <a:xfrm>
            <a:off x="5465235" y="6057900"/>
            <a:ext cx="95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 vessels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</a:t>
            </a:r>
            <a:endParaRPr lang="en-US" sz="700" dirty="0"/>
          </a:p>
        </p:txBody>
      </p:sp>
      <p:sp>
        <p:nvSpPr>
          <p:cNvPr id="490" name="Shape 47">
            <a:extLst>
              <a:ext uri="{FF2B5EF4-FFF2-40B4-BE49-F238E27FC236}">
                <a16:creationId xmlns:a16="http://schemas.microsoft.com/office/drawing/2014/main" id="{C3EFC2CE-AA5A-2AA7-D1EB-7BE6F2384246}"/>
              </a:ext>
            </a:extLst>
          </p:cNvPr>
          <p:cNvSpPr/>
          <p:nvPr/>
        </p:nvSpPr>
        <p:spPr>
          <a:xfrm>
            <a:off x="6443135" y="5854394"/>
            <a:ext cx="0" cy="5080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2" name="Image 30" descr="C:\Users\Samrat S K\AppData\Local\Temp\pg/s_sat_7C3AED.svg">
            <a:extLst>
              <a:ext uri="{FF2B5EF4-FFF2-40B4-BE49-F238E27FC236}">
                <a16:creationId xmlns:a16="http://schemas.microsoft.com/office/drawing/2014/main" id="{1DA1AA8D-520F-1EA2-8E2E-3C4C12E4E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544735" y="5969000"/>
            <a:ext cx="228600" cy="228600"/>
          </a:xfrm>
          <a:prstGeom prst="rect">
            <a:avLst/>
          </a:prstGeom>
        </p:spPr>
      </p:pic>
      <p:sp>
        <p:nvSpPr>
          <p:cNvPr id="494" name="Text 48">
            <a:extLst>
              <a:ext uri="{FF2B5EF4-FFF2-40B4-BE49-F238E27FC236}">
                <a16:creationId xmlns:a16="http://schemas.microsoft.com/office/drawing/2014/main" id="{0A4592B1-F263-E9BC-6797-AEEAC5FE1F51}"/>
              </a:ext>
            </a:extLst>
          </p:cNvPr>
          <p:cNvSpPr txBox="1"/>
          <p:nvPr/>
        </p:nvSpPr>
        <p:spPr>
          <a:xfrm>
            <a:off x="6836835" y="5816600"/>
            <a:ext cx="95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600" dirty="0"/>
          </a:p>
        </p:txBody>
      </p:sp>
      <p:sp>
        <p:nvSpPr>
          <p:cNvPr id="496" name="Text 49">
            <a:extLst>
              <a:ext uri="{FF2B5EF4-FFF2-40B4-BE49-F238E27FC236}">
                <a16:creationId xmlns:a16="http://schemas.microsoft.com/office/drawing/2014/main" id="{FF6A1990-680A-4E88-F72D-EACD8E44C77F}"/>
              </a:ext>
            </a:extLst>
          </p:cNvPr>
          <p:cNvSpPr txBox="1"/>
          <p:nvPr/>
        </p:nvSpPr>
        <p:spPr>
          <a:xfrm>
            <a:off x="6836835" y="6057900"/>
            <a:ext cx="95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passes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cross-checked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75A2D44-3037-4C04-A008-D7022D88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255"/>
            <a:ext cx="12191999" cy="6248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17C292-664A-8C04-8D97-6FFA4AF97D13}"/>
              </a:ext>
            </a:extLst>
          </p:cNvPr>
          <p:cNvSpPr/>
          <p:nvPr/>
        </p:nvSpPr>
        <p:spPr>
          <a:xfrm>
            <a:off x="0" y="95190"/>
            <a:ext cx="12191999" cy="844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B14617-0C94-8E51-760D-03C0DEE96A5C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BE1D9E-3134-ECF7-78A5-269CFC085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36DC4EF-FC10-CC85-C611-07B0EF48F90D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C52BD376-DC5B-4167-F4FD-01058A378F5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Feasibility and Viability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C95EA44-0D5B-83AE-86F6-842F19EF49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156575"/>
            <a:ext cx="12185522" cy="62692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5542B2-C61C-0538-3E22-2A705FAC86A9}"/>
              </a:ext>
            </a:extLst>
          </p:cNvPr>
          <p:cNvSpPr/>
          <p:nvPr/>
        </p:nvSpPr>
        <p:spPr>
          <a:xfrm>
            <a:off x="0" y="95190"/>
            <a:ext cx="12191999" cy="844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E50A0B-D26B-D195-6649-8845CCDB7601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7E2FA5-5D7A-6712-D188-D3F1E88FD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9E321BD-DACB-3BCB-A042-2219A49B6AE6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51CA121F-A497-B06D-918A-82573566DAE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Impacts and Benefits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9D665AF-96BC-A58C-C534-FDFAE4C7FD66}"/>
              </a:ext>
            </a:extLst>
          </p:cNvPr>
          <p:cNvSpPr txBox="1"/>
          <p:nvPr/>
        </p:nvSpPr>
        <p:spPr>
          <a:xfrm>
            <a:off x="1032995" y="1046707"/>
            <a:ext cx="190435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Who Benefits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C74777-0520-E30B-D350-78678C53EE2C}"/>
              </a:ext>
            </a:extLst>
          </p:cNvPr>
          <p:cNvSpPr txBox="1"/>
          <p:nvPr/>
        </p:nvSpPr>
        <p:spPr>
          <a:xfrm>
            <a:off x="4648200" y="1046707"/>
            <a:ext cx="190435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Value Created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80A03E-F7C2-EF5E-5F83-3BDBECD9C00D}"/>
              </a:ext>
            </a:extLst>
          </p:cNvPr>
          <p:cNvSpPr txBox="1"/>
          <p:nvPr/>
        </p:nvSpPr>
        <p:spPr>
          <a:xfrm>
            <a:off x="8525706" y="1046707"/>
            <a:ext cx="232043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chemeClr val="bg1"/>
                </a:solidFill>
              </a:rPr>
              <a:t>Why “GUARDIANS”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0161E0-4A2D-85B5-D65D-1E9BDB00C905}"/>
              </a:ext>
            </a:extLst>
          </p:cNvPr>
          <p:cNvSpPr txBox="1"/>
          <p:nvPr/>
        </p:nvSpPr>
        <p:spPr>
          <a:xfrm>
            <a:off x="1345864" y="1647410"/>
            <a:ext cx="22135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Maritime Authorities</a:t>
            </a:r>
          </a:p>
          <a:p>
            <a:r>
              <a:rPr lang="en-US" sz="1400" dirty="0">
                <a:solidFill>
                  <a:srgbClr val="014C90"/>
                </a:solidFill>
              </a:rPr>
              <a:t>Faster incident assessment and source investigation.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72417-6DBA-9FF6-6570-7DDDEF288B67}"/>
              </a:ext>
            </a:extLst>
          </p:cNvPr>
          <p:cNvSpPr txBox="1"/>
          <p:nvPr/>
        </p:nvSpPr>
        <p:spPr>
          <a:xfrm>
            <a:off x="1345864" y="2628966"/>
            <a:ext cx="221354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Response Teams</a:t>
            </a:r>
          </a:p>
          <a:p>
            <a:r>
              <a:rPr lang="en-US" sz="1300" dirty="0">
                <a:solidFill>
                  <a:srgbClr val="014C90"/>
                </a:solidFill>
              </a:rPr>
              <a:t>Better prioritization of containment, surveillance, and cleanup zones.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11EC22-E99D-6842-332B-207250C06F6E}"/>
              </a:ext>
            </a:extLst>
          </p:cNvPr>
          <p:cNvSpPr txBox="1"/>
          <p:nvPr/>
        </p:nvSpPr>
        <p:spPr>
          <a:xfrm>
            <a:off x="1345863" y="3653481"/>
            <a:ext cx="221354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Investigators</a:t>
            </a:r>
          </a:p>
          <a:p>
            <a:r>
              <a:rPr lang="en-US" sz="1300" dirty="0">
                <a:solidFill>
                  <a:srgbClr val="014C90"/>
                </a:solidFill>
              </a:rPr>
              <a:t>Evidence-based vessel screening with traceable attribution logic.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F74BDC-E4F8-33F4-404B-2FD50151F09F}"/>
              </a:ext>
            </a:extLst>
          </p:cNvPr>
          <p:cNvSpPr txBox="1"/>
          <p:nvPr/>
        </p:nvSpPr>
        <p:spPr>
          <a:xfrm>
            <a:off x="1345863" y="4776188"/>
            <a:ext cx="2213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Coastal Communities</a:t>
            </a:r>
          </a:p>
          <a:p>
            <a:r>
              <a:rPr lang="en-US" sz="1400" dirty="0">
                <a:solidFill>
                  <a:srgbClr val="014C90"/>
                </a:solidFill>
              </a:rPr>
              <a:t>Earlier warning of areas likely to be affected.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846111-0442-4899-A27A-DED645C6A84B}"/>
              </a:ext>
            </a:extLst>
          </p:cNvPr>
          <p:cNvSpPr txBox="1"/>
          <p:nvPr/>
        </p:nvSpPr>
        <p:spPr>
          <a:xfrm>
            <a:off x="5212119" y="1647410"/>
            <a:ext cx="22135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Operation</a:t>
            </a:r>
          </a:p>
          <a:p>
            <a:r>
              <a:rPr lang="en-US" sz="1400" dirty="0">
                <a:solidFill>
                  <a:srgbClr val="014C90"/>
                </a:solidFill>
              </a:rPr>
              <a:t>Faster incident assessment and source investigation.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6C83C4-57FD-6B90-51A1-1B359CC9C539}"/>
              </a:ext>
            </a:extLst>
          </p:cNvPr>
          <p:cNvSpPr txBox="1"/>
          <p:nvPr/>
        </p:nvSpPr>
        <p:spPr>
          <a:xfrm>
            <a:off x="5212119" y="2628966"/>
            <a:ext cx="221354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Response Teams</a:t>
            </a:r>
          </a:p>
          <a:p>
            <a:r>
              <a:rPr lang="en-US" sz="1300" dirty="0">
                <a:solidFill>
                  <a:srgbClr val="014C90"/>
                </a:solidFill>
              </a:rPr>
              <a:t>Better prioritization of containment, surveillance, and cleanup zones.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9BFB0-5726-3E64-DA77-479BB1056802}"/>
              </a:ext>
            </a:extLst>
          </p:cNvPr>
          <p:cNvSpPr txBox="1"/>
          <p:nvPr/>
        </p:nvSpPr>
        <p:spPr>
          <a:xfrm>
            <a:off x="5212118" y="3653481"/>
            <a:ext cx="221354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Investigators</a:t>
            </a:r>
          </a:p>
          <a:p>
            <a:r>
              <a:rPr lang="en-US" sz="1300" dirty="0">
                <a:solidFill>
                  <a:srgbClr val="014C90"/>
                </a:solidFill>
              </a:rPr>
              <a:t>Evidence-based vessel screening with traceable attribution logic.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889120-92B5-144B-D309-EF33E2F0FBE9}"/>
              </a:ext>
            </a:extLst>
          </p:cNvPr>
          <p:cNvSpPr txBox="1"/>
          <p:nvPr/>
        </p:nvSpPr>
        <p:spPr>
          <a:xfrm>
            <a:off x="5212118" y="4776188"/>
            <a:ext cx="2213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14C90"/>
                </a:solidFill>
              </a:rPr>
              <a:t>Coastal Communities</a:t>
            </a:r>
          </a:p>
          <a:p>
            <a:r>
              <a:rPr lang="en-US" sz="1400" dirty="0">
                <a:solidFill>
                  <a:srgbClr val="014C90"/>
                </a:solidFill>
              </a:rPr>
              <a:t>Earlier warning of areas likely to be affected.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381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2381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3BB8A-0D20-F7D9-7FE5-D558B6DA5269}"/>
              </a:ext>
            </a:extLst>
          </p:cNvPr>
          <p:cNvSpPr txBox="1"/>
          <p:nvPr/>
        </p:nvSpPr>
        <p:spPr>
          <a:xfrm>
            <a:off x="484817" y="919709"/>
            <a:ext cx="54864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dirty="0">
                <a:solidFill>
                  <a:srgbClr val="1F4E79"/>
                </a:solidFill>
                <a:latin typeface="+mj-lt"/>
              </a:rPr>
              <a:t>Data 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58E99-6411-6603-EF3C-511C977AF1FB}"/>
              </a:ext>
            </a:extLst>
          </p:cNvPr>
          <p:cNvSpPr txBox="1"/>
          <p:nvPr/>
        </p:nvSpPr>
        <p:spPr>
          <a:xfrm>
            <a:off x="484817" y="1175228"/>
            <a:ext cx="6351006" cy="338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010000"/>
                </a:solidFill>
              </a:rPr>
              <a:t>Sentinel-1 / Satellite</a:t>
            </a:r>
          </a:p>
          <a:p>
            <a:r>
              <a:rPr lang="en-US" sz="1200" dirty="0">
                <a:hlinkClick r:id="rId3"/>
              </a:rPr>
              <a:t>https://dataspace.copernicus.eu/data-collections/copernicus-sentinel-missions/sentinel-1</a:t>
            </a:r>
            <a:endParaRPr lang="en-US" sz="1200" dirty="0"/>
          </a:p>
          <a:p>
            <a:r>
              <a:rPr lang="en-US" sz="1200" dirty="0">
                <a:hlinkClick r:id="rId4"/>
              </a:rPr>
              <a:t>https://dataspace.copernicus.eu/</a:t>
            </a:r>
            <a:endParaRPr lang="en-US" sz="1200" dirty="0"/>
          </a:p>
          <a:p>
            <a:r>
              <a:rPr lang="en-US" sz="1200" dirty="0">
                <a:hlinkClick r:id="rId5"/>
              </a:rPr>
              <a:t>https://sentinels.copernicus.eu/sentinel-data-access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Sentinel-1 Oil Spill Datasets</a:t>
            </a:r>
          </a:p>
          <a:p>
            <a:r>
              <a:rPr lang="en-US" sz="1200" dirty="0">
                <a:hlinkClick r:id="rId6"/>
              </a:rPr>
              <a:t>https://zenodo.org/records/8346860</a:t>
            </a:r>
            <a:endParaRPr lang="en-US" sz="1200" dirty="0"/>
          </a:p>
          <a:p>
            <a:endParaRPr lang="en-US" sz="1200" b="1" dirty="0"/>
          </a:p>
          <a:p>
            <a:r>
              <a:rPr lang="en-US" sz="1200" b="1" dirty="0"/>
              <a:t>Weather / Wind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hlinkClick r:id="rId7"/>
              </a:rPr>
              <a:t>https://cds.climate.copernicus.eu/datasets/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Ocean Currents / Marine Data</a:t>
            </a:r>
          </a:p>
          <a:p>
            <a:r>
              <a:rPr lang="en-US" sz="1200" dirty="0">
                <a:hlinkClick r:id="rId8"/>
              </a:rPr>
              <a:t>https://data.marine.copernicus.eu/</a:t>
            </a:r>
            <a:endParaRPr lang="en-US" sz="1200" dirty="0"/>
          </a:p>
          <a:p>
            <a:r>
              <a:rPr lang="en-US" sz="1200" b="1" dirty="0"/>
              <a:t>INCOIS</a:t>
            </a:r>
          </a:p>
          <a:p>
            <a:r>
              <a:rPr lang="en-US" sz="1200" dirty="0">
                <a:hlinkClick r:id="rId9"/>
              </a:rPr>
              <a:t>https://www.incois.gov.in/</a:t>
            </a:r>
            <a:endParaRPr lang="en-US" sz="1200" dirty="0"/>
          </a:p>
          <a:p>
            <a:r>
              <a:rPr lang="en-US" sz="1200" b="1" dirty="0"/>
              <a:t>AIS / Vessel Data</a:t>
            </a:r>
          </a:p>
          <a:p>
            <a:r>
              <a:rPr lang="en-US" sz="1200" dirty="0">
                <a:hlinkClick r:id="rId10"/>
              </a:rPr>
              <a:t>https://ocmgeodatastor1.blob.core.windows.net/marinecadastre/ais/aistrack/index-aistrack.html</a:t>
            </a:r>
            <a:endParaRPr lang="en-US" sz="1200" dirty="0"/>
          </a:p>
          <a:p>
            <a:r>
              <a:rPr lang="en-US" sz="1200" dirty="0">
                <a:hlinkClick r:id="rId11"/>
              </a:rPr>
              <a:t>https://www.fisheries.noaa.gov/inport/item/79504</a:t>
            </a:r>
            <a:endParaRPr lang="en-US" sz="1200" dirty="0"/>
          </a:p>
          <a:p>
            <a:r>
              <a:rPr lang="en-US" sz="1200" dirty="0">
                <a:hlinkClick r:id="rId12"/>
              </a:rPr>
              <a:t>https://globalfishingwatch.org/our-apis/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EEEA2-04C3-01C2-7DC8-2E44FA77CB3C}"/>
              </a:ext>
            </a:extLst>
          </p:cNvPr>
          <p:cNvSpPr txBox="1"/>
          <p:nvPr/>
        </p:nvSpPr>
        <p:spPr>
          <a:xfrm>
            <a:off x="6963508" y="1175228"/>
            <a:ext cx="488014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10000"/>
                </a:solidFill>
              </a:rPr>
              <a:t>Environmental Impact Layers</a:t>
            </a:r>
          </a:p>
          <a:p>
            <a:r>
              <a:rPr lang="en-US" sz="1200" dirty="0">
                <a:hlinkClick r:id="rId13"/>
              </a:rPr>
              <a:t>https://www.protectedplanet.net/en/thematic-areas/wdpa</a:t>
            </a:r>
            <a:endParaRPr lang="en-US" sz="1200" dirty="0"/>
          </a:p>
          <a:p>
            <a:r>
              <a:rPr lang="en-US" sz="1200" dirty="0">
                <a:hlinkClick r:id="rId14"/>
              </a:rPr>
              <a:t>https://allencoralatlas.org/resources/</a:t>
            </a:r>
            <a:endParaRPr lang="en-US" sz="1200" dirty="0"/>
          </a:p>
          <a:p>
            <a:r>
              <a:rPr lang="en-US" sz="1200" dirty="0">
                <a:hlinkClick r:id="rId15"/>
              </a:rPr>
              <a:t>https://resources.unep-wcmc.org/products/aaa46cd3d3d640b2916b8f0a0ffe07cb</a:t>
            </a:r>
            <a:endParaRPr lang="en-US" sz="1200" dirty="0"/>
          </a:p>
          <a:p>
            <a:r>
              <a:rPr lang="en-US" sz="1200" dirty="0">
                <a:hlinkClick r:id="rId16"/>
              </a:rPr>
              <a:t>https://www.naturalearthdata.com/downloads/10m-physical-vectors/</a:t>
            </a:r>
            <a:endParaRPr lang="en-US" sz="1200" dirty="0"/>
          </a:p>
          <a:p>
            <a:r>
              <a:rPr lang="en-US" sz="1200" dirty="0">
                <a:hlinkClick r:id="rId17"/>
              </a:rPr>
              <a:t>https://www.naturalearthdata.com/downloads/10m-physical-vectors/10m-coastline/</a:t>
            </a:r>
            <a:endParaRPr lang="en-US" sz="1200" dirty="0"/>
          </a:p>
          <a:p>
            <a:r>
              <a:rPr lang="en-US" sz="1200" dirty="0">
                <a:hlinkClick r:id="rId18"/>
              </a:rPr>
              <a:t>https://response.restoration.noaa.gov/esi</a:t>
            </a:r>
            <a:endParaRPr lang="en-US" sz="1200" dirty="0"/>
          </a:p>
          <a:p>
            <a:r>
              <a:rPr lang="en-US" sz="1200" dirty="0">
                <a:hlinkClick r:id="rId19"/>
              </a:rPr>
              <a:t>https://www.fisheries.noaa.gov/inport/item/40881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300" b="1" dirty="0">
                <a:solidFill>
                  <a:srgbClr val="010000"/>
                </a:solidFill>
              </a:rPr>
              <a:t>Papers / Methods</a:t>
            </a:r>
          </a:p>
          <a:p>
            <a:r>
              <a:rPr lang="en-US" sz="1200" dirty="0">
                <a:hlinkClick r:id="rId20"/>
              </a:rPr>
              <a:t>https://www.sciencedirect.com/science/article/pii/S0025326X24005265</a:t>
            </a:r>
            <a:endParaRPr lang="en-US" sz="1200" dirty="0"/>
          </a:p>
          <a:p>
            <a:r>
              <a:rPr lang="en-US" sz="1200" dirty="0">
                <a:hlinkClick r:id="rId21"/>
              </a:rPr>
              <a:t>https://pubmed.ncbi.nlm.nih.gov/38850755/</a:t>
            </a:r>
            <a:endParaRPr lang="en-US" sz="1200" dirty="0"/>
          </a:p>
          <a:p>
            <a:r>
              <a:rPr lang="en-US" sz="1200" dirty="0">
                <a:hlinkClick r:id="rId22"/>
              </a:rPr>
              <a:t>https://openaccess.thecvf.com/content_ECCV_2018/html/Liang-Chieh_Chen_Encoder-Decoder_with_Atrous_ECCV_2018_paper.html</a:t>
            </a:r>
            <a:endParaRPr lang="en-US" sz="1200" dirty="0"/>
          </a:p>
          <a:p>
            <a:r>
              <a:rPr lang="en-US" sz="1200" dirty="0">
                <a:hlinkClick r:id="rId23"/>
              </a:rPr>
              <a:t>https://openaccess.thecvf.com/content/ICCV2025/html/Jakubik_TerraMind_Large-Scale_Generative_Multimodality_for_Earth_Observation_ICCV_2025_paper.html</a:t>
            </a:r>
            <a:endParaRPr lang="en-US" sz="1200" dirty="0"/>
          </a:p>
          <a:p>
            <a:r>
              <a:rPr lang="en-US" sz="1200" dirty="0">
                <a:hlinkClick r:id="rId24"/>
              </a:rPr>
              <a:t>https://arxiv.org/abs/2504.11171</a:t>
            </a:r>
            <a:endParaRPr lang="en-US" sz="1200" dirty="0"/>
          </a:p>
          <a:p>
            <a:r>
              <a:rPr lang="en-US" sz="1200" dirty="0">
                <a:hlinkClick r:id="rId25"/>
              </a:rPr>
              <a:t>https://opendrift.github.io/</a:t>
            </a:r>
            <a:endParaRPr lang="en-US" sz="1200" dirty="0"/>
          </a:p>
          <a:p>
            <a:r>
              <a:rPr lang="en-US" sz="1200" dirty="0">
                <a:hlinkClick r:id="rId26"/>
              </a:rPr>
              <a:t>https://github.com/OpenDrift/opendrift</a:t>
            </a:r>
            <a:endParaRPr lang="en-US" sz="1200" dirty="0"/>
          </a:p>
          <a:p>
            <a:r>
              <a:rPr lang="en-US" sz="1200" dirty="0">
                <a:hlinkClick r:id="rId27"/>
              </a:rPr>
              <a:t>https://www.itu.int/rec/R-REC-M.1371</a:t>
            </a:r>
            <a:endParaRPr lang="en-US" sz="1200" dirty="0"/>
          </a:p>
          <a:p>
            <a:r>
              <a:rPr lang="en-US" sz="1200" dirty="0">
                <a:hlinkClick r:id="rId28"/>
              </a:rPr>
              <a:t>https://essd.copernicus.org/articles/17/6807/2025/</a:t>
            </a:r>
            <a:endParaRPr lang="en-US" sz="1200" dirty="0"/>
          </a:p>
          <a:p>
            <a:r>
              <a:rPr lang="en-US" sz="1200" dirty="0">
                <a:hlinkClick r:id="rId29"/>
              </a:rPr>
              <a:t>https://zenodo.org/records/3497132</a:t>
            </a:r>
            <a:endParaRPr lang="en-US" sz="1200" dirty="0"/>
          </a:p>
          <a:p>
            <a:r>
              <a:rPr lang="en-US" sz="1200" dirty="0">
                <a:hlinkClick r:id="rId30"/>
              </a:rPr>
              <a:t>https://doi.org/10.3390/rs11151762</a:t>
            </a:r>
            <a:endParaRPr lang="en-US" sz="1200" dirty="0"/>
          </a:p>
          <a:p>
            <a:r>
              <a:rPr lang="en-US" sz="1200" dirty="0">
                <a:hlinkClick r:id="rId31"/>
              </a:rPr>
              <a:t>https://zenodo.org/records/2541694</a:t>
            </a:r>
            <a:endParaRPr lang="en-US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D3EABB-76E4-9F9B-C80E-F639B10B8651}"/>
              </a:ext>
            </a:extLst>
          </p:cNvPr>
          <p:cNvGrpSpPr/>
          <p:nvPr/>
        </p:nvGrpSpPr>
        <p:grpSpPr>
          <a:xfrm>
            <a:off x="171833" y="95190"/>
            <a:ext cx="11838106" cy="647141"/>
            <a:chOff x="171833" y="95190"/>
            <a:chExt cx="11838106" cy="6471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B9FE30-57AA-187A-ADE3-EB7B30A69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5271" y="95190"/>
              <a:ext cx="1374668" cy="647141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B0BB8DF-10F3-7CC8-FFE5-E4AB99131903}"/>
                </a:ext>
              </a:extLst>
            </p:cNvPr>
            <p:cNvSpPr/>
            <p:nvPr/>
          </p:nvSpPr>
          <p:spPr>
            <a:xfrm>
              <a:off x="171833" y="199401"/>
              <a:ext cx="1241855" cy="2546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Who Spilled It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E638F027-0E11-4B03-8479-8691B4868C0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681514" y="106361"/>
              <a:ext cx="8671458" cy="538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TradeGothic"/>
                  <a:ea typeface="ＭＳ Ｐゴシック" charset="0"/>
                  <a:cs typeface="ＭＳ Ｐゴシック" charset="0"/>
                </a:defRPr>
              </a:lvl1pPr>
              <a:lvl2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2pPr>
              <a:lvl3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3pPr>
              <a:lvl4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4pPr>
              <a:lvl5pPr algn="ctr" defTabSz="457200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5pPr>
              <a:lvl6pPr marL="4572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6pPr>
              <a:lvl7pPr marL="9144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7pPr>
              <a:lvl8pPr marL="13716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8pPr>
              <a:lvl9pPr marL="1828800" algn="ctr" defTabSz="457200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TradeGothic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eaLnBrk="1" hangingPunct="1"/>
              <a:r>
                <a:rPr lang="en-IN" sz="2400" b="1" dirty="0">
                  <a:solidFill>
                    <a:srgbClr val="1F4E79"/>
                  </a:solidFill>
                </a:rPr>
                <a:t>Research and References</a:t>
              </a:r>
              <a:endParaRPr lang="en-US" sz="24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8652</TotalTime>
  <Words>843</Words>
  <Application>Microsoft Office PowerPoint</Application>
  <PresentationFormat>Widescreen</PresentationFormat>
  <Paragraphs>164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Samrat S K</cp:lastModifiedBy>
  <cp:revision>180</cp:revision>
  <dcterms:created xsi:type="dcterms:W3CDTF">2013-12-12T18:46:50Z</dcterms:created>
  <dcterms:modified xsi:type="dcterms:W3CDTF">2026-09-28T23:35:43Z</dcterms:modified>
  <cp:category/>
</cp:coreProperties>
</file>