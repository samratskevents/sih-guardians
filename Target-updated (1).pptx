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659D"/>
    <a:srgbClr val="023967"/>
    <a:srgbClr val="03355C"/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hyperlink" Target="https://data.marine.copernicus.eu/product/INSITU_GLO_PHY_UV_DISCRETE_NRT_013_048/services" TargetMode="External"/><Relationship Id="rId18" Type="http://schemas.openxmlformats.org/officeDocument/2006/relationships/hyperlink" Target="https://globalfishingwatch.org/our-apis/" TargetMode="External"/><Relationship Id="rId26" Type="http://schemas.openxmlformats.org/officeDocument/2006/relationships/hyperlink" Target="https://www.naturalearthdata.com/downloads/10m-physical-vectors/10m-coastline/?utm_source=chatgpt.com" TargetMode="External"/><Relationship Id="rId39" Type="http://schemas.openxmlformats.org/officeDocument/2006/relationships/hyperlink" Target="https://doi.org/10.3390/rs11151762" TargetMode="External"/><Relationship Id="rId21" Type="http://schemas.openxmlformats.org/officeDocument/2006/relationships/hyperlink" Target="https://zenodo.org/records/14982712?utm_source=chatgpt.com" TargetMode="External"/><Relationship Id="rId34" Type="http://schemas.openxmlformats.org/officeDocument/2006/relationships/hyperlink" Target="https://opendrift.github.io/" TargetMode="External"/><Relationship Id="rId7" Type="http://schemas.openxmlformats.org/officeDocument/2006/relationships/hyperlink" Target="https://zenodo.org/records/8253899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ocmgeodatastor1.blob.core.windows.net/marinecadastre/ais/aistrack/index-aistrack.html?utm_source=chatgpt.com" TargetMode="External"/><Relationship Id="rId20" Type="http://schemas.openxmlformats.org/officeDocument/2006/relationships/hyperlink" Target="https://api-doc.globalfishingwatch.org/our-apis/documentation/docs/v3/vessels?utm_source=chatgpt.com" TargetMode="External"/><Relationship Id="rId29" Type="http://schemas.openxmlformats.org/officeDocument/2006/relationships/hyperlink" Target="https://www.sciencedirect.com/science/article/pii/S0025326X24005265" TargetMode="External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enodo.org/records/8346860" TargetMode="External"/><Relationship Id="rId11" Type="http://schemas.openxmlformats.org/officeDocument/2006/relationships/hyperlink" Target="https://cds.climate.copernicus.eu/datasets/reanalysis-era5-single-levels?tab=download&amp;utm_source=chatgpt.com" TargetMode="External"/><Relationship Id="rId24" Type="http://schemas.openxmlformats.org/officeDocument/2006/relationships/hyperlink" Target="https://resources.unep-wcmc.org/products/aaa46cd3d3d640b2916b8f0a0ffe07cb" TargetMode="External"/><Relationship Id="rId32" Type="http://schemas.openxmlformats.org/officeDocument/2006/relationships/hyperlink" Target="https://openaccess.thecvf.com/content/ICCV2025/html/Jakubik_TerraMind_Large-Scale_Generative_Multimodality_for_Earth_Observation_ICCV_2025_paper.html" TargetMode="External"/><Relationship Id="rId37" Type="http://schemas.openxmlformats.org/officeDocument/2006/relationships/hyperlink" Target="https://essd.copernicus.org/articles/17/6807/2025/?utm_source=chatgpt.com" TargetMode="External"/><Relationship Id="rId40" Type="http://schemas.openxmlformats.org/officeDocument/2006/relationships/hyperlink" Target="https://zenodo.org/records/2541694?utm_source=chatgpt.com" TargetMode="External"/><Relationship Id="rId5" Type="http://schemas.openxmlformats.org/officeDocument/2006/relationships/hyperlink" Target="https://sentinels.copernicus.eu/sentinel-data-access?utm_source=chatgpt.com" TargetMode="External"/><Relationship Id="rId15" Type="http://schemas.openxmlformats.org/officeDocument/2006/relationships/hyperlink" Target="https://www.do.incois.gov.in/?utm_source=chatgpt.com" TargetMode="External"/><Relationship Id="rId23" Type="http://schemas.openxmlformats.org/officeDocument/2006/relationships/hyperlink" Target="https://allencoralatlas.org/resources/?utm_source=chatgpt.com" TargetMode="External"/><Relationship Id="rId28" Type="http://schemas.openxmlformats.org/officeDocument/2006/relationships/hyperlink" Target="https://www.fisheries.noaa.gov/inport/item/40881?utm_source=chatgpt.com" TargetMode="External"/><Relationship Id="rId36" Type="http://schemas.openxmlformats.org/officeDocument/2006/relationships/hyperlink" Target="https://www.itu.int/rec/R-REC-M.1371" TargetMode="External"/><Relationship Id="rId10" Type="http://schemas.openxmlformats.org/officeDocument/2006/relationships/hyperlink" Target="https://cds.climate.copernicus.eu/datasets/reanalysis-era5-complete?tab=d_download" TargetMode="External"/><Relationship Id="rId19" Type="http://schemas.openxmlformats.org/officeDocument/2006/relationships/hyperlink" Target="https://globalfishingwatch.org/our-apis/documentation/" TargetMode="External"/><Relationship Id="rId31" Type="http://schemas.openxmlformats.org/officeDocument/2006/relationships/hyperlink" Target="https://openaccess.thecvf.com/content_ECCV_2018/html/Liang-Chieh_Chen_Encoder-Decoder_with_Atrous_ECCV_2018_paper.html" TargetMode="External"/><Relationship Id="rId4" Type="http://schemas.openxmlformats.org/officeDocument/2006/relationships/hyperlink" Target="https://dataspace.copernicus.eu/" TargetMode="External"/><Relationship Id="rId9" Type="http://schemas.openxmlformats.org/officeDocument/2006/relationships/hyperlink" Target="https://www.kaggle.com/datasets/harikrishnacs/sentinel-1-sar-oil-spill-detection-dataset" TargetMode="External"/><Relationship Id="rId14" Type="http://schemas.openxmlformats.org/officeDocument/2006/relationships/hyperlink" Target="https://www.incois.gov.in/?utm_source=chatgpt.com" TargetMode="External"/><Relationship Id="rId22" Type="http://schemas.openxmlformats.org/officeDocument/2006/relationships/hyperlink" Target="https://www.protectedplanet.net/en/thematic-areas/wdpa" TargetMode="External"/><Relationship Id="rId27" Type="http://schemas.openxmlformats.org/officeDocument/2006/relationships/hyperlink" Target="https://response.restoration.noaa.gov/esi" TargetMode="External"/><Relationship Id="rId30" Type="http://schemas.openxmlformats.org/officeDocument/2006/relationships/hyperlink" Target="https://pubmed.ncbi.nlm.nih.gov/38850755/?utm_source=chatgpt.com" TargetMode="External"/><Relationship Id="rId35" Type="http://schemas.openxmlformats.org/officeDocument/2006/relationships/hyperlink" Target="https://github.com/OpenDrift/opendrift?utm_source=chatgpt.com" TargetMode="External"/><Relationship Id="rId8" Type="http://schemas.openxmlformats.org/officeDocument/2006/relationships/hyperlink" Target="https://zenodo.org/records/13761290" TargetMode="External"/><Relationship Id="rId3" Type="http://schemas.openxmlformats.org/officeDocument/2006/relationships/hyperlink" Target="https://dataspace.copernicus.eu/data-collections/copernicus-sentinel-missions/sentinel-1?utm_source=chatgpt.com" TargetMode="External"/><Relationship Id="rId12" Type="http://schemas.openxmlformats.org/officeDocument/2006/relationships/hyperlink" Target="https://data.marine.copernicus.eu/?utm_source=chatgpt.com" TargetMode="External"/><Relationship Id="rId17" Type="http://schemas.openxmlformats.org/officeDocument/2006/relationships/hyperlink" Target="https://www.fisheries.noaa.gov/inport/item/79504" TargetMode="External"/><Relationship Id="rId25" Type="http://schemas.openxmlformats.org/officeDocument/2006/relationships/hyperlink" Target="https://www.naturalearthdata.com/downloads/10m-physical-vectors/" TargetMode="External"/><Relationship Id="rId33" Type="http://schemas.openxmlformats.org/officeDocument/2006/relationships/hyperlink" Target="https://arxiv.org/abs/2504.11171" TargetMode="External"/><Relationship Id="rId38" Type="http://schemas.openxmlformats.org/officeDocument/2006/relationships/hyperlink" Target="https://zenodo.org/records/349713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71172" y="2391481"/>
            <a:ext cx="2549865" cy="27271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393" y="2090746"/>
            <a:ext cx="5595607" cy="4022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26143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000000"/>
                </a:solidFill>
                <a:latin typeface="Arial" panose="020B0604020202020204"/>
              </a:rPr>
              <a:t>Leveraging satellite imagery to determine oil spills at sea along with AIS data correlations to identify the vessel responsible for the spill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Disaster Management</a:t>
            </a: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BMS/SIH2026/124</a:t>
            </a: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Who Spilled it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101678-71DC-3904-4348-7BDF2AAFF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932" y="295229"/>
            <a:ext cx="1715813" cy="834106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97B6738-57AF-E0CC-617D-A196678FD3E2}"/>
              </a:ext>
            </a:extLst>
          </p:cNvPr>
          <p:cNvGrpSpPr/>
          <p:nvPr/>
        </p:nvGrpSpPr>
        <p:grpSpPr>
          <a:xfrm>
            <a:off x="4540523" y="1040675"/>
            <a:ext cx="2956303" cy="698760"/>
            <a:chOff x="4540523" y="1040675"/>
            <a:chExt cx="2956303" cy="69876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AF31BA-CC7F-2EAE-A794-ED1587003AB0}"/>
                </a:ext>
              </a:extLst>
            </p:cNvPr>
            <p:cNvSpPr txBox="1"/>
            <p:nvPr/>
          </p:nvSpPr>
          <p:spPr>
            <a:xfrm>
              <a:off x="4540523" y="1040675"/>
              <a:ext cx="2956303" cy="49244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eaLnBrk="0" hangingPunct="0">
                <a:spcBef>
                  <a:spcPct val="20000"/>
                </a:spcBef>
              </a:pPr>
              <a:r>
                <a:rPr lang="en-IN" sz="3200" b="1" dirty="0"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GUARDIANS</a:t>
              </a:r>
              <a:endParaRPr sz="3200" b="1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5992E5-DB65-949A-5723-DB2D631EA6C9}"/>
                </a:ext>
              </a:extLst>
            </p:cNvPr>
            <p:cNvSpPr txBox="1"/>
            <p:nvPr/>
          </p:nvSpPr>
          <p:spPr>
            <a:xfrm>
              <a:off x="4747228" y="1585547"/>
              <a:ext cx="2549865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00" b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SEE  |  TRACE  |  PROTECT OUR OCEANS</a:t>
              </a:r>
            </a:p>
          </p:txBody>
        </p:sp>
      </p:grpSp>
      <p:sp>
        <p:nvSpPr>
          <p:cNvPr id="19" name="Title 7">
            <a:extLst>
              <a:ext uri="{FF2B5EF4-FFF2-40B4-BE49-F238E27FC236}">
                <a16:creationId xmlns:a16="http://schemas.microsoft.com/office/drawing/2014/main" id="{10FDBD77-80F7-97C2-6C74-C52831B2F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286" y="-1"/>
            <a:ext cx="10363200" cy="120288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492875"/>
            <a:ext cx="12191999" cy="3651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96058" y="6423818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F859BE-5E52-A434-0036-6DCBA21684E3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F909B323-4F66-17B9-174A-B3C939CBB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BFA828F1-A20D-3176-2698-A86A1BFA1087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48" name="Title 1">
              <a:extLst>
                <a:ext uri="{FF2B5EF4-FFF2-40B4-BE49-F238E27FC236}">
                  <a16:creationId xmlns:a16="http://schemas.microsoft.com/office/drawing/2014/main" id="{9104BD36-CCAD-12EA-FE6C-595DC1DB9DF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Proposed Solution - Guardians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6B28125-ACBB-1B79-A3F8-7C863D739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6767" y="2916624"/>
            <a:ext cx="8935232" cy="35731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5C6710-5E35-4CC6-E0C0-801B4FABA5E8}"/>
              </a:ext>
            </a:extLst>
          </p:cNvPr>
          <p:cNvSpPr txBox="1"/>
          <p:nvPr/>
        </p:nvSpPr>
        <p:spPr>
          <a:xfrm>
            <a:off x="171832" y="2818162"/>
            <a:ext cx="194026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70C0"/>
                </a:solidFill>
              </a:rPr>
              <a:t>Proposed Solution: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4FCB61-32C1-75A6-576E-E6E149CD46BD}"/>
              </a:ext>
            </a:extLst>
          </p:cNvPr>
          <p:cNvSpPr txBox="1"/>
          <p:nvPr/>
        </p:nvSpPr>
        <p:spPr>
          <a:xfrm>
            <a:off x="5270726" y="1158528"/>
            <a:ext cx="6921273" cy="1613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500"/>
              </a:spcAft>
            </a:pPr>
            <a:r>
              <a:rPr lang="en-IN" sz="1300" b="1" dirty="0"/>
              <a:t>Bidirectional Verification:</a:t>
            </a:r>
            <a:r>
              <a:rPr lang="en-IN" sz="1300" dirty="0"/>
              <a:t> Hindcasts slick origin; forward-simulates releases from candidate vessels. </a:t>
            </a:r>
          </a:p>
          <a:p>
            <a:pPr lvl="0">
              <a:spcAft>
                <a:spcPts val="500"/>
              </a:spcAft>
            </a:pPr>
            <a:r>
              <a:rPr lang="en-IN" sz="1300" b="1" dirty="0"/>
              <a:t>Deterministic &amp; Auditable:</a:t>
            </a:r>
            <a:r>
              <a:rPr lang="en-IN" sz="1300" dirty="0"/>
              <a:t> Same inputs give </a:t>
            </a:r>
            <a:r>
              <a:rPr lang="en-IN" sz="1300" b="1" dirty="0"/>
              <a:t>repeatable</a:t>
            </a:r>
            <a:r>
              <a:rPr lang="en-IN" sz="1300" dirty="0"/>
              <a:t> results with traceable evidence. </a:t>
            </a:r>
          </a:p>
          <a:p>
            <a:pPr lvl="0">
              <a:spcAft>
                <a:spcPts val="500"/>
              </a:spcAft>
            </a:pPr>
            <a:r>
              <a:rPr lang="en-IN" sz="1300" b="1" dirty="0"/>
              <a:t>Edge-Ready AI:</a:t>
            </a:r>
            <a:r>
              <a:rPr lang="en-IN" sz="1300" dirty="0"/>
              <a:t> Lightweight </a:t>
            </a:r>
            <a:r>
              <a:rPr lang="en-IN" sz="1300" b="1" dirty="0"/>
              <a:t>ResNet-18</a:t>
            </a:r>
            <a:r>
              <a:rPr lang="en-IN" sz="1300" dirty="0"/>
              <a:t> enables low-power/offline inference. </a:t>
            </a:r>
          </a:p>
          <a:p>
            <a:pPr lvl="0">
              <a:spcAft>
                <a:spcPts val="500"/>
              </a:spcAft>
            </a:pPr>
            <a:r>
              <a:rPr lang="en-IN" sz="1300" b="1" dirty="0"/>
              <a:t>Offline-First Resilience:</a:t>
            </a:r>
            <a:r>
              <a:rPr lang="en-IN" sz="1300" dirty="0"/>
              <a:t> Uses </a:t>
            </a:r>
            <a:r>
              <a:rPr lang="en-IN" sz="1300" b="1" dirty="0"/>
              <a:t>cached environmental and AIS data </a:t>
            </a:r>
            <a:r>
              <a:rPr lang="en-IN" sz="1300" dirty="0"/>
              <a:t>with limited connectivity. </a:t>
            </a:r>
          </a:p>
          <a:p>
            <a:pPr lvl="0">
              <a:spcAft>
                <a:spcPts val="500"/>
              </a:spcAft>
            </a:pPr>
            <a:r>
              <a:rPr lang="en-IN" sz="1300" b="1" dirty="0"/>
              <a:t>Modular Engine:</a:t>
            </a:r>
            <a:r>
              <a:rPr lang="en-IN" sz="1300" dirty="0"/>
              <a:t> Detection, attribution, forecasting, and response </a:t>
            </a:r>
            <a:r>
              <a:rPr lang="en-IN" sz="1300" b="1" dirty="0"/>
              <a:t>work independently </a:t>
            </a:r>
            <a:r>
              <a:rPr lang="en-IN" sz="1300" dirty="0"/>
              <a:t>or together.</a:t>
            </a:r>
          </a:p>
          <a:p>
            <a:pPr lvl="0">
              <a:spcAft>
                <a:spcPts val="500"/>
              </a:spcAft>
            </a:pPr>
            <a:r>
              <a:rPr lang="en-IN" sz="1300" b="1" dirty="0"/>
              <a:t>Response Intelligence:</a:t>
            </a:r>
            <a:r>
              <a:rPr lang="en-IN" sz="1300" dirty="0"/>
              <a:t> Converts detection </a:t>
            </a:r>
            <a:r>
              <a:rPr lang="en-IN" sz="1300" b="1" dirty="0"/>
              <a:t>into impact forecasts </a:t>
            </a:r>
            <a:r>
              <a:rPr lang="en-IN" sz="1300" dirty="0"/>
              <a:t>and </a:t>
            </a:r>
            <a:r>
              <a:rPr lang="en-IN" sz="1300" b="1" dirty="0"/>
              <a:t>protection priorities</a:t>
            </a:r>
            <a:r>
              <a:rPr lang="en-IN" sz="13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1BDEEA-11D8-12D8-1C4E-47ED8D737538}"/>
              </a:ext>
            </a:extLst>
          </p:cNvPr>
          <p:cNvSpPr txBox="1"/>
          <p:nvPr/>
        </p:nvSpPr>
        <p:spPr>
          <a:xfrm>
            <a:off x="171832" y="1731371"/>
            <a:ext cx="17223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70C0"/>
                </a:solidFill>
              </a:rPr>
              <a:t>Why Important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2D12AB-74C6-B561-1F5B-9A439805DF6A}"/>
              </a:ext>
            </a:extLst>
          </p:cNvPr>
          <p:cNvSpPr txBox="1"/>
          <p:nvPr/>
        </p:nvSpPr>
        <p:spPr>
          <a:xfrm>
            <a:off x="171832" y="1988017"/>
            <a:ext cx="455674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Early detection and tracing can stop oil before it harms coasts</a:t>
            </a:r>
          </a:p>
          <a:p>
            <a:r>
              <a:rPr lang="en-US" sz="1300" dirty="0"/>
              <a:t>and marine life. Identifying the source enables faster response and accountability.</a:t>
            </a:r>
            <a:endParaRPr lang="en-IN" sz="13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6C2CFE-D6A6-EFF8-DDF2-F70369EAF85A}"/>
              </a:ext>
            </a:extLst>
          </p:cNvPr>
          <p:cNvSpPr txBox="1"/>
          <p:nvPr/>
        </p:nvSpPr>
        <p:spPr>
          <a:xfrm>
            <a:off x="171832" y="846044"/>
            <a:ext cx="2013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70C0"/>
                </a:solidFill>
              </a:rPr>
              <a:t>Real World Problem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57A7DE-CAF8-4D87-93F8-2CED60A58DD8}"/>
              </a:ext>
            </a:extLst>
          </p:cNvPr>
          <p:cNvSpPr txBox="1"/>
          <p:nvPr/>
        </p:nvSpPr>
        <p:spPr>
          <a:xfrm>
            <a:off x="171832" y="1111735"/>
            <a:ext cx="47236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Oil spills are </a:t>
            </a:r>
            <a:r>
              <a:rPr lang="en-US" sz="1300" b="1" dirty="0"/>
              <a:t>hard to detect early </a:t>
            </a:r>
            <a:r>
              <a:rPr lang="en-US" sz="1300" dirty="0"/>
              <a:t>easily confused with look-alikes.</a:t>
            </a:r>
          </a:p>
          <a:p>
            <a:r>
              <a:rPr lang="en-US" sz="1300" dirty="0"/>
              <a:t>Currents and winds move oil and make it </a:t>
            </a:r>
            <a:r>
              <a:rPr lang="en-US" sz="1300" b="1" dirty="0"/>
              <a:t>hard to find source</a:t>
            </a:r>
            <a:r>
              <a:rPr lang="en-US" sz="1300" dirty="0"/>
              <a:t>.</a:t>
            </a:r>
            <a:endParaRPr lang="en-IN" sz="13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5B7C3A-9943-081B-38BD-2003FEA26E81}"/>
              </a:ext>
            </a:extLst>
          </p:cNvPr>
          <p:cNvSpPr txBox="1"/>
          <p:nvPr/>
        </p:nvSpPr>
        <p:spPr>
          <a:xfrm>
            <a:off x="5198050" y="846044"/>
            <a:ext cx="260506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70C0"/>
                </a:solidFill>
              </a:rPr>
              <a:t>Innovation and Uniqueness: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4AC573-6EAC-0A9D-D24E-7F2B3A1B6F74}"/>
              </a:ext>
            </a:extLst>
          </p:cNvPr>
          <p:cNvSpPr txBox="1"/>
          <p:nvPr/>
        </p:nvSpPr>
        <p:spPr>
          <a:xfrm>
            <a:off x="171831" y="3118591"/>
            <a:ext cx="438764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An end-to-end oil-spill intelligence system </a:t>
            </a:r>
          </a:p>
          <a:p>
            <a:r>
              <a:rPr lang="en-IN" sz="1400" dirty="0"/>
              <a:t>combining </a:t>
            </a:r>
            <a:r>
              <a:rPr lang="en-IN" sz="1400" b="1" dirty="0"/>
              <a:t>SAR imagery, AIS tracks, </a:t>
            </a:r>
          </a:p>
          <a:p>
            <a:r>
              <a:rPr lang="en-IN" sz="1400" b="1" dirty="0"/>
              <a:t>wind/current data, AI slick detection, </a:t>
            </a:r>
          </a:p>
          <a:p>
            <a:r>
              <a:rPr lang="en-IN" sz="1400" b="1" dirty="0"/>
              <a:t>source reconstruction, vessel attribution, </a:t>
            </a:r>
          </a:p>
          <a:p>
            <a:r>
              <a:rPr lang="en-IN" sz="1400" b="1" dirty="0"/>
              <a:t>and forward-drift forecasting</a:t>
            </a:r>
            <a:r>
              <a:rPr lang="en-IN" sz="1400" dirty="0"/>
              <a:t>.</a:t>
            </a:r>
          </a:p>
          <a:p>
            <a:endParaRPr lang="en-IN" sz="1400" dirty="0"/>
          </a:p>
          <a:p>
            <a:r>
              <a:rPr lang="en-IN" sz="1400" dirty="0"/>
              <a:t>It detects probable spills, reconstructs </a:t>
            </a:r>
          </a:p>
          <a:p>
            <a:r>
              <a:rPr lang="en-IN" sz="1400" b="1" dirty="0"/>
              <a:t>where and when they originated</a:t>
            </a:r>
            <a:r>
              <a:rPr lang="en-IN" sz="1400" dirty="0"/>
              <a:t>, ranks </a:t>
            </a:r>
          </a:p>
          <a:p>
            <a:r>
              <a:rPr lang="en-IN" sz="1400" dirty="0"/>
              <a:t>candidate vessels with traceable evidence, </a:t>
            </a:r>
          </a:p>
          <a:p>
            <a:r>
              <a:rPr lang="en-IN" sz="1400" dirty="0"/>
              <a:t>predicts future spread, and supports response</a:t>
            </a:r>
          </a:p>
          <a:p>
            <a:r>
              <a:rPr lang="en-IN" sz="1400" dirty="0"/>
              <a:t>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9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9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56CF0C-35E6-23C2-E266-13E7D4D67B5E}"/>
              </a:ext>
            </a:extLst>
          </p:cNvPr>
          <p:cNvSpPr txBox="1"/>
          <p:nvPr/>
        </p:nvSpPr>
        <p:spPr>
          <a:xfrm>
            <a:off x="198261" y="1130340"/>
            <a:ext cx="3031246" cy="5055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Satellite &amp; Remote Sensing</a:t>
            </a:r>
            <a:endParaRPr lang="en-US" sz="1500" dirty="0"/>
          </a:p>
          <a:p>
            <a:r>
              <a:rPr lang="en-US" sz="1500" dirty="0"/>
              <a:t>Sentinel-1 SAR (VV/VH), Sentinel-2</a:t>
            </a:r>
          </a:p>
          <a:p>
            <a:r>
              <a:rPr lang="en-US" sz="1500" dirty="0"/>
              <a:t>Copernicus Data Space 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AI / Computer Vision</a:t>
            </a:r>
            <a:endParaRPr lang="en-US" sz="1500" dirty="0"/>
          </a:p>
          <a:p>
            <a:pPr>
              <a:buFont typeface="Arial" pitchFamily="34" charset="0"/>
              <a:buChar char="•"/>
            </a:pPr>
            <a:r>
              <a:rPr lang="en-US" sz="1500" dirty="0"/>
              <a:t> </a:t>
            </a:r>
            <a:r>
              <a:rPr lang="en-US" sz="1500" dirty="0" err="1"/>
              <a:t>TerraMind</a:t>
            </a:r>
            <a:r>
              <a:rPr lang="en-US" sz="1500" dirty="0"/>
              <a:t> Large , DeepLabV3+, 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/>
              <a:t> </a:t>
            </a:r>
            <a:r>
              <a:rPr lang="en-US" sz="1500" dirty="0" err="1"/>
              <a:t>PyTorch</a:t>
            </a:r>
            <a:r>
              <a:rPr lang="en-US" sz="15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Ocean &amp; Atmospheric Data</a:t>
            </a:r>
            <a:endParaRPr lang="en-US" sz="1500" dirty="0"/>
          </a:p>
          <a:p>
            <a:pPr>
              <a:buFont typeface="Arial" pitchFamily="34" charset="0"/>
              <a:buChar char="•"/>
            </a:pPr>
            <a:r>
              <a:rPr lang="en-US" sz="1500" dirty="0"/>
              <a:t> ERA5 , Copernicus Marine 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/>
              <a:t> INCOIS, </a:t>
            </a:r>
            <a:r>
              <a:rPr lang="en-US" sz="1500" dirty="0" err="1"/>
              <a:t>Lagrangian</a:t>
            </a:r>
            <a:r>
              <a:rPr lang="en-US" sz="1500" dirty="0"/>
              <a:t> Drift Modelling 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Vessel Intelligence (AIS)</a:t>
            </a:r>
            <a:endParaRPr lang="en-US" sz="1500" dirty="0"/>
          </a:p>
          <a:p>
            <a:pPr>
              <a:buFont typeface="Arial" pitchFamily="34" charset="0"/>
              <a:buChar char="•"/>
            </a:pPr>
            <a:r>
              <a:rPr lang="en-US" sz="1500" dirty="0"/>
              <a:t> Historical / Live AIS 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/>
              <a:t> ITU-R M.1371 </a:t>
            </a:r>
          </a:p>
          <a:p>
            <a:r>
              <a:rPr lang="en-US" sz="1500" dirty="0" err="1"/>
              <a:t>Spatio</a:t>
            </a:r>
            <a:r>
              <a:rPr lang="en-US" sz="1500" dirty="0"/>
              <a:t>-temporal Track Analysis 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Backend &amp; Geospatial</a:t>
            </a:r>
            <a:endParaRPr lang="en-US" sz="1500" dirty="0"/>
          </a:p>
          <a:p>
            <a:pPr>
              <a:buFont typeface="Arial" pitchFamily="34" charset="0"/>
              <a:buChar char="•"/>
            </a:pPr>
            <a:r>
              <a:rPr lang="en-US" sz="1500" dirty="0"/>
              <a:t> Python, </a:t>
            </a:r>
            <a:r>
              <a:rPr lang="en-US" sz="1500" dirty="0" err="1"/>
              <a:t>FastAPI</a:t>
            </a:r>
            <a:r>
              <a:rPr lang="en-US" sz="1500" dirty="0"/>
              <a:t>, </a:t>
            </a:r>
            <a:r>
              <a:rPr lang="en-US" sz="1500" dirty="0" err="1"/>
              <a:t>PostGIS</a:t>
            </a:r>
            <a:r>
              <a:rPr lang="en-US" sz="1500" dirty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/>
              <a:t> </a:t>
            </a:r>
            <a:r>
              <a:rPr lang="en-US" sz="1500" dirty="0" err="1"/>
              <a:t>GeoPandas</a:t>
            </a:r>
            <a:r>
              <a:rPr lang="en-US" sz="1500" dirty="0"/>
              <a:t>, GDAL 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Visualization &amp; Interface</a:t>
            </a:r>
            <a:endParaRPr lang="en-US" sz="1500" dirty="0"/>
          </a:p>
          <a:p>
            <a:pPr>
              <a:buFont typeface="Arial" pitchFamily="34" charset="0"/>
              <a:buChar char="•"/>
            </a:pPr>
            <a:r>
              <a:rPr lang="en-US" sz="1500" dirty="0"/>
              <a:t> </a:t>
            </a:r>
            <a:r>
              <a:rPr lang="en-US" sz="1500" dirty="0" err="1"/>
              <a:t>CesiumJS</a:t>
            </a:r>
            <a:r>
              <a:rPr lang="en-US" sz="1500" dirty="0"/>
              <a:t> , React 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/>
              <a:t> </a:t>
            </a:r>
            <a:r>
              <a:rPr lang="en-US" sz="1500" dirty="0" err="1"/>
              <a:t>Mapbox</a:t>
            </a:r>
            <a:r>
              <a:rPr lang="en-US" sz="1500" dirty="0"/>
              <a:t> / Deck.gl</a:t>
            </a:r>
          </a:p>
        </p:txBody>
      </p:sp>
      <p:pic>
        <p:nvPicPr>
          <p:cNvPr id="21" name="Picture 8" descr="C:\Users\User\Downloads\sihppt\fullflow.png">
            <a:extLst>
              <a:ext uri="{FF2B5EF4-FFF2-40B4-BE49-F238E27FC236}">
                <a16:creationId xmlns:a16="http://schemas.microsoft.com/office/drawing/2014/main" id="{3544FF1C-D91E-0559-27CE-E203F8405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9508" y="883321"/>
            <a:ext cx="8736474" cy="5133057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511FEEE-FA83-15E1-6C03-07EF4E66704D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08C2D9A-DC32-C7C2-0A25-C84FE74E5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2D10815-5C74-6C6F-7F49-DFAFD39F2CD5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2FA441A6-DED5-A1DF-8E30-B0E5756FA50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US" sz="2400" b="1" dirty="0">
                  <a:solidFill>
                    <a:srgbClr val="1F4E79"/>
                  </a:solidFill>
                </a:rPr>
                <a:t>Technical  Approach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7D40D5A-61E9-D0A2-82A1-ABD94F2FF103}"/>
              </a:ext>
            </a:extLst>
          </p:cNvPr>
          <p:cNvSpPr txBox="1"/>
          <p:nvPr/>
        </p:nvSpPr>
        <p:spPr>
          <a:xfrm>
            <a:off x="198261" y="769831"/>
            <a:ext cx="24835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Technology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75A2D44-3037-4C04-A008-D7022D887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255"/>
            <a:ext cx="12191999" cy="62484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217C292-664A-8C04-8D97-6FFA4AF97D13}"/>
              </a:ext>
            </a:extLst>
          </p:cNvPr>
          <p:cNvSpPr/>
          <p:nvPr/>
        </p:nvSpPr>
        <p:spPr>
          <a:xfrm>
            <a:off x="0" y="95190"/>
            <a:ext cx="12191999" cy="844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9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5B14617-0C94-8E51-760D-03C0DEE96A5C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9BE1D9E-3134-ECF7-78A5-269CFC085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36DC4EF-FC10-CC85-C611-07B0EF48F90D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15" name="Title 1">
              <a:extLst>
                <a:ext uri="{FF2B5EF4-FFF2-40B4-BE49-F238E27FC236}">
                  <a16:creationId xmlns:a16="http://schemas.microsoft.com/office/drawing/2014/main" id="{C52BD376-DC5B-4167-F4FD-01058A378F5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Feasibility and Viability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C95EA44-0D5B-83AE-86F6-842F19EF49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156575"/>
            <a:ext cx="12185522" cy="626927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9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5542B2-C61C-0538-3E22-2A705FAC86A9}"/>
              </a:ext>
            </a:extLst>
          </p:cNvPr>
          <p:cNvSpPr/>
          <p:nvPr/>
        </p:nvSpPr>
        <p:spPr>
          <a:xfrm>
            <a:off x="0" y="95190"/>
            <a:ext cx="12191999" cy="844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E50A0B-D26B-D195-6649-8845CCDB7601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57E2FA5-5D7A-6712-D188-D3F1E88FD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9E321BD-DACB-3BCB-A042-2219A49B6AE6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51CA121F-A497-B06D-918A-82573566DAE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Impacts and Benefits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9D665AF-96BC-A58C-C534-FDFAE4C7FD66}"/>
              </a:ext>
            </a:extLst>
          </p:cNvPr>
          <p:cNvSpPr txBox="1"/>
          <p:nvPr/>
        </p:nvSpPr>
        <p:spPr>
          <a:xfrm>
            <a:off x="1032995" y="1046707"/>
            <a:ext cx="190435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solidFill>
                  <a:schemeClr val="bg1"/>
                </a:solidFill>
              </a:rPr>
              <a:t>Who Benefits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C74777-0520-E30B-D350-78678C53EE2C}"/>
              </a:ext>
            </a:extLst>
          </p:cNvPr>
          <p:cNvSpPr txBox="1"/>
          <p:nvPr/>
        </p:nvSpPr>
        <p:spPr>
          <a:xfrm>
            <a:off x="4648200" y="1046707"/>
            <a:ext cx="190435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solidFill>
                  <a:schemeClr val="bg1"/>
                </a:solidFill>
              </a:rPr>
              <a:t>Value Created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80A03E-F7C2-EF5E-5F83-3BDBECD9C00D}"/>
              </a:ext>
            </a:extLst>
          </p:cNvPr>
          <p:cNvSpPr txBox="1"/>
          <p:nvPr/>
        </p:nvSpPr>
        <p:spPr>
          <a:xfrm>
            <a:off x="8525706" y="1046707"/>
            <a:ext cx="2320431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solidFill>
                  <a:schemeClr val="bg1"/>
                </a:solidFill>
              </a:rPr>
              <a:t>Why “GUARDIANS”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0161E0-4A2D-85B5-D65D-1E9BDB00C905}"/>
              </a:ext>
            </a:extLst>
          </p:cNvPr>
          <p:cNvSpPr txBox="1"/>
          <p:nvPr/>
        </p:nvSpPr>
        <p:spPr>
          <a:xfrm>
            <a:off x="1345863" y="1592178"/>
            <a:ext cx="24835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Maritime Authorities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9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F3BB8A-0D20-F7D9-7FE5-D558B6DA5269}"/>
              </a:ext>
            </a:extLst>
          </p:cNvPr>
          <p:cNvSpPr txBox="1"/>
          <p:nvPr/>
        </p:nvSpPr>
        <p:spPr>
          <a:xfrm>
            <a:off x="484817" y="919709"/>
            <a:ext cx="54864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dirty="0">
                <a:solidFill>
                  <a:srgbClr val="1F4E79"/>
                </a:solidFill>
                <a:latin typeface="+mj-lt"/>
              </a:rPr>
              <a:t>Data sources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E58E99-6411-6603-EF3C-511C977AF1FB}"/>
              </a:ext>
            </a:extLst>
          </p:cNvPr>
          <p:cNvSpPr txBox="1"/>
          <p:nvPr/>
        </p:nvSpPr>
        <p:spPr>
          <a:xfrm>
            <a:off x="484817" y="1175228"/>
            <a:ext cx="6351006" cy="5016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dirty="0">
                <a:solidFill>
                  <a:srgbClr val="010000"/>
                </a:solidFill>
              </a:rPr>
              <a:t>Sentinel-1 / Satellite</a:t>
            </a:r>
          </a:p>
          <a:p>
            <a:r>
              <a:rPr lang="en-US" sz="1200" dirty="0">
                <a:hlinkClick r:id="rId3"/>
              </a:rPr>
              <a:t>https://dataspace.copernicus.eu/data-collections/copernicus-sentinel-missions/sentinel-1</a:t>
            </a:r>
            <a:endParaRPr lang="en-US" sz="1200" dirty="0"/>
          </a:p>
          <a:p>
            <a:r>
              <a:rPr lang="en-US" sz="1200" dirty="0">
                <a:hlinkClick r:id="rId4"/>
              </a:rPr>
              <a:t>https://dataspace.copernicus.eu/</a:t>
            </a:r>
            <a:endParaRPr lang="en-US" sz="1200" dirty="0"/>
          </a:p>
          <a:p>
            <a:r>
              <a:rPr lang="en-US" sz="1200" dirty="0">
                <a:hlinkClick r:id="rId5"/>
              </a:rPr>
              <a:t>https://sentinels.copernicus.eu/sentinel-data-access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Sentinel-1 Oil Spill Datasets</a:t>
            </a:r>
          </a:p>
          <a:p>
            <a:r>
              <a:rPr lang="en-US" sz="1200" dirty="0">
                <a:hlinkClick r:id="rId6"/>
              </a:rPr>
              <a:t>https://zenodo.org/records/8346860</a:t>
            </a:r>
            <a:endParaRPr lang="en-US" sz="1200" dirty="0"/>
          </a:p>
          <a:p>
            <a:r>
              <a:rPr lang="en-US" sz="1200" dirty="0">
                <a:hlinkClick r:id="rId7"/>
              </a:rPr>
              <a:t>https://zenodo.org/records/8253899</a:t>
            </a:r>
            <a:endParaRPr lang="en-US" sz="1200" dirty="0"/>
          </a:p>
          <a:p>
            <a:r>
              <a:rPr lang="en-US" sz="1200" dirty="0">
                <a:hlinkClick r:id="rId8"/>
              </a:rPr>
              <a:t>https://zenodo.org/records/13761290</a:t>
            </a:r>
            <a:endParaRPr lang="en-US" sz="1200" dirty="0"/>
          </a:p>
          <a:p>
            <a:r>
              <a:rPr lang="en-US" sz="1200" dirty="0">
                <a:hlinkClick r:id="rId9"/>
              </a:rPr>
              <a:t>https://www.kaggle.com/datasets/harikrishnacs/sentinel-1-sar-oil-spill-detection-dataset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Weather / Wind</a:t>
            </a:r>
          </a:p>
          <a:p>
            <a:r>
              <a:rPr lang="en-US" sz="1200" dirty="0">
                <a:hlinkClick r:id="rId10"/>
              </a:rPr>
              <a:t>https://cds.climate.copernicus.eu/datasets/reanalysis-era5-complete?tab=d_download</a:t>
            </a:r>
            <a:endParaRPr lang="en-US" sz="1200" dirty="0"/>
          </a:p>
          <a:p>
            <a:r>
              <a:rPr lang="en-US" sz="1200" dirty="0">
                <a:hlinkClick r:id="rId11"/>
              </a:rPr>
              <a:t>https://cds.climate.copernicus.eu/datasets/reanalysis-era5-single-levels?tab=download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Ocean Currents / Marine Data</a:t>
            </a:r>
          </a:p>
          <a:p>
            <a:r>
              <a:rPr lang="en-US" sz="1200" dirty="0">
                <a:hlinkClick r:id="rId12"/>
              </a:rPr>
              <a:t>https://data.marine.copernicus.eu/</a:t>
            </a:r>
            <a:endParaRPr lang="en-US" sz="1200" dirty="0"/>
          </a:p>
          <a:p>
            <a:r>
              <a:rPr lang="en-US" sz="1200" dirty="0">
                <a:hlinkClick r:id="rId13"/>
              </a:rPr>
              <a:t>https://data.marine.copernicus.eu/product/INSITU_GLO_PHY_UV_DISCRETE_NRT_013_048/services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INCOIS</a:t>
            </a:r>
          </a:p>
          <a:p>
            <a:r>
              <a:rPr lang="en-US" sz="1200" dirty="0">
                <a:hlinkClick r:id="rId14"/>
              </a:rPr>
              <a:t>https://www.incois.gov.in/</a:t>
            </a:r>
            <a:endParaRPr lang="en-US" sz="1200" dirty="0"/>
          </a:p>
          <a:p>
            <a:r>
              <a:rPr lang="en-US" sz="1200" dirty="0">
                <a:hlinkClick r:id="rId15"/>
              </a:rPr>
              <a:t>https://www.do.incois.gov.in/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AIS / Vessel Data</a:t>
            </a:r>
          </a:p>
          <a:p>
            <a:r>
              <a:rPr lang="en-US" sz="1200" dirty="0">
                <a:hlinkClick r:id="rId16"/>
              </a:rPr>
              <a:t>https://ocmgeodatastor1.blob.core.windows.net/marinecadastre/ais/aistrack/index-aistrack.html</a:t>
            </a:r>
            <a:endParaRPr lang="en-US" sz="1200" dirty="0"/>
          </a:p>
          <a:p>
            <a:r>
              <a:rPr lang="en-US" sz="1200" dirty="0">
                <a:hlinkClick r:id="rId17"/>
              </a:rPr>
              <a:t>https://www.fisheries.noaa.gov/inport/item/79504</a:t>
            </a:r>
            <a:endParaRPr lang="en-US" sz="1200" dirty="0"/>
          </a:p>
          <a:p>
            <a:r>
              <a:rPr lang="en-US" sz="1200" dirty="0">
                <a:hlinkClick r:id="rId18"/>
              </a:rPr>
              <a:t>https://globalfishingwatch.org/our-apis/</a:t>
            </a:r>
            <a:endParaRPr lang="en-US" sz="1200" dirty="0"/>
          </a:p>
          <a:p>
            <a:r>
              <a:rPr lang="en-US" sz="1200" dirty="0">
                <a:hlinkClick r:id="rId19"/>
              </a:rPr>
              <a:t>https://globalfishingwatch.org/our-apis/documentation/</a:t>
            </a:r>
            <a:endParaRPr lang="en-US" sz="1200" dirty="0"/>
          </a:p>
          <a:p>
            <a:r>
              <a:rPr lang="en-US" sz="1200" dirty="0">
                <a:hlinkClick r:id="rId20"/>
              </a:rPr>
              <a:t>https://api-doc.globalfishingwatch.org/our-apis/documentation/docs/v3/vessels</a:t>
            </a:r>
            <a:endParaRPr lang="en-US" sz="1200" dirty="0"/>
          </a:p>
          <a:p>
            <a:r>
              <a:rPr lang="en-US" sz="1200" dirty="0">
                <a:hlinkClick r:id="rId21"/>
              </a:rPr>
              <a:t>https://zenodo.org/records/14982712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1EEEA2-04C3-01C2-7DC8-2E44FA77CB3C}"/>
              </a:ext>
            </a:extLst>
          </p:cNvPr>
          <p:cNvSpPr txBox="1"/>
          <p:nvPr/>
        </p:nvSpPr>
        <p:spPr>
          <a:xfrm>
            <a:off x="6963508" y="1175228"/>
            <a:ext cx="488014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10000"/>
                </a:solidFill>
              </a:rPr>
              <a:t>Environmental Impact Layers</a:t>
            </a:r>
          </a:p>
          <a:p>
            <a:r>
              <a:rPr lang="en-US" sz="1200" dirty="0">
                <a:hlinkClick r:id="rId22"/>
              </a:rPr>
              <a:t>https://www.protectedplanet.net/en/thematic-areas/wdpa</a:t>
            </a:r>
            <a:endParaRPr lang="en-US" sz="1200" dirty="0"/>
          </a:p>
          <a:p>
            <a:r>
              <a:rPr lang="en-US" sz="1200" dirty="0">
                <a:hlinkClick r:id="rId23"/>
              </a:rPr>
              <a:t>https://allencoralatlas.org/resources/</a:t>
            </a:r>
            <a:endParaRPr lang="en-US" sz="1200" dirty="0"/>
          </a:p>
          <a:p>
            <a:r>
              <a:rPr lang="en-US" sz="1200" dirty="0">
                <a:hlinkClick r:id="rId24"/>
              </a:rPr>
              <a:t>https://resources.unep-wcmc.org/products/aaa46cd3d3d640b2916b8f0a0ffe07cb</a:t>
            </a:r>
            <a:endParaRPr lang="en-US" sz="1200" dirty="0"/>
          </a:p>
          <a:p>
            <a:r>
              <a:rPr lang="en-US" sz="1200" dirty="0">
                <a:hlinkClick r:id="rId25"/>
              </a:rPr>
              <a:t>https://www.naturalearthdata.com/downloads/10m-physical-vectors/</a:t>
            </a:r>
            <a:endParaRPr lang="en-US" sz="1200" dirty="0"/>
          </a:p>
          <a:p>
            <a:r>
              <a:rPr lang="en-US" sz="1200" dirty="0">
                <a:hlinkClick r:id="rId26"/>
              </a:rPr>
              <a:t>https://www.naturalearthdata.com/downloads/10m-physical-vectors/10m-coastline/</a:t>
            </a:r>
            <a:endParaRPr lang="en-US" sz="1200" dirty="0"/>
          </a:p>
          <a:p>
            <a:r>
              <a:rPr lang="en-US" sz="1200" dirty="0">
                <a:hlinkClick r:id="rId27"/>
              </a:rPr>
              <a:t>https://response.restoration.noaa.gov/esi</a:t>
            </a:r>
            <a:endParaRPr lang="en-US" sz="1200" dirty="0"/>
          </a:p>
          <a:p>
            <a:r>
              <a:rPr lang="en-US" sz="1200" dirty="0">
                <a:hlinkClick r:id="rId28"/>
              </a:rPr>
              <a:t>https://www.fisheries.noaa.gov/inport/item/40881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300" b="1" dirty="0">
                <a:solidFill>
                  <a:srgbClr val="010000"/>
                </a:solidFill>
              </a:rPr>
              <a:t>Papers / Methods</a:t>
            </a:r>
          </a:p>
          <a:p>
            <a:r>
              <a:rPr lang="en-US" sz="1200" dirty="0">
                <a:hlinkClick r:id="rId29"/>
              </a:rPr>
              <a:t>https://www.sciencedirect.com/science/article/pii/S0025326X24005265</a:t>
            </a:r>
            <a:endParaRPr lang="en-US" sz="1200" dirty="0"/>
          </a:p>
          <a:p>
            <a:r>
              <a:rPr lang="en-US" sz="1200" dirty="0">
                <a:hlinkClick r:id="rId30"/>
              </a:rPr>
              <a:t>https://pubmed.ncbi.nlm.nih.gov/38850755/</a:t>
            </a:r>
            <a:endParaRPr lang="en-US" sz="1200" dirty="0"/>
          </a:p>
          <a:p>
            <a:r>
              <a:rPr lang="en-US" sz="1200" dirty="0">
                <a:hlinkClick r:id="rId31"/>
              </a:rPr>
              <a:t>https://openaccess.thecvf.com/content_ECCV_2018/html/Liang-Chieh_Chen_Encoder-Decoder_with_Atrous_ECCV_2018_paper.html</a:t>
            </a:r>
            <a:endParaRPr lang="en-US" sz="1200" dirty="0"/>
          </a:p>
          <a:p>
            <a:r>
              <a:rPr lang="en-US" sz="1200" dirty="0">
                <a:hlinkClick r:id="rId32"/>
              </a:rPr>
              <a:t>https://openaccess.thecvf.com/content/ICCV2025/html/Jakubik_TerraMind_Large-Scale_Generative_Multimodality_for_Earth_Observation_ICCV_2025_paper.html</a:t>
            </a:r>
            <a:endParaRPr lang="en-US" sz="1200" dirty="0"/>
          </a:p>
          <a:p>
            <a:r>
              <a:rPr lang="en-US" sz="1200" dirty="0">
                <a:hlinkClick r:id="rId33"/>
              </a:rPr>
              <a:t>https://arxiv.org/abs/2504.11171</a:t>
            </a:r>
            <a:endParaRPr lang="en-US" sz="1200" dirty="0"/>
          </a:p>
          <a:p>
            <a:r>
              <a:rPr lang="en-US" sz="1200" dirty="0">
                <a:hlinkClick r:id="rId34"/>
              </a:rPr>
              <a:t>https://opendrift.github.io/</a:t>
            </a:r>
            <a:endParaRPr lang="en-US" sz="1200" dirty="0"/>
          </a:p>
          <a:p>
            <a:r>
              <a:rPr lang="en-US" sz="1200" dirty="0">
                <a:hlinkClick r:id="rId35"/>
              </a:rPr>
              <a:t>https://github.com/OpenDrift/opendrift</a:t>
            </a:r>
            <a:endParaRPr lang="en-US" sz="1200" dirty="0"/>
          </a:p>
          <a:p>
            <a:r>
              <a:rPr lang="en-US" sz="1200" dirty="0">
                <a:hlinkClick r:id="rId36"/>
              </a:rPr>
              <a:t>https://www.itu.int/rec/R-REC-M.1371</a:t>
            </a:r>
            <a:endParaRPr lang="en-US" sz="1200" dirty="0"/>
          </a:p>
          <a:p>
            <a:r>
              <a:rPr lang="en-US" sz="1200" dirty="0">
                <a:hlinkClick r:id="rId37"/>
              </a:rPr>
              <a:t>https://essd.copernicus.org/articles/17/6807/2025/</a:t>
            </a:r>
            <a:endParaRPr lang="en-US" sz="1200" dirty="0"/>
          </a:p>
          <a:p>
            <a:r>
              <a:rPr lang="en-US" sz="1200" dirty="0">
                <a:hlinkClick r:id="rId38"/>
              </a:rPr>
              <a:t>https://zenodo.org/records/3497132</a:t>
            </a:r>
            <a:endParaRPr lang="en-US" sz="1200" dirty="0"/>
          </a:p>
          <a:p>
            <a:r>
              <a:rPr lang="en-US" sz="1200" dirty="0">
                <a:hlinkClick r:id="rId39"/>
              </a:rPr>
              <a:t>https://doi.org/10.3390/rs11151762</a:t>
            </a:r>
            <a:endParaRPr lang="en-US" sz="1200" dirty="0"/>
          </a:p>
          <a:p>
            <a:r>
              <a:rPr lang="en-US" sz="1200" dirty="0">
                <a:hlinkClick r:id="rId40"/>
              </a:rPr>
              <a:t>https://zenodo.org/records/2541694</a:t>
            </a:r>
            <a:endParaRPr lang="en-US" sz="1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D3EABB-76E4-9F9B-C80E-F639B10B8651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0B9FE30-57AA-187A-ADE3-EB7B30A69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B0BB8DF-10F3-7CC8-FFE5-E4AB99131903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638F027-0E11-4B03-8479-8691B4868C0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Research and References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8110</TotalTime>
  <Words>958</Words>
  <Application>Microsoft Office PowerPoint</Application>
  <PresentationFormat>Widescreen</PresentationFormat>
  <Paragraphs>130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Samrat S K</cp:lastModifiedBy>
  <cp:revision>170</cp:revision>
  <dcterms:created xsi:type="dcterms:W3CDTF">2013-12-12T18:46:50Z</dcterms:created>
  <dcterms:modified xsi:type="dcterms:W3CDTF">2026-09-27T22:45:05Z</dcterms:modified>
  <cp:category/>
</cp:coreProperties>
</file>